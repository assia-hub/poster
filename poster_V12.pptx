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72" r:id="rId1"/>
  </p:sldMasterIdLst>
  <p:notesMasterIdLst>
    <p:notesMasterId r:id="rId3"/>
  </p:notesMasterIdLst>
  <p:handoutMasterIdLst>
    <p:handoutMasterId r:id="rId4"/>
  </p:handoutMasterIdLst>
  <p:sldIdLst>
    <p:sldId id="284" r:id="rId2"/>
  </p:sldIdLst>
  <p:sldSz cx="30279975" cy="42806938"/>
  <p:notesSz cx="9866313" cy="142954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82" userDrawn="1">
          <p15:clr>
            <a:srgbClr val="A4A3A4"/>
          </p15:clr>
        </p15:guide>
        <p15:guide id="2" pos="953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ssia BENMEHDIA" initials="AB" lastIdx="0" clrIdx="0">
    <p:extLst>
      <p:ext uri="{19B8F6BF-5375-455C-9EA6-DF929625EA0E}">
        <p15:presenceInfo xmlns:p15="http://schemas.microsoft.com/office/powerpoint/2012/main" userId="Assia BENMEHDI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FB0"/>
    <a:srgbClr val="E69D00"/>
    <a:srgbClr val="FCE9DC"/>
    <a:srgbClr val="41719C"/>
    <a:srgbClr val="BC8200"/>
    <a:srgbClr val="EED5B7"/>
    <a:srgbClr val="E69F00"/>
    <a:srgbClr val="E50019"/>
    <a:srgbClr val="FF99CC"/>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84E427A-3D55-4303-BF80-6455036E1DE7}" styleName="Style à thème 1 - Accentuation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A111915-BE36-4E01-A7E5-04B1672EAD32}" styleName="Style léger 2 - Accentuation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Style léger 2 - Accentuation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Style à thème 2 - Accentuation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Style léger 3 - Accentuation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781" autoAdjust="0"/>
  </p:normalViewPr>
  <p:slideViewPr>
    <p:cSldViewPr snapToGrid="0">
      <p:cViewPr>
        <p:scale>
          <a:sx n="24" d="100"/>
          <a:sy n="24" d="100"/>
        </p:scale>
        <p:origin x="2544" y="-702"/>
      </p:cViewPr>
      <p:guideLst>
        <p:guide orient="horz" pos="13482"/>
        <p:guide pos="9537"/>
      </p:guideLst>
    </p:cSldViewPr>
  </p:slideViewPr>
  <p:notesTextViewPr>
    <p:cViewPr>
      <p:scale>
        <a:sx n="3" d="2"/>
        <a:sy n="3" d="2"/>
      </p:scale>
      <p:origin x="0" y="0"/>
    </p:cViewPr>
  </p:notesTextViewPr>
  <p:notesViewPr>
    <p:cSldViewPr snapToGrid="0">
      <p:cViewPr varScale="1">
        <p:scale>
          <a:sx n="88" d="100"/>
          <a:sy n="88" d="100"/>
        </p:scale>
        <p:origin x="3822"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2" y="2"/>
            <a:ext cx="4275403" cy="717254"/>
          </a:xfrm>
          <a:prstGeom prst="rect">
            <a:avLst/>
          </a:prstGeom>
        </p:spPr>
        <p:txBody>
          <a:bodyPr vert="horz" lIns="133064" tIns="66532" rIns="133064" bIns="66532" rtlCol="0"/>
          <a:lstStyle>
            <a:lvl1pPr algn="l">
              <a:defRPr sz="1700"/>
            </a:lvl1pPr>
          </a:lstStyle>
          <a:p>
            <a:endParaRPr lang="fr-FR"/>
          </a:p>
        </p:txBody>
      </p:sp>
      <p:sp>
        <p:nvSpPr>
          <p:cNvPr id="3" name="Espace réservé de la date 2"/>
          <p:cNvSpPr>
            <a:spLocks noGrp="1"/>
          </p:cNvSpPr>
          <p:nvPr>
            <p:ph type="dt" sz="quarter" idx="1"/>
          </p:nvPr>
        </p:nvSpPr>
        <p:spPr>
          <a:xfrm>
            <a:off x="5588629" y="2"/>
            <a:ext cx="4275403" cy="717254"/>
          </a:xfrm>
          <a:prstGeom prst="rect">
            <a:avLst/>
          </a:prstGeom>
        </p:spPr>
        <p:txBody>
          <a:bodyPr vert="horz" lIns="133064" tIns="66532" rIns="133064" bIns="66532" rtlCol="0"/>
          <a:lstStyle>
            <a:lvl1pPr algn="r">
              <a:defRPr sz="1700"/>
            </a:lvl1pPr>
          </a:lstStyle>
          <a:p>
            <a:fld id="{3F4F58E2-03B2-48AF-B62F-3FC42AC5CF15}" type="datetimeFigureOut">
              <a:rPr lang="fr-FR" smtClean="0"/>
              <a:t>09/06/2026</a:t>
            </a:fld>
            <a:endParaRPr lang="fr-FR"/>
          </a:p>
        </p:txBody>
      </p:sp>
      <p:sp>
        <p:nvSpPr>
          <p:cNvPr id="4" name="Espace réservé du pied de page 3"/>
          <p:cNvSpPr>
            <a:spLocks noGrp="1"/>
          </p:cNvSpPr>
          <p:nvPr>
            <p:ph type="ftr" sz="quarter" idx="2"/>
          </p:nvPr>
        </p:nvSpPr>
        <p:spPr>
          <a:xfrm>
            <a:off x="2" y="13578186"/>
            <a:ext cx="4275403" cy="717253"/>
          </a:xfrm>
          <a:prstGeom prst="rect">
            <a:avLst/>
          </a:prstGeom>
        </p:spPr>
        <p:txBody>
          <a:bodyPr vert="horz" lIns="133064" tIns="66532" rIns="133064" bIns="66532" rtlCol="0" anchor="b"/>
          <a:lstStyle>
            <a:lvl1pPr algn="l">
              <a:defRPr sz="1700"/>
            </a:lvl1pPr>
          </a:lstStyle>
          <a:p>
            <a:endParaRPr lang="fr-FR"/>
          </a:p>
        </p:txBody>
      </p:sp>
      <p:sp>
        <p:nvSpPr>
          <p:cNvPr id="5" name="Espace réservé du numéro de diapositive 4"/>
          <p:cNvSpPr>
            <a:spLocks noGrp="1"/>
          </p:cNvSpPr>
          <p:nvPr>
            <p:ph type="sldNum" sz="quarter" idx="3"/>
          </p:nvPr>
        </p:nvSpPr>
        <p:spPr>
          <a:xfrm>
            <a:off x="5588629" y="13578186"/>
            <a:ext cx="4275403" cy="717253"/>
          </a:xfrm>
          <a:prstGeom prst="rect">
            <a:avLst/>
          </a:prstGeom>
        </p:spPr>
        <p:txBody>
          <a:bodyPr vert="horz" lIns="133064" tIns="66532" rIns="133064" bIns="66532" rtlCol="0" anchor="b"/>
          <a:lstStyle>
            <a:lvl1pPr algn="r">
              <a:defRPr sz="1700"/>
            </a:lvl1pPr>
          </a:lstStyle>
          <a:p>
            <a:fld id="{9F4407CF-4630-45F5-AACF-D46794B59D59}" type="slidenum">
              <a:rPr lang="fr-FR" smtClean="0"/>
              <a:t>‹N°›</a:t>
            </a:fld>
            <a:endParaRPr lang="fr-FR"/>
          </a:p>
        </p:txBody>
      </p:sp>
    </p:spTree>
    <p:extLst>
      <p:ext uri="{BB962C8B-B14F-4D97-AF65-F5344CB8AC3E}">
        <p14:creationId xmlns:p14="http://schemas.microsoft.com/office/powerpoint/2010/main" val="40500127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2" y="2"/>
            <a:ext cx="4275403" cy="717254"/>
          </a:xfrm>
          <a:prstGeom prst="rect">
            <a:avLst/>
          </a:prstGeom>
        </p:spPr>
        <p:txBody>
          <a:bodyPr vert="horz" lIns="133064" tIns="66532" rIns="133064" bIns="66532" rtlCol="0"/>
          <a:lstStyle>
            <a:lvl1pPr algn="l">
              <a:defRPr sz="1700"/>
            </a:lvl1pPr>
          </a:lstStyle>
          <a:p>
            <a:endParaRPr lang="fr-FR"/>
          </a:p>
        </p:txBody>
      </p:sp>
      <p:sp>
        <p:nvSpPr>
          <p:cNvPr id="3" name="Espace réservé de la date 2"/>
          <p:cNvSpPr>
            <a:spLocks noGrp="1"/>
          </p:cNvSpPr>
          <p:nvPr>
            <p:ph type="dt" idx="1"/>
          </p:nvPr>
        </p:nvSpPr>
        <p:spPr>
          <a:xfrm>
            <a:off x="5588629" y="2"/>
            <a:ext cx="4275403" cy="717254"/>
          </a:xfrm>
          <a:prstGeom prst="rect">
            <a:avLst/>
          </a:prstGeom>
        </p:spPr>
        <p:txBody>
          <a:bodyPr vert="horz" lIns="133064" tIns="66532" rIns="133064" bIns="66532" rtlCol="0"/>
          <a:lstStyle>
            <a:lvl1pPr algn="r">
              <a:defRPr sz="1700"/>
            </a:lvl1pPr>
          </a:lstStyle>
          <a:p>
            <a:fld id="{696E8978-0317-4397-AF41-88015AAEA1D9}" type="datetimeFigureOut">
              <a:rPr lang="fr-FR" smtClean="0"/>
              <a:t>09/06/2026</a:t>
            </a:fld>
            <a:endParaRPr lang="fr-FR"/>
          </a:p>
        </p:txBody>
      </p:sp>
      <p:sp>
        <p:nvSpPr>
          <p:cNvPr id="4" name="Espace réservé de l'image des diapositives 3"/>
          <p:cNvSpPr>
            <a:spLocks noGrp="1" noRot="1" noChangeAspect="1"/>
          </p:cNvSpPr>
          <p:nvPr>
            <p:ph type="sldImg" idx="2"/>
          </p:nvPr>
        </p:nvSpPr>
        <p:spPr>
          <a:xfrm>
            <a:off x="3227388" y="1787525"/>
            <a:ext cx="3411537" cy="4822825"/>
          </a:xfrm>
          <a:prstGeom prst="rect">
            <a:avLst/>
          </a:prstGeom>
          <a:noFill/>
          <a:ln w="12700">
            <a:solidFill>
              <a:prstClr val="black"/>
            </a:solidFill>
          </a:ln>
        </p:spPr>
        <p:txBody>
          <a:bodyPr vert="horz" lIns="133064" tIns="66532" rIns="133064" bIns="66532" rtlCol="0" anchor="ctr"/>
          <a:lstStyle/>
          <a:p>
            <a:endParaRPr lang="fr-FR"/>
          </a:p>
        </p:txBody>
      </p:sp>
      <p:sp>
        <p:nvSpPr>
          <p:cNvPr id="5" name="Espace réservé des notes 4"/>
          <p:cNvSpPr>
            <a:spLocks noGrp="1"/>
          </p:cNvSpPr>
          <p:nvPr>
            <p:ph type="body" sz="quarter" idx="3"/>
          </p:nvPr>
        </p:nvSpPr>
        <p:spPr>
          <a:xfrm>
            <a:off x="986632" y="6879682"/>
            <a:ext cx="7893050" cy="5628829"/>
          </a:xfrm>
          <a:prstGeom prst="rect">
            <a:avLst/>
          </a:prstGeom>
        </p:spPr>
        <p:txBody>
          <a:bodyPr vert="horz" lIns="133064" tIns="66532" rIns="133064" bIns="66532"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2" y="13578186"/>
            <a:ext cx="4275403" cy="717253"/>
          </a:xfrm>
          <a:prstGeom prst="rect">
            <a:avLst/>
          </a:prstGeom>
        </p:spPr>
        <p:txBody>
          <a:bodyPr vert="horz" lIns="133064" tIns="66532" rIns="133064" bIns="66532" rtlCol="0" anchor="b"/>
          <a:lstStyle>
            <a:lvl1pPr algn="l">
              <a:defRPr sz="1700"/>
            </a:lvl1pPr>
          </a:lstStyle>
          <a:p>
            <a:endParaRPr lang="fr-FR"/>
          </a:p>
        </p:txBody>
      </p:sp>
      <p:sp>
        <p:nvSpPr>
          <p:cNvPr id="7" name="Espace réservé du numéro de diapositive 6"/>
          <p:cNvSpPr>
            <a:spLocks noGrp="1"/>
          </p:cNvSpPr>
          <p:nvPr>
            <p:ph type="sldNum" sz="quarter" idx="5"/>
          </p:nvPr>
        </p:nvSpPr>
        <p:spPr>
          <a:xfrm>
            <a:off x="5588629" y="13578186"/>
            <a:ext cx="4275403" cy="717253"/>
          </a:xfrm>
          <a:prstGeom prst="rect">
            <a:avLst/>
          </a:prstGeom>
        </p:spPr>
        <p:txBody>
          <a:bodyPr vert="horz" lIns="133064" tIns="66532" rIns="133064" bIns="66532" rtlCol="0" anchor="b"/>
          <a:lstStyle>
            <a:lvl1pPr algn="r">
              <a:defRPr sz="1700"/>
            </a:lvl1pPr>
          </a:lstStyle>
          <a:p>
            <a:fld id="{334DC2A0-8285-4A1F-B698-733BE585F47F}" type="slidenum">
              <a:rPr lang="fr-FR" smtClean="0"/>
              <a:t>‹N°›</a:t>
            </a:fld>
            <a:endParaRPr lang="fr-FR"/>
          </a:p>
        </p:txBody>
      </p:sp>
    </p:spTree>
    <p:extLst>
      <p:ext uri="{BB962C8B-B14F-4D97-AF65-F5344CB8AC3E}">
        <p14:creationId xmlns:p14="http://schemas.microsoft.com/office/powerpoint/2010/main" val="3721366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334DC2A0-8285-4A1F-B698-733BE585F47F}" type="slidenum">
              <a:rPr lang="fr-FR" smtClean="0"/>
              <a:t>1</a:t>
            </a:fld>
            <a:endParaRPr lang="fr-FR"/>
          </a:p>
        </p:txBody>
      </p:sp>
    </p:spTree>
    <p:extLst>
      <p:ext uri="{BB962C8B-B14F-4D97-AF65-F5344CB8AC3E}">
        <p14:creationId xmlns:p14="http://schemas.microsoft.com/office/powerpoint/2010/main" val="1405594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270998" y="7005676"/>
            <a:ext cx="25737979" cy="14903156"/>
          </a:xfrm>
        </p:spPr>
        <p:txBody>
          <a:bodyPr anchor="b"/>
          <a:lstStyle>
            <a:lvl1pPr algn="ctr">
              <a:defRPr sz="19869"/>
            </a:lvl1pPr>
          </a:lstStyle>
          <a:p>
            <a:r>
              <a:rPr lang="fr-FR"/>
              <a:t>Modifiez le style du titre</a:t>
            </a:r>
            <a:endParaRPr lang="en-US" dirty="0"/>
          </a:p>
        </p:txBody>
      </p:sp>
      <p:sp>
        <p:nvSpPr>
          <p:cNvPr id="3" name="Subtitle 2"/>
          <p:cNvSpPr>
            <a:spLocks noGrp="1"/>
          </p:cNvSpPr>
          <p:nvPr>
            <p:ph type="subTitle" idx="1"/>
          </p:nvPr>
        </p:nvSpPr>
        <p:spPr>
          <a:xfrm>
            <a:off x="3784997" y="22483555"/>
            <a:ext cx="22709981" cy="10335098"/>
          </a:xfrm>
        </p:spPr>
        <p:txBody>
          <a:bodyPr/>
          <a:lstStyle>
            <a:lvl1pPr marL="0" indent="0" algn="ctr">
              <a:buNone/>
              <a:defRPr sz="7948"/>
            </a:lvl1pPr>
            <a:lvl2pPr marL="1514018" indent="0" algn="ctr">
              <a:buNone/>
              <a:defRPr sz="6623"/>
            </a:lvl2pPr>
            <a:lvl3pPr marL="3028036" indent="0" algn="ctr">
              <a:buNone/>
              <a:defRPr sz="5961"/>
            </a:lvl3pPr>
            <a:lvl4pPr marL="4542053" indent="0" algn="ctr">
              <a:buNone/>
              <a:defRPr sz="5298"/>
            </a:lvl4pPr>
            <a:lvl5pPr marL="6056071" indent="0" algn="ctr">
              <a:buNone/>
              <a:defRPr sz="5298"/>
            </a:lvl5pPr>
            <a:lvl6pPr marL="7570089" indent="0" algn="ctr">
              <a:buNone/>
              <a:defRPr sz="5298"/>
            </a:lvl6pPr>
            <a:lvl7pPr marL="9084107" indent="0" algn="ctr">
              <a:buNone/>
              <a:defRPr sz="5298"/>
            </a:lvl7pPr>
            <a:lvl8pPr marL="10598125" indent="0" algn="ctr">
              <a:buNone/>
              <a:defRPr sz="5298"/>
            </a:lvl8pPr>
            <a:lvl9pPr marL="12112142" indent="0" algn="ctr">
              <a:buNone/>
              <a:defRPr sz="5298"/>
            </a:lvl9pPr>
          </a:lstStyle>
          <a:p>
            <a:r>
              <a:rPr lang="fr-FR"/>
              <a:t>Modifier le style des sous-titres du masque</a:t>
            </a:r>
            <a:endParaRPr lang="en-US" dirty="0"/>
          </a:p>
        </p:txBody>
      </p:sp>
      <p:sp>
        <p:nvSpPr>
          <p:cNvPr id="4" name="Date Placeholder 3"/>
          <p:cNvSpPr>
            <a:spLocks noGrp="1"/>
          </p:cNvSpPr>
          <p:nvPr>
            <p:ph type="dt" sz="half" idx="10"/>
          </p:nvPr>
        </p:nvSpPr>
        <p:spPr/>
        <p:txBody>
          <a:bodyPr/>
          <a:lstStyle/>
          <a:p>
            <a:fld id="{D2408E09-7FDC-4671-951B-ACF0DF8480DE}" type="datetimeFigureOut">
              <a:rPr lang="fr-FR" smtClean="0"/>
              <a:t>09/06/2026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083466CF-8462-461E-BBAB-E92A670E58B8}" type="slidenum">
              <a:rPr lang="fr-FR" smtClean="0"/>
              <a:t>‹N°›</a:t>
            </a:fld>
            <a:endParaRPr lang="fr-FR"/>
          </a:p>
        </p:txBody>
      </p:sp>
    </p:spTree>
    <p:extLst>
      <p:ext uri="{BB962C8B-B14F-4D97-AF65-F5344CB8AC3E}">
        <p14:creationId xmlns:p14="http://schemas.microsoft.com/office/powerpoint/2010/main" val="4115951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2408E09-7FDC-4671-951B-ACF0DF8480DE}" type="datetimeFigureOut">
              <a:rPr lang="fr-FR" smtClean="0"/>
              <a:t>09/06/2026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083466CF-8462-461E-BBAB-E92A670E58B8}" type="slidenum">
              <a:rPr lang="fr-FR" smtClean="0"/>
              <a:t>‹N°›</a:t>
            </a:fld>
            <a:endParaRPr lang="fr-FR"/>
          </a:p>
        </p:txBody>
      </p:sp>
    </p:spTree>
    <p:extLst>
      <p:ext uri="{BB962C8B-B14F-4D97-AF65-F5344CB8AC3E}">
        <p14:creationId xmlns:p14="http://schemas.microsoft.com/office/powerpoint/2010/main" val="3504408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065979" y="10672020"/>
            <a:ext cx="26116478" cy="17806494"/>
          </a:xfrm>
        </p:spPr>
        <p:txBody>
          <a:bodyPr anchor="b"/>
          <a:lstStyle>
            <a:lvl1pPr>
              <a:defRPr sz="19869"/>
            </a:lvl1pPr>
          </a:lstStyle>
          <a:p>
            <a:r>
              <a:rPr lang="fr-FR"/>
              <a:t>Modifiez le style du titre</a:t>
            </a:r>
            <a:endParaRPr lang="en-US" dirty="0"/>
          </a:p>
        </p:txBody>
      </p:sp>
      <p:sp>
        <p:nvSpPr>
          <p:cNvPr id="3" name="Text Placeholder 2"/>
          <p:cNvSpPr>
            <a:spLocks noGrp="1"/>
          </p:cNvSpPr>
          <p:nvPr>
            <p:ph type="body" idx="1"/>
          </p:nvPr>
        </p:nvSpPr>
        <p:spPr>
          <a:xfrm>
            <a:off x="2065979" y="28646970"/>
            <a:ext cx="26116478" cy="9364015"/>
          </a:xfrm>
        </p:spPr>
        <p:txBody>
          <a:bodyPr/>
          <a:lstStyle>
            <a:lvl1pPr marL="0" indent="0">
              <a:buNone/>
              <a:defRPr sz="7948">
                <a:solidFill>
                  <a:schemeClr val="tx1"/>
                </a:solidFill>
              </a:defRPr>
            </a:lvl1pPr>
            <a:lvl2pPr marL="1514018" indent="0">
              <a:buNone/>
              <a:defRPr sz="6623">
                <a:solidFill>
                  <a:schemeClr val="tx1">
                    <a:tint val="75000"/>
                  </a:schemeClr>
                </a:solidFill>
              </a:defRPr>
            </a:lvl2pPr>
            <a:lvl3pPr marL="3028036" indent="0">
              <a:buNone/>
              <a:defRPr sz="5961">
                <a:solidFill>
                  <a:schemeClr val="tx1">
                    <a:tint val="75000"/>
                  </a:schemeClr>
                </a:solidFill>
              </a:defRPr>
            </a:lvl3pPr>
            <a:lvl4pPr marL="4542053" indent="0">
              <a:buNone/>
              <a:defRPr sz="5298">
                <a:solidFill>
                  <a:schemeClr val="tx1">
                    <a:tint val="75000"/>
                  </a:schemeClr>
                </a:solidFill>
              </a:defRPr>
            </a:lvl4pPr>
            <a:lvl5pPr marL="6056071" indent="0">
              <a:buNone/>
              <a:defRPr sz="5298">
                <a:solidFill>
                  <a:schemeClr val="tx1">
                    <a:tint val="75000"/>
                  </a:schemeClr>
                </a:solidFill>
              </a:defRPr>
            </a:lvl5pPr>
            <a:lvl6pPr marL="7570089" indent="0">
              <a:buNone/>
              <a:defRPr sz="5298">
                <a:solidFill>
                  <a:schemeClr val="tx1">
                    <a:tint val="75000"/>
                  </a:schemeClr>
                </a:solidFill>
              </a:defRPr>
            </a:lvl6pPr>
            <a:lvl7pPr marL="9084107" indent="0">
              <a:buNone/>
              <a:defRPr sz="5298">
                <a:solidFill>
                  <a:schemeClr val="tx1">
                    <a:tint val="75000"/>
                  </a:schemeClr>
                </a:solidFill>
              </a:defRPr>
            </a:lvl7pPr>
            <a:lvl8pPr marL="10598125" indent="0">
              <a:buNone/>
              <a:defRPr sz="5298">
                <a:solidFill>
                  <a:schemeClr val="tx1">
                    <a:tint val="75000"/>
                  </a:schemeClr>
                </a:solidFill>
              </a:defRPr>
            </a:lvl8pPr>
            <a:lvl9pPr marL="12112142" indent="0">
              <a:buNone/>
              <a:defRPr sz="5298">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fld id="{D2408E09-7FDC-4671-951B-ACF0DF8480DE}" type="datetimeFigureOut">
              <a:rPr lang="fr-FR" smtClean="0"/>
              <a:t>09/06/2026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083466CF-8462-461E-BBAB-E92A670E58B8}" type="slidenum">
              <a:rPr lang="fr-FR" smtClean="0"/>
              <a:t>‹N°›</a:t>
            </a:fld>
            <a:endParaRPr lang="fr-FR"/>
          </a:p>
        </p:txBody>
      </p:sp>
    </p:spTree>
    <p:extLst>
      <p:ext uri="{BB962C8B-B14F-4D97-AF65-F5344CB8AC3E}">
        <p14:creationId xmlns:p14="http://schemas.microsoft.com/office/powerpoint/2010/main" val="2357260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2081748" y="11395365"/>
            <a:ext cx="12868989" cy="27160609"/>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15329238" y="11395365"/>
            <a:ext cx="12868989" cy="27160609"/>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D2408E09-7FDC-4671-951B-ACF0DF8480DE}" type="datetimeFigureOut">
              <a:rPr lang="fr-FR" smtClean="0"/>
              <a:t>09/06/2026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083466CF-8462-461E-BBAB-E92A670E58B8}" type="slidenum">
              <a:rPr lang="fr-FR" smtClean="0"/>
              <a:t>‹N°›</a:t>
            </a:fld>
            <a:endParaRPr lang="fr-FR"/>
          </a:p>
        </p:txBody>
      </p:sp>
    </p:spTree>
    <p:extLst>
      <p:ext uri="{BB962C8B-B14F-4D97-AF65-F5344CB8AC3E}">
        <p14:creationId xmlns:p14="http://schemas.microsoft.com/office/powerpoint/2010/main" val="13760134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2085692" y="2279083"/>
            <a:ext cx="26116478" cy="8274029"/>
          </a:xfrm>
        </p:spPr>
        <p:txBody>
          <a:bodyPr/>
          <a:lstStyle/>
          <a:p>
            <a:r>
              <a:rPr lang="fr-FR"/>
              <a:t>Modifiez le style du titre</a:t>
            </a:r>
            <a:endParaRPr lang="en-US" dirty="0"/>
          </a:p>
        </p:txBody>
      </p:sp>
      <p:sp>
        <p:nvSpPr>
          <p:cNvPr id="3" name="Text Placeholder 2"/>
          <p:cNvSpPr>
            <a:spLocks noGrp="1"/>
          </p:cNvSpPr>
          <p:nvPr>
            <p:ph type="body" idx="1"/>
          </p:nvPr>
        </p:nvSpPr>
        <p:spPr>
          <a:xfrm>
            <a:off x="2085695" y="10493648"/>
            <a:ext cx="12809847" cy="5142775"/>
          </a:xfrm>
        </p:spPr>
        <p:txBody>
          <a:bodyPr anchor="b"/>
          <a:lstStyle>
            <a:lvl1pPr marL="0" indent="0">
              <a:buNone/>
              <a:defRPr sz="7948" b="1"/>
            </a:lvl1pPr>
            <a:lvl2pPr marL="1514018" indent="0">
              <a:buNone/>
              <a:defRPr sz="6623" b="1"/>
            </a:lvl2pPr>
            <a:lvl3pPr marL="3028036" indent="0">
              <a:buNone/>
              <a:defRPr sz="5961" b="1"/>
            </a:lvl3pPr>
            <a:lvl4pPr marL="4542053" indent="0">
              <a:buNone/>
              <a:defRPr sz="5298" b="1"/>
            </a:lvl4pPr>
            <a:lvl5pPr marL="6056071" indent="0">
              <a:buNone/>
              <a:defRPr sz="5298" b="1"/>
            </a:lvl5pPr>
            <a:lvl6pPr marL="7570089" indent="0">
              <a:buNone/>
              <a:defRPr sz="5298" b="1"/>
            </a:lvl6pPr>
            <a:lvl7pPr marL="9084107" indent="0">
              <a:buNone/>
              <a:defRPr sz="5298" b="1"/>
            </a:lvl7pPr>
            <a:lvl8pPr marL="10598125" indent="0">
              <a:buNone/>
              <a:defRPr sz="5298" b="1"/>
            </a:lvl8pPr>
            <a:lvl9pPr marL="12112142" indent="0">
              <a:buNone/>
              <a:defRPr sz="5298" b="1"/>
            </a:lvl9pPr>
          </a:lstStyle>
          <a:p>
            <a:pPr lvl="0"/>
            <a:r>
              <a:rPr lang="fr-FR"/>
              <a:t>Modifier les styles du texte du masque</a:t>
            </a:r>
          </a:p>
        </p:txBody>
      </p:sp>
      <p:sp>
        <p:nvSpPr>
          <p:cNvPr id="4" name="Content Placeholder 3"/>
          <p:cNvSpPr>
            <a:spLocks noGrp="1"/>
          </p:cNvSpPr>
          <p:nvPr>
            <p:ph sz="half" idx="2"/>
          </p:nvPr>
        </p:nvSpPr>
        <p:spPr>
          <a:xfrm>
            <a:off x="2085695" y="15636423"/>
            <a:ext cx="12809847" cy="22998823"/>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15329239" y="10493648"/>
            <a:ext cx="12872933" cy="5142775"/>
          </a:xfrm>
        </p:spPr>
        <p:txBody>
          <a:bodyPr anchor="b"/>
          <a:lstStyle>
            <a:lvl1pPr marL="0" indent="0">
              <a:buNone/>
              <a:defRPr sz="7948" b="1"/>
            </a:lvl1pPr>
            <a:lvl2pPr marL="1514018" indent="0">
              <a:buNone/>
              <a:defRPr sz="6623" b="1"/>
            </a:lvl2pPr>
            <a:lvl3pPr marL="3028036" indent="0">
              <a:buNone/>
              <a:defRPr sz="5961" b="1"/>
            </a:lvl3pPr>
            <a:lvl4pPr marL="4542053" indent="0">
              <a:buNone/>
              <a:defRPr sz="5298" b="1"/>
            </a:lvl4pPr>
            <a:lvl5pPr marL="6056071" indent="0">
              <a:buNone/>
              <a:defRPr sz="5298" b="1"/>
            </a:lvl5pPr>
            <a:lvl6pPr marL="7570089" indent="0">
              <a:buNone/>
              <a:defRPr sz="5298" b="1"/>
            </a:lvl6pPr>
            <a:lvl7pPr marL="9084107" indent="0">
              <a:buNone/>
              <a:defRPr sz="5298" b="1"/>
            </a:lvl7pPr>
            <a:lvl8pPr marL="10598125" indent="0">
              <a:buNone/>
              <a:defRPr sz="5298" b="1"/>
            </a:lvl8pPr>
            <a:lvl9pPr marL="12112142" indent="0">
              <a:buNone/>
              <a:defRPr sz="5298" b="1"/>
            </a:lvl9pPr>
          </a:lstStyle>
          <a:p>
            <a:pPr lvl="0"/>
            <a:r>
              <a:rPr lang="fr-FR"/>
              <a:t>Modifier les styles du texte du masque</a:t>
            </a:r>
          </a:p>
        </p:txBody>
      </p:sp>
      <p:sp>
        <p:nvSpPr>
          <p:cNvPr id="6" name="Content Placeholder 5"/>
          <p:cNvSpPr>
            <a:spLocks noGrp="1"/>
          </p:cNvSpPr>
          <p:nvPr>
            <p:ph sz="quarter" idx="4"/>
          </p:nvPr>
        </p:nvSpPr>
        <p:spPr>
          <a:xfrm>
            <a:off x="15329239" y="15636423"/>
            <a:ext cx="12872933" cy="22998823"/>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D2408E09-7FDC-4671-951B-ACF0DF8480DE}" type="datetimeFigureOut">
              <a:rPr lang="fr-FR" smtClean="0"/>
              <a:t>09/06/2026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083466CF-8462-461E-BBAB-E92A670E58B8}" type="slidenum">
              <a:rPr lang="fr-FR" smtClean="0"/>
              <a:t>‹N°›</a:t>
            </a:fld>
            <a:endParaRPr lang="fr-FR"/>
          </a:p>
        </p:txBody>
      </p:sp>
    </p:spTree>
    <p:extLst>
      <p:ext uri="{BB962C8B-B14F-4D97-AF65-F5344CB8AC3E}">
        <p14:creationId xmlns:p14="http://schemas.microsoft.com/office/powerpoint/2010/main" val="838774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D2408E09-7FDC-4671-951B-ACF0DF8480DE}" type="datetimeFigureOut">
              <a:rPr lang="fr-FR" smtClean="0"/>
              <a:t>09/06/2026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083466CF-8462-461E-BBAB-E92A670E58B8}" type="slidenum">
              <a:rPr lang="fr-FR" smtClean="0"/>
              <a:t>‹N°›</a:t>
            </a:fld>
            <a:endParaRPr lang="fr-FR"/>
          </a:p>
        </p:txBody>
      </p:sp>
    </p:spTree>
    <p:extLst>
      <p:ext uri="{BB962C8B-B14F-4D97-AF65-F5344CB8AC3E}">
        <p14:creationId xmlns:p14="http://schemas.microsoft.com/office/powerpoint/2010/main" val="42866952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408E09-7FDC-4671-951B-ACF0DF8480DE}" type="datetimeFigureOut">
              <a:rPr lang="fr-FR" smtClean="0"/>
              <a:t>09/06/2026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083466CF-8462-461E-BBAB-E92A670E58B8}" type="slidenum">
              <a:rPr lang="fr-FR" smtClean="0"/>
              <a:t>‹N°›</a:t>
            </a:fld>
            <a:endParaRPr lang="fr-FR"/>
          </a:p>
        </p:txBody>
      </p:sp>
    </p:spTree>
    <p:extLst>
      <p:ext uri="{BB962C8B-B14F-4D97-AF65-F5344CB8AC3E}">
        <p14:creationId xmlns:p14="http://schemas.microsoft.com/office/powerpoint/2010/main" val="11197207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085692" y="2853796"/>
            <a:ext cx="9766080" cy="9988286"/>
          </a:xfrm>
        </p:spPr>
        <p:txBody>
          <a:bodyPr anchor="b"/>
          <a:lstStyle>
            <a:lvl1pPr>
              <a:defRPr sz="10597"/>
            </a:lvl1pPr>
          </a:lstStyle>
          <a:p>
            <a:r>
              <a:rPr lang="fr-FR"/>
              <a:t>Modifiez le style du titre</a:t>
            </a:r>
            <a:endParaRPr lang="en-US" dirty="0"/>
          </a:p>
        </p:txBody>
      </p:sp>
      <p:sp>
        <p:nvSpPr>
          <p:cNvPr id="3" name="Content Placeholder 2"/>
          <p:cNvSpPr>
            <a:spLocks noGrp="1"/>
          </p:cNvSpPr>
          <p:nvPr>
            <p:ph idx="1"/>
          </p:nvPr>
        </p:nvSpPr>
        <p:spPr>
          <a:xfrm>
            <a:off x="12872933" y="6163416"/>
            <a:ext cx="15329237" cy="30420671"/>
          </a:xfrm>
        </p:spPr>
        <p:txBody>
          <a:bodyPr/>
          <a:lstStyle>
            <a:lvl1pPr>
              <a:defRPr sz="10597"/>
            </a:lvl1pPr>
            <a:lvl2pPr>
              <a:defRPr sz="9272"/>
            </a:lvl2pPr>
            <a:lvl3pPr>
              <a:defRPr sz="7948"/>
            </a:lvl3pPr>
            <a:lvl4pPr>
              <a:defRPr sz="6623"/>
            </a:lvl4pPr>
            <a:lvl5pPr>
              <a:defRPr sz="6623"/>
            </a:lvl5pPr>
            <a:lvl6pPr>
              <a:defRPr sz="6623"/>
            </a:lvl6pPr>
            <a:lvl7pPr>
              <a:defRPr sz="6623"/>
            </a:lvl7pPr>
            <a:lvl8pPr>
              <a:defRPr sz="6623"/>
            </a:lvl8pPr>
            <a:lvl9pPr>
              <a:defRPr sz="6623"/>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2085692" y="12842082"/>
            <a:ext cx="9766080" cy="23791544"/>
          </a:xfrm>
        </p:spPr>
        <p:txBody>
          <a:bodyPr/>
          <a:lstStyle>
            <a:lvl1pPr marL="0" indent="0">
              <a:buNone/>
              <a:defRPr sz="5298"/>
            </a:lvl1pPr>
            <a:lvl2pPr marL="1514018" indent="0">
              <a:buNone/>
              <a:defRPr sz="4636"/>
            </a:lvl2pPr>
            <a:lvl3pPr marL="3028036" indent="0">
              <a:buNone/>
              <a:defRPr sz="3974"/>
            </a:lvl3pPr>
            <a:lvl4pPr marL="4542053" indent="0">
              <a:buNone/>
              <a:defRPr sz="3312"/>
            </a:lvl4pPr>
            <a:lvl5pPr marL="6056071" indent="0">
              <a:buNone/>
              <a:defRPr sz="3312"/>
            </a:lvl5pPr>
            <a:lvl6pPr marL="7570089" indent="0">
              <a:buNone/>
              <a:defRPr sz="3312"/>
            </a:lvl6pPr>
            <a:lvl7pPr marL="9084107" indent="0">
              <a:buNone/>
              <a:defRPr sz="3312"/>
            </a:lvl7pPr>
            <a:lvl8pPr marL="10598125" indent="0">
              <a:buNone/>
              <a:defRPr sz="3312"/>
            </a:lvl8pPr>
            <a:lvl9pPr marL="12112142" indent="0">
              <a:buNone/>
              <a:defRPr sz="3312"/>
            </a:lvl9pPr>
          </a:lstStyle>
          <a:p>
            <a:pPr lvl="0"/>
            <a:r>
              <a:rPr lang="fr-FR"/>
              <a:t>Modifier les styles du texte du masque</a:t>
            </a:r>
          </a:p>
        </p:txBody>
      </p:sp>
      <p:sp>
        <p:nvSpPr>
          <p:cNvPr id="5" name="Date Placeholder 4"/>
          <p:cNvSpPr>
            <a:spLocks noGrp="1"/>
          </p:cNvSpPr>
          <p:nvPr>
            <p:ph type="dt" sz="half" idx="10"/>
          </p:nvPr>
        </p:nvSpPr>
        <p:spPr/>
        <p:txBody>
          <a:bodyPr/>
          <a:lstStyle/>
          <a:p>
            <a:fld id="{D2408E09-7FDC-4671-951B-ACF0DF8480DE}" type="datetimeFigureOut">
              <a:rPr lang="fr-FR" smtClean="0"/>
              <a:t>09/06/2026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083466CF-8462-461E-BBAB-E92A670E58B8}" type="slidenum">
              <a:rPr lang="fr-FR" smtClean="0"/>
              <a:t>‹N°›</a:t>
            </a:fld>
            <a:endParaRPr lang="fr-FR"/>
          </a:p>
        </p:txBody>
      </p:sp>
    </p:spTree>
    <p:extLst>
      <p:ext uri="{BB962C8B-B14F-4D97-AF65-F5344CB8AC3E}">
        <p14:creationId xmlns:p14="http://schemas.microsoft.com/office/powerpoint/2010/main" val="852451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085692" y="2853796"/>
            <a:ext cx="9766080" cy="9988286"/>
          </a:xfrm>
        </p:spPr>
        <p:txBody>
          <a:bodyPr anchor="b"/>
          <a:lstStyle>
            <a:lvl1pPr>
              <a:defRPr sz="10597"/>
            </a:lvl1pPr>
          </a:lstStyle>
          <a:p>
            <a:r>
              <a:rPr lang="fr-FR"/>
              <a:t>Modifiez le style du titre</a:t>
            </a:r>
            <a:endParaRPr lang="en-US" dirty="0"/>
          </a:p>
        </p:txBody>
      </p:sp>
      <p:sp>
        <p:nvSpPr>
          <p:cNvPr id="3" name="Picture Placeholder 2"/>
          <p:cNvSpPr>
            <a:spLocks noGrp="1" noChangeAspect="1"/>
          </p:cNvSpPr>
          <p:nvPr>
            <p:ph type="pic" idx="1"/>
          </p:nvPr>
        </p:nvSpPr>
        <p:spPr>
          <a:xfrm>
            <a:off x="12872933" y="6163416"/>
            <a:ext cx="15329237" cy="30420671"/>
          </a:xfrm>
        </p:spPr>
        <p:txBody>
          <a:bodyPr anchor="t"/>
          <a:lstStyle>
            <a:lvl1pPr marL="0" indent="0">
              <a:buNone/>
              <a:defRPr sz="10597"/>
            </a:lvl1pPr>
            <a:lvl2pPr marL="1514018" indent="0">
              <a:buNone/>
              <a:defRPr sz="9272"/>
            </a:lvl2pPr>
            <a:lvl3pPr marL="3028036" indent="0">
              <a:buNone/>
              <a:defRPr sz="7948"/>
            </a:lvl3pPr>
            <a:lvl4pPr marL="4542053" indent="0">
              <a:buNone/>
              <a:defRPr sz="6623"/>
            </a:lvl4pPr>
            <a:lvl5pPr marL="6056071" indent="0">
              <a:buNone/>
              <a:defRPr sz="6623"/>
            </a:lvl5pPr>
            <a:lvl6pPr marL="7570089" indent="0">
              <a:buNone/>
              <a:defRPr sz="6623"/>
            </a:lvl6pPr>
            <a:lvl7pPr marL="9084107" indent="0">
              <a:buNone/>
              <a:defRPr sz="6623"/>
            </a:lvl7pPr>
            <a:lvl8pPr marL="10598125" indent="0">
              <a:buNone/>
              <a:defRPr sz="6623"/>
            </a:lvl8pPr>
            <a:lvl9pPr marL="12112142" indent="0">
              <a:buNone/>
              <a:defRPr sz="6623"/>
            </a:lvl9pPr>
          </a:lstStyle>
          <a:p>
            <a:r>
              <a:rPr lang="fr-FR"/>
              <a:t>Cliquez sur l'icône pour ajouter une image</a:t>
            </a:r>
            <a:endParaRPr lang="en-US" dirty="0"/>
          </a:p>
        </p:txBody>
      </p:sp>
      <p:sp>
        <p:nvSpPr>
          <p:cNvPr id="4" name="Text Placeholder 3"/>
          <p:cNvSpPr>
            <a:spLocks noGrp="1"/>
          </p:cNvSpPr>
          <p:nvPr>
            <p:ph type="body" sz="half" idx="2"/>
          </p:nvPr>
        </p:nvSpPr>
        <p:spPr>
          <a:xfrm>
            <a:off x="2085692" y="12842082"/>
            <a:ext cx="9766080" cy="23791544"/>
          </a:xfrm>
        </p:spPr>
        <p:txBody>
          <a:bodyPr/>
          <a:lstStyle>
            <a:lvl1pPr marL="0" indent="0">
              <a:buNone/>
              <a:defRPr sz="5298"/>
            </a:lvl1pPr>
            <a:lvl2pPr marL="1514018" indent="0">
              <a:buNone/>
              <a:defRPr sz="4636"/>
            </a:lvl2pPr>
            <a:lvl3pPr marL="3028036" indent="0">
              <a:buNone/>
              <a:defRPr sz="3974"/>
            </a:lvl3pPr>
            <a:lvl4pPr marL="4542053" indent="0">
              <a:buNone/>
              <a:defRPr sz="3312"/>
            </a:lvl4pPr>
            <a:lvl5pPr marL="6056071" indent="0">
              <a:buNone/>
              <a:defRPr sz="3312"/>
            </a:lvl5pPr>
            <a:lvl6pPr marL="7570089" indent="0">
              <a:buNone/>
              <a:defRPr sz="3312"/>
            </a:lvl6pPr>
            <a:lvl7pPr marL="9084107" indent="0">
              <a:buNone/>
              <a:defRPr sz="3312"/>
            </a:lvl7pPr>
            <a:lvl8pPr marL="10598125" indent="0">
              <a:buNone/>
              <a:defRPr sz="3312"/>
            </a:lvl8pPr>
            <a:lvl9pPr marL="12112142" indent="0">
              <a:buNone/>
              <a:defRPr sz="3312"/>
            </a:lvl9pPr>
          </a:lstStyle>
          <a:p>
            <a:pPr lvl="0"/>
            <a:r>
              <a:rPr lang="fr-FR"/>
              <a:t>Modifier les styles du texte du masque</a:t>
            </a:r>
          </a:p>
        </p:txBody>
      </p:sp>
      <p:sp>
        <p:nvSpPr>
          <p:cNvPr id="5" name="Date Placeholder 4"/>
          <p:cNvSpPr>
            <a:spLocks noGrp="1"/>
          </p:cNvSpPr>
          <p:nvPr>
            <p:ph type="dt" sz="half" idx="10"/>
          </p:nvPr>
        </p:nvSpPr>
        <p:spPr/>
        <p:txBody>
          <a:bodyPr/>
          <a:lstStyle/>
          <a:p>
            <a:fld id="{D2408E09-7FDC-4671-951B-ACF0DF8480DE}" type="datetimeFigureOut">
              <a:rPr lang="fr-FR" smtClean="0"/>
              <a:t>09/06/2026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083466CF-8462-461E-BBAB-E92A670E58B8}" type="slidenum">
              <a:rPr lang="fr-FR" smtClean="0"/>
              <a:t>‹N°›</a:t>
            </a:fld>
            <a:endParaRPr lang="fr-FR"/>
          </a:p>
        </p:txBody>
      </p:sp>
    </p:spTree>
    <p:extLst>
      <p:ext uri="{BB962C8B-B14F-4D97-AF65-F5344CB8AC3E}">
        <p14:creationId xmlns:p14="http://schemas.microsoft.com/office/powerpoint/2010/main" val="40561611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2408E09-7FDC-4671-951B-ACF0DF8480DE}" type="datetimeFigureOut">
              <a:rPr lang="fr-FR" smtClean="0"/>
              <a:t>09/06/2026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083466CF-8462-461E-BBAB-E92A670E58B8}" type="slidenum">
              <a:rPr lang="fr-FR" smtClean="0"/>
              <a:t>‹N°›</a:t>
            </a:fld>
            <a:endParaRPr lang="fr-FR"/>
          </a:p>
        </p:txBody>
      </p:sp>
    </p:spTree>
    <p:extLst>
      <p:ext uri="{BB962C8B-B14F-4D97-AF65-F5344CB8AC3E}">
        <p14:creationId xmlns:p14="http://schemas.microsoft.com/office/powerpoint/2010/main" val="1933888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9109" y="2279073"/>
            <a:ext cx="6529120" cy="36276901"/>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2081750" y="2279073"/>
            <a:ext cx="19208859" cy="36276901"/>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2408E09-7FDC-4671-951B-ACF0DF8480DE}" type="datetimeFigureOut">
              <a:rPr lang="fr-FR" smtClean="0"/>
              <a:t>09/06/2026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083466CF-8462-461E-BBAB-E92A670E58B8}" type="slidenum">
              <a:rPr lang="fr-FR" smtClean="0"/>
              <a:t>‹N°›</a:t>
            </a:fld>
            <a:endParaRPr lang="fr-FR"/>
          </a:p>
        </p:txBody>
      </p:sp>
    </p:spTree>
    <p:extLst>
      <p:ext uri="{BB962C8B-B14F-4D97-AF65-F5344CB8AC3E}">
        <p14:creationId xmlns:p14="http://schemas.microsoft.com/office/powerpoint/2010/main" val="2550953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749" y="2279083"/>
            <a:ext cx="26116478" cy="8274029"/>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2081749" y="11395365"/>
            <a:ext cx="26116478" cy="27160609"/>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2081748" y="39675699"/>
            <a:ext cx="6812994" cy="2279073"/>
          </a:xfrm>
          <a:prstGeom prst="rect">
            <a:avLst/>
          </a:prstGeom>
        </p:spPr>
        <p:txBody>
          <a:bodyPr vert="horz" lIns="91440" tIns="45720" rIns="91440" bIns="45720" rtlCol="0" anchor="ctr"/>
          <a:lstStyle>
            <a:lvl1pPr algn="l">
              <a:defRPr sz="3974">
                <a:solidFill>
                  <a:schemeClr val="tx1">
                    <a:tint val="75000"/>
                  </a:schemeClr>
                </a:solidFill>
              </a:defRPr>
            </a:lvl1pPr>
          </a:lstStyle>
          <a:p>
            <a:fld id="{D2408E09-7FDC-4671-951B-ACF0DF8480DE}" type="datetimeFigureOut">
              <a:rPr lang="fr-FR" smtClean="0"/>
              <a:t>09/06/2026</a:t>
            </a:fld>
            <a:endParaRPr lang="fr-FR"/>
          </a:p>
        </p:txBody>
      </p:sp>
      <p:sp>
        <p:nvSpPr>
          <p:cNvPr id="5" name="Footer Placeholder 4"/>
          <p:cNvSpPr>
            <a:spLocks noGrp="1"/>
          </p:cNvSpPr>
          <p:nvPr>
            <p:ph type="ftr" sz="quarter" idx="3"/>
          </p:nvPr>
        </p:nvSpPr>
        <p:spPr>
          <a:xfrm>
            <a:off x="10030242" y="39675699"/>
            <a:ext cx="10219492" cy="2279073"/>
          </a:xfrm>
          <a:prstGeom prst="rect">
            <a:avLst/>
          </a:prstGeom>
        </p:spPr>
        <p:txBody>
          <a:bodyPr vert="horz" lIns="91440" tIns="45720" rIns="91440" bIns="45720" rtlCol="0" anchor="ctr"/>
          <a:lstStyle>
            <a:lvl1pPr algn="ctr">
              <a:defRPr sz="3974">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21385233" y="39675699"/>
            <a:ext cx="6812994" cy="2279073"/>
          </a:xfrm>
          <a:prstGeom prst="rect">
            <a:avLst/>
          </a:prstGeom>
        </p:spPr>
        <p:txBody>
          <a:bodyPr vert="horz" lIns="91440" tIns="45720" rIns="91440" bIns="45720" rtlCol="0" anchor="ctr"/>
          <a:lstStyle>
            <a:lvl1pPr algn="r">
              <a:defRPr sz="3974">
                <a:solidFill>
                  <a:schemeClr val="tx1">
                    <a:tint val="75000"/>
                  </a:schemeClr>
                </a:solidFill>
              </a:defRPr>
            </a:lvl1pPr>
          </a:lstStyle>
          <a:p>
            <a:fld id="{083466CF-8462-461E-BBAB-E92A670E58B8}" type="slidenum">
              <a:rPr lang="fr-FR" smtClean="0"/>
              <a:t>‹N°›</a:t>
            </a:fld>
            <a:endParaRPr lang="fr-FR"/>
          </a:p>
        </p:txBody>
      </p:sp>
    </p:spTree>
    <p:extLst>
      <p:ext uri="{BB962C8B-B14F-4D97-AF65-F5344CB8AC3E}">
        <p14:creationId xmlns:p14="http://schemas.microsoft.com/office/powerpoint/2010/main" val="249275313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028036" rtl="0" eaLnBrk="1" latinLnBrk="0" hangingPunct="1">
        <a:lnSpc>
          <a:spcPct val="90000"/>
        </a:lnSpc>
        <a:spcBef>
          <a:spcPct val="0"/>
        </a:spcBef>
        <a:buNone/>
        <a:defRPr sz="14571" kern="1200">
          <a:solidFill>
            <a:schemeClr val="tx1"/>
          </a:solidFill>
          <a:latin typeface="+mj-lt"/>
          <a:ea typeface="+mj-ea"/>
          <a:cs typeface="+mj-cs"/>
        </a:defRPr>
      </a:lvl1pPr>
    </p:titleStyle>
    <p:bodyStyle>
      <a:lvl1pPr marL="757009" indent="-757009" algn="l" defTabSz="3028036" rtl="0" eaLnBrk="1" latinLnBrk="0" hangingPunct="1">
        <a:lnSpc>
          <a:spcPct val="90000"/>
        </a:lnSpc>
        <a:spcBef>
          <a:spcPts val="3312"/>
        </a:spcBef>
        <a:buFont typeface="Arial" panose="020B0604020202020204" pitchFamily="34" charset="0"/>
        <a:buChar char="•"/>
        <a:defRPr sz="9272" kern="1200">
          <a:solidFill>
            <a:schemeClr val="tx1"/>
          </a:solidFill>
          <a:latin typeface="+mn-lt"/>
          <a:ea typeface="+mn-ea"/>
          <a:cs typeface="+mn-cs"/>
        </a:defRPr>
      </a:lvl1pPr>
      <a:lvl2pPr marL="2271027" indent="-757009" algn="l" defTabSz="3028036" rtl="0" eaLnBrk="1" latinLnBrk="0" hangingPunct="1">
        <a:lnSpc>
          <a:spcPct val="90000"/>
        </a:lnSpc>
        <a:spcBef>
          <a:spcPts val="1656"/>
        </a:spcBef>
        <a:buFont typeface="Arial" panose="020B0604020202020204" pitchFamily="34" charset="0"/>
        <a:buChar char="•"/>
        <a:defRPr sz="7948" kern="1200">
          <a:solidFill>
            <a:schemeClr val="tx1"/>
          </a:solidFill>
          <a:latin typeface="+mn-lt"/>
          <a:ea typeface="+mn-ea"/>
          <a:cs typeface="+mn-cs"/>
        </a:defRPr>
      </a:lvl2pPr>
      <a:lvl3pPr marL="3785045" indent="-757009" algn="l" defTabSz="3028036" rtl="0" eaLnBrk="1" latinLnBrk="0" hangingPunct="1">
        <a:lnSpc>
          <a:spcPct val="90000"/>
        </a:lnSpc>
        <a:spcBef>
          <a:spcPts val="1656"/>
        </a:spcBef>
        <a:buFont typeface="Arial" panose="020B0604020202020204" pitchFamily="34" charset="0"/>
        <a:buChar char="•"/>
        <a:defRPr sz="6623" kern="1200">
          <a:solidFill>
            <a:schemeClr val="tx1"/>
          </a:solidFill>
          <a:latin typeface="+mn-lt"/>
          <a:ea typeface="+mn-ea"/>
          <a:cs typeface="+mn-cs"/>
        </a:defRPr>
      </a:lvl3pPr>
      <a:lvl4pPr marL="5299062"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4pPr>
      <a:lvl5pPr marL="6813080"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5pPr>
      <a:lvl6pPr marL="8327098"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6pPr>
      <a:lvl7pPr marL="9841116"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7pPr>
      <a:lvl8pPr marL="11355134"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8pPr>
      <a:lvl9pPr marL="12869151" indent="-757009" algn="l" defTabSz="3028036" rtl="0" eaLnBrk="1" latinLnBrk="0" hangingPunct="1">
        <a:lnSpc>
          <a:spcPct val="90000"/>
        </a:lnSpc>
        <a:spcBef>
          <a:spcPts val="1656"/>
        </a:spcBef>
        <a:buFont typeface="Arial" panose="020B0604020202020204" pitchFamily="34" charset="0"/>
        <a:buChar char="•"/>
        <a:defRPr sz="5961" kern="1200">
          <a:solidFill>
            <a:schemeClr val="tx1"/>
          </a:solidFill>
          <a:latin typeface="+mn-lt"/>
          <a:ea typeface="+mn-ea"/>
          <a:cs typeface="+mn-cs"/>
        </a:defRPr>
      </a:lvl9pPr>
    </p:bodyStyle>
    <p:otherStyle>
      <a:defPPr>
        <a:defRPr lang="en-US"/>
      </a:defPPr>
      <a:lvl1pPr marL="0" algn="l" defTabSz="3028036" rtl="0" eaLnBrk="1" latinLnBrk="0" hangingPunct="1">
        <a:defRPr sz="5961" kern="1200">
          <a:solidFill>
            <a:schemeClr val="tx1"/>
          </a:solidFill>
          <a:latin typeface="+mn-lt"/>
          <a:ea typeface="+mn-ea"/>
          <a:cs typeface="+mn-cs"/>
        </a:defRPr>
      </a:lvl1pPr>
      <a:lvl2pPr marL="1514018" algn="l" defTabSz="3028036" rtl="0" eaLnBrk="1" latinLnBrk="0" hangingPunct="1">
        <a:defRPr sz="5961" kern="1200">
          <a:solidFill>
            <a:schemeClr val="tx1"/>
          </a:solidFill>
          <a:latin typeface="+mn-lt"/>
          <a:ea typeface="+mn-ea"/>
          <a:cs typeface="+mn-cs"/>
        </a:defRPr>
      </a:lvl2pPr>
      <a:lvl3pPr marL="3028036" algn="l" defTabSz="3028036" rtl="0" eaLnBrk="1" latinLnBrk="0" hangingPunct="1">
        <a:defRPr sz="5961" kern="1200">
          <a:solidFill>
            <a:schemeClr val="tx1"/>
          </a:solidFill>
          <a:latin typeface="+mn-lt"/>
          <a:ea typeface="+mn-ea"/>
          <a:cs typeface="+mn-cs"/>
        </a:defRPr>
      </a:lvl3pPr>
      <a:lvl4pPr marL="4542053" algn="l" defTabSz="3028036" rtl="0" eaLnBrk="1" latinLnBrk="0" hangingPunct="1">
        <a:defRPr sz="5961" kern="1200">
          <a:solidFill>
            <a:schemeClr val="tx1"/>
          </a:solidFill>
          <a:latin typeface="+mn-lt"/>
          <a:ea typeface="+mn-ea"/>
          <a:cs typeface="+mn-cs"/>
        </a:defRPr>
      </a:lvl4pPr>
      <a:lvl5pPr marL="6056071" algn="l" defTabSz="3028036" rtl="0" eaLnBrk="1" latinLnBrk="0" hangingPunct="1">
        <a:defRPr sz="5961" kern="1200">
          <a:solidFill>
            <a:schemeClr val="tx1"/>
          </a:solidFill>
          <a:latin typeface="+mn-lt"/>
          <a:ea typeface="+mn-ea"/>
          <a:cs typeface="+mn-cs"/>
        </a:defRPr>
      </a:lvl5pPr>
      <a:lvl6pPr marL="7570089" algn="l" defTabSz="3028036" rtl="0" eaLnBrk="1" latinLnBrk="0" hangingPunct="1">
        <a:defRPr sz="5961" kern="1200">
          <a:solidFill>
            <a:schemeClr val="tx1"/>
          </a:solidFill>
          <a:latin typeface="+mn-lt"/>
          <a:ea typeface="+mn-ea"/>
          <a:cs typeface="+mn-cs"/>
        </a:defRPr>
      </a:lvl6pPr>
      <a:lvl7pPr marL="9084107" algn="l" defTabSz="3028036" rtl="0" eaLnBrk="1" latinLnBrk="0" hangingPunct="1">
        <a:defRPr sz="5961" kern="1200">
          <a:solidFill>
            <a:schemeClr val="tx1"/>
          </a:solidFill>
          <a:latin typeface="+mn-lt"/>
          <a:ea typeface="+mn-ea"/>
          <a:cs typeface="+mn-cs"/>
        </a:defRPr>
      </a:lvl7pPr>
      <a:lvl8pPr marL="10598125" algn="l" defTabSz="3028036" rtl="0" eaLnBrk="1" latinLnBrk="0" hangingPunct="1">
        <a:defRPr sz="5961" kern="1200">
          <a:solidFill>
            <a:schemeClr val="tx1"/>
          </a:solidFill>
          <a:latin typeface="+mn-lt"/>
          <a:ea typeface="+mn-ea"/>
          <a:cs typeface="+mn-cs"/>
        </a:defRPr>
      </a:lvl8pPr>
      <a:lvl9pPr marL="12112142" algn="l" defTabSz="3028036" rtl="0" eaLnBrk="1" latinLnBrk="0" hangingPunct="1">
        <a:defRPr sz="596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mailto:claire.dandine@cnrgh.fr" TargetMode="External"/><Relationship Id="rId13"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hyperlink" Target="mailto:deleuze@cnrgh.fr" TargetMode="External"/><Relationship Id="rId12" Type="http://schemas.openxmlformats.org/officeDocument/2006/relationships/image" Target="../media/image8.png"/><Relationship Id="rId17" Type="http://schemas.openxmlformats.org/officeDocument/2006/relationships/image" Target="../media/image13.png"/><Relationship Id="rId2" Type="http://schemas.openxmlformats.org/officeDocument/2006/relationships/notesSlide" Target="../notesSlides/notesSlide1.xml"/><Relationship Id="rId16"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7.png"/><Relationship Id="rId5" Type="http://schemas.openxmlformats.org/officeDocument/2006/relationships/image" Target="../media/image3.jpeg"/><Relationship Id="rId15" Type="http://schemas.openxmlformats.org/officeDocument/2006/relationships/image" Target="../media/image11.jpeg"/><Relationship Id="rId10" Type="http://schemas.openxmlformats.org/officeDocument/2006/relationships/image" Target="../media/image6.png"/><Relationship Id="rId4" Type="http://schemas.openxmlformats.org/officeDocument/2006/relationships/image" Target="../media/image2.jpeg"/><Relationship Id="rId9" Type="http://schemas.openxmlformats.org/officeDocument/2006/relationships/image" Target="../media/image5.png"/><Relationship Id="rId1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1854" y="466686"/>
            <a:ext cx="2144621" cy="1997715"/>
          </a:xfrm>
          <a:prstGeom prst="rect">
            <a:avLst/>
          </a:prstGeom>
        </p:spPr>
      </p:pic>
      <p:pic>
        <p:nvPicPr>
          <p:cNvPr id="5" name="Imag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76872" y="627365"/>
            <a:ext cx="4631722" cy="1676356"/>
          </a:xfrm>
          <a:prstGeom prst="rect">
            <a:avLst/>
          </a:prstGeom>
        </p:spPr>
      </p:pic>
      <p:pic>
        <p:nvPicPr>
          <p:cNvPr id="9" name="Picture 8" descr="Fondation Jean-Dausset - CEPH"/>
          <p:cNvPicPr>
            <a:picLocks noChangeAspect="1" noChangeArrowheads="1"/>
          </p:cNvPicPr>
          <p:nvPr/>
        </p:nvPicPr>
        <p:blipFill rotWithShape="1">
          <a:blip r:embed="rId5">
            <a:extLst>
              <a:ext uri="{28A0092B-C50C-407E-A947-70E740481C1C}">
                <a14:useLocalDpi xmlns:a14="http://schemas.microsoft.com/office/drawing/2010/main" val="0"/>
              </a:ext>
            </a:extLst>
          </a:blip>
          <a:srcRect l="18188" t="-1" r="14921" b="56189"/>
          <a:stretch/>
        </p:blipFill>
        <p:spPr bwMode="auto">
          <a:xfrm>
            <a:off x="18770380" y="796117"/>
            <a:ext cx="4949549" cy="1526220"/>
          </a:xfrm>
          <a:prstGeom prst="rect">
            <a:avLst/>
          </a:prstGeom>
          <a:noFill/>
          <a:extLst>
            <a:ext uri="{909E8E84-426E-40DD-AFC4-6F175D3DCCD1}">
              <a14:hiddenFill xmlns:a14="http://schemas.microsoft.com/office/drawing/2010/main">
                <a:solidFill>
                  <a:srgbClr val="FFFFFF"/>
                </a:solidFill>
              </a14:hiddenFill>
            </a:ext>
          </a:extLst>
        </p:spPr>
      </p:pic>
      <p:pic>
        <p:nvPicPr>
          <p:cNvPr id="70" name="Image 69">
            <a:extLst>
              <a:ext uri="{FF2B5EF4-FFF2-40B4-BE49-F238E27FC236}">
                <a16:creationId xmlns:a16="http://schemas.microsoft.com/office/drawing/2014/main" id="{B3D6B6A6-E512-4924-B29C-20456528DCF4}"/>
              </a:ext>
            </a:extLst>
          </p:cNvPr>
          <p:cNvPicPr>
            <a:picLocks noChangeAspect="1"/>
          </p:cNvPicPr>
          <p:nvPr/>
        </p:nvPicPr>
        <p:blipFill>
          <a:blip r:embed="rId6"/>
          <a:stretch>
            <a:fillRect/>
          </a:stretch>
        </p:blipFill>
        <p:spPr>
          <a:xfrm>
            <a:off x="11025967" y="237838"/>
            <a:ext cx="6702488" cy="2455411"/>
          </a:xfrm>
          <a:prstGeom prst="rect">
            <a:avLst/>
          </a:prstGeom>
          <a:noFill/>
        </p:spPr>
      </p:pic>
      <p:sp>
        <p:nvSpPr>
          <p:cNvPr id="6" name="Rectangle à coins arrondis 5"/>
          <p:cNvSpPr/>
          <p:nvPr/>
        </p:nvSpPr>
        <p:spPr>
          <a:xfrm>
            <a:off x="647565" y="2427345"/>
            <a:ext cx="29063839" cy="2153574"/>
          </a:xfrm>
          <a:prstGeom prst="roundRect">
            <a:avLst>
              <a:gd name="adj" fmla="val 0"/>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solidFill>
                  <a:srgbClr val="E50019"/>
                </a:solidFill>
                <a:cs typeface="Calibri" panose="020F0502020204030204" pitchFamily="34" charset="0"/>
              </a:rPr>
              <a:t>Replication of Published Longevity-Associated Variants </a:t>
            </a:r>
            <a:br>
              <a:rPr lang="en-US" sz="5400" b="1" dirty="0">
                <a:solidFill>
                  <a:srgbClr val="E50019"/>
                </a:solidFill>
                <a:cs typeface="Calibri" panose="020F0502020204030204" pitchFamily="34" charset="0"/>
              </a:rPr>
            </a:br>
            <a:r>
              <a:rPr lang="en-US" sz="5400" b="1" dirty="0">
                <a:solidFill>
                  <a:srgbClr val="E50019"/>
                </a:solidFill>
                <a:cs typeface="Calibri" panose="020F0502020204030204" pitchFamily="34" charset="0"/>
              </a:rPr>
              <a:t>in the French Centenarians Cohort</a:t>
            </a:r>
          </a:p>
        </p:txBody>
      </p:sp>
      <p:sp>
        <p:nvSpPr>
          <p:cNvPr id="195" name="Rectangle 194"/>
          <p:cNvSpPr/>
          <p:nvPr/>
        </p:nvSpPr>
        <p:spPr>
          <a:xfrm>
            <a:off x="433129" y="40612147"/>
            <a:ext cx="29486037" cy="195958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dirty="0">
                <a:solidFill>
                  <a:schemeClr val="tx1"/>
                </a:solidFill>
                <a:cs typeface="Calibri" panose="020F0502020204030204" pitchFamily="34" charset="0"/>
              </a:rPr>
              <a:t>[1] Fortney K, et al. Genome-Wide Scan Informed by Age-Related Disease Identifies Loci for Exceptional Human Longevity. PLOS Genet. 2015;11:e1005728.</a:t>
            </a:r>
          </a:p>
          <a:p>
            <a:pPr algn="just"/>
            <a:r>
              <a:rPr lang="en-US" dirty="0">
                <a:solidFill>
                  <a:schemeClr val="tx1"/>
                </a:solidFill>
                <a:cs typeface="Calibri" panose="020F0502020204030204" pitchFamily="34" charset="0"/>
              </a:rPr>
              <a:t>[2] How-Kit A, et al. The CEPH aging cohort and biobank: a valuable collection of biological samples from exceptionally long-lived French individuals and their offspring for longevity studies. </a:t>
            </a:r>
            <a:r>
              <a:rPr lang="en-US" dirty="0" err="1">
                <a:solidFill>
                  <a:schemeClr val="tx1"/>
                </a:solidFill>
                <a:cs typeface="Calibri" panose="020F0502020204030204" pitchFamily="34" charset="0"/>
              </a:rPr>
              <a:t>GeroScience</a:t>
            </a:r>
            <a:r>
              <a:rPr lang="en-US" dirty="0">
                <a:solidFill>
                  <a:schemeClr val="tx1"/>
                </a:solidFill>
                <a:cs typeface="Calibri" panose="020F0502020204030204" pitchFamily="34" charset="0"/>
              </a:rPr>
              <a:t> 2023;46:2681‑95 </a:t>
            </a:r>
          </a:p>
          <a:p>
            <a:pPr algn="just"/>
            <a:r>
              <a:rPr lang="en-US" dirty="0">
                <a:solidFill>
                  <a:schemeClr val="tx1"/>
                </a:solidFill>
                <a:cs typeface="Calibri" panose="020F0502020204030204" pitchFamily="34" charset="0"/>
              </a:rPr>
              <a:t>[3] Smulders L, </a:t>
            </a:r>
            <a:r>
              <a:rPr lang="en-US" dirty="0" err="1">
                <a:solidFill>
                  <a:schemeClr val="tx1"/>
                </a:solidFill>
                <a:cs typeface="Calibri" panose="020F0502020204030204" pitchFamily="34" charset="0"/>
              </a:rPr>
              <a:t>Deelen</a:t>
            </a:r>
            <a:r>
              <a:rPr lang="en-US" dirty="0">
                <a:solidFill>
                  <a:schemeClr val="tx1"/>
                </a:solidFill>
                <a:cs typeface="Calibri" panose="020F0502020204030204" pitchFamily="34" charset="0"/>
              </a:rPr>
              <a:t> J. Genetics of human longevity: From variants to genes to pathways. J Intern Med. 2024. </a:t>
            </a:r>
            <a:r>
              <a:rPr lang="en-US" dirty="0" err="1">
                <a:solidFill>
                  <a:schemeClr val="tx1"/>
                </a:solidFill>
                <a:cs typeface="Calibri" panose="020F0502020204030204" pitchFamily="34" charset="0"/>
              </a:rPr>
              <a:t>doi</a:t>
            </a:r>
            <a:r>
              <a:rPr lang="en-US" dirty="0">
                <a:solidFill>
                  <a:schemeClr val="tx1"/>
                </a:solidFill>
                <a:cs typeface="Calibri" panose="020F0502020204030204" pitchFamily="34" charset="0"/>
              </a:rPr>
              <a:t>: 10.1111/joim.13740</a:t>
            </a:r>
          </a:p>
          <a:p>
            <a:pPr algn="just"/>
            <a:r>
              <a:rPr lang="en-US" dirty="0">
                <a:solidFill>
                  <a:schemeClr val="tx1"/>
                </a:solidFill>
                <a:cs typeface="Calibri" panose="020F0502020204030204" pitchFamily="34" charset="0"/>
              </a:rPr>
              <a:t>[4] Sims R, et al. Rare coding variants in PLCG2, ABI3 and TREM2 implicate microglial-mediated innate immunity in Alzheimer's disease. Nat Genet. 2017;49(9):1373–1384. </a:t>
            </a:r>
            <a:r>
              <a:rPr lang="en-US" dirty="0" err="1">
                <a:solidFill>
                  <a:schemeClr val="tx1"/>
                </a:solidFill>
                <a:cs typeface="Calibri" panose="020F0502020204030204" pitchFamily="34" charset="0"/>
              </a:rPr>
              <a:t>doi</a:t>
            </a:r>
            <a:r>
              <a:rPr lang="en-US" dirty="0">
                <a:solidFill>
                  <a:schemeClr val="tx1"/>
                </a:solidFill>
                <a:cs typeface="Calibri" panose="020F0502020204030204" pitchFamily="34" charset="0"/>
              </a:rPr>
              <a:t>: 10.1038/ng.3916</a:t>
            </a:r>
          </a:p>
          <a:p>
            <a:pPr algn="just"/>
            <a:r>
              <a:rPr lang="en-US" dirty="0">
                <a:solidFill>
                  <a:schemeClr val="tx1"/>
                </a:solidFill>
                <a:cs typeface="Calibri" panose="020F0502020204030204" pitchFamily="34" charset="0"/>
              </a:rPr>
              <a:t>[5] Alves I, </a:t>
            </a:r>
            <a:r>
              <a:rPr lang="en-US" dirty="0" err="1">
                <a:solidFill>
                  <a:schemeClr val="tx1"/>
                </a:solidFill>
                <a:cs typeface="Calibri" panose="020F0502020204030204" pitchFamily="34" charset="0"/>
              </a:rPr>
              <a:t>Giemza</a:t>
            </a:r>
            <a:r>
              <a:rPr lang="en-US" dirty="0">
                <a:solidFill>
                  <a:schemeClr val="tx1"/>
                </a:solidFill>
                <a:cs typeface="Calibri" panose="020F0502020204030204" pitchFamily="34" charset="0"/>
              </a:rPr>
              <a:t> J, Blum MGB, et al. Human genetic structure in Northwest France provides new insights into West European historical demography. Nat </a:t>
            </a:r>
            <a:r>
              <a:rPr lang="en-US" dirty="0" err="1">
                <a:solidFill>
                  <a:schemeClr val="tx1"/>
                </a:solidFill>
                <a:cs typeface="Calibri" panose="020F0502020204030204" pitchFamily="34" charset="0"/>
              </a:rPr>
              <a:t>Commun</a:t>
            </a:r>
            <a:r>
              <a:rPr lang="en-US" dirty="0">
                <a:solidFill>
                  <a:schemeClr val="tx1"/>
                </a:solidFill>
                <a:cs typeface="Calibri" panose="020F0502020204030204" pitchFamily="34" charset="0"/>
              </a:rPr>
              <a:t>. 2024;15:6782. </a:t>
            </a:r>
            <a:r>
              <a:rPr lang="en-US" dirty="0" err="1">
                <a:solidFill>
                  <a:schemeClr val="tx1"/>
                </a:solidFill>
                <a:cs typeface="Calibri" panose="020F0502020204030204" pitchFamily="34" charset="0"/>
              </a:rPr>
              <a:t>doi</a:t>
            </a:r>
            <a:r>
              <a:rPr lang="en-US" dirty="0">
                <a:solidFill>
                  <a:schemeClr val="tx1"/>
                </a:solidFill>
                <a:cs typeface="Calibri" panose="020F0502020204030204" pitchFamily="34" charset="0"/>
              </a:rPr>
              <a:t>: 10.1038/s41467-024-51087-1</a:t>
            </a:r>
          </a:p>
          <a:p>
            <a:pPr algn="just"/>
            <a:r>
              <a:rPr lang="en-US" dirty="0">
                <a:solidFill>
                  <a:schemeClr val="tx1"/>
                </a:solidFill>
                <a:cs typeface="Calibri" panose="020F0502020204030204" pitchFamily="34" charset="0"/>
              </a:rPr>
              <a:t>[6] Chang CC, Chow CC, Tellier LC, </a:t>
            </a:r>
            <a:r>
              <a:rPr lang="en-US" dirty="0" err="1">
                <a:solidFill>
                  <a:schemeClr val="tx1"/>
                </a:solidFill>
                <a:cs typeface="Calibri" panose="020F0502020204030204" pitchFamily="34" charset="0"/>
              </a:rPr>
              <a:t>Vattikuti</a:t>
            </a:r>
            <a:r>
              <a:rPr lang="en-US" dirty="0">
                <a:solidFill>
                  <a:schemeClr val="tx1"/>
                </a:solidFill>
                <a:cs typeface="Calibri" panose="020F0502020204030204" pitchFamily="34" charset="0"/>
              </a:rPr>
              <a:t> S, Purcell SM, Lee JJ. Second-generation PLINK: rising to the challenge of larger and richer datasets. </a:t>
            </a:r>
            <a:r>
              <a:rPr lang="en-US" dirty="0" err="1">
                <a:solidFill>
                  <a:schemeClr val="tx1"/>
                </a:solidFill>
                <a:cs typeface="Calibri" panose="020F0502020204030204" pitchFamily="34" charset="0"/>
              </a:rPr>
              <a:t>GigaScience</a:t>
            </a:r>
            <a:r>
              <a:rPr lang="en-US" dirty="0">
                <a:solidFill>
                  <a:schemeClr val="tx1"/>
                </a:solidFill>
                <a:cs typeface="Calibri" panose="020F0502020204030204" pitchFamily="34" charset="0"/>
              </a:rPr>
              <a:t>. 2015;4:7. </a:t>
            </a:r>
            <a:r>
              <a:rPr lang="en-US" dirty="0" err="1">
                <a:solidFill>
                  <a:schemeClr val="tx1"/>
                </a:solidFill>
                <a:cs typeface="Calibri" panose="020F0502020204030204" pitchFamily="34" charset="0"/>
              </a:rPr>
              <a:t>doi</a:t>
            </a:r>
            <a:r>
              <a:rPr lang="en-US" dirty="0">
                <a:solidFill>
                  <a:schemeClr val="tx1"/>
                </a:solidFill>
                <a:cs typeface="Calibri" panose="020F0502020204030204" pitchFamily="34" charset="0"/>
              </a:rPr>
              <a:t>: 10.1186/s13742-015-0047-8</a:t>
            </a:r>
          </a:p>
        </p:txBody>
      </p:sp>
      <p:sp>
        <p:nvSpPr>
          <p:cNvPr id="241" name="Rectangle 240"/>
          <p:cNvSpPr/>
          <p:nvPr/>
        </p:nvSpPr>
        <p:spPr>
          <a:xfrm>
            <a:off x="433130" y="10649637"/>
            <a:ext cx="29399170" cy="761556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Calibri" panose="020F0502020204030204" pitchFamily="34" charset="0"/>
            </a:endParaRPr>
          </a:p>
        </p:txBody>
      </p:sp>
      <p:sp>
        <p:nvSpPr>
          <p:cNvPr id="37" name="Organigramme : Processus 36"/>
          <p:cNvSpPr/>
          <p:nvPr/>
        </p:nvSpPr>
        <p:spPr>
          <a:xfrm>
            <a:off x="1056982" y="10260764"/>
            <a:ext cx="5554241" cy="574140"/>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u="sng" dirty="0">
                <a:solidFill>
                  <a:srgbClr val="0070C0"/>
                </a:solidFill>
              </a:rPr>
              <a:t>Materials &amp; Methods </a:t>
            </a:r>
          </a:p>
        </p:txBody>
      </p:sp>
      <p:sp>
        <p:nvSpPr>
          <p:cNvPr id="204" name="Rectangle à coins arrondis 203"/>
          <p:cNvSpPr/>
          <p:nvPr/>
        </p:nvSpPr>
        <p:spPr>
          <a:xfrm>
            <a:off x="660964" y="7936206"/>
            <a:ext cx="28861655" cy="2154436"/>
          </a:xfrm>
          <a:prstGeom prst="roundRect">
            <a:avLst>
              <a:gd name="adj" fmla="val 0"/>
            </a:avLst>
          </a:prstGeom>
          <a:noFill/>
        </p:spPr>
        <p:txBody>
          <a:bodyPr wrap="square">
            <a:spAutoFit/>
          </a:bodyPr>
          <a:lstStyle/>
          <a:p>
            <a:pPr algn="just" defTabSz="449263" fontAlgn="base">
              <a:spcBef>
                <a:spcPct val="0"/>
              </a:spcBef>
              <a:spcAft>
                <a:spcPct val="0"/>
              </a:spcAft>
              <a:buClr>
                <a:srgbClr val="000000"/>
              </a:buClr>
              <a:buSzPct val="100000"/>
            </a:pPr>
            <a:r>
              <a:rPr lang="en-US" sz="2600" dirty="0"/>
              <a:t>Aging is a universal and complex process driven by both genetic and environmental factors, many of which contribute to age-related diseases, making centenarians a valuable model of healthy aging and disease resistance </a:t>
            </a:r>
            <a:r>
              <a:rPr lang="en-US" dirty="0"/>
              <a:t>[1]</a:t>
            </a:r>
            <a:r>
              <a:rPr lang="en-US" sz="2600" dirty="0">
                <a:cs typeface="Calibri" panose="020F0502020204030204" pitchFamily="34" charset="0"/>
              </a:rPr>
              <a:t>. Numerous genetic variants have been associated with exceptional longevity across various studies, cohorts, and platforms, yet their replication in independent populations remains limited. The AGENOMICS project aims to uncover the genetic determinants of exceptional longevity through whole-genome sequencing of over </a:t>
            </a:r>
            <a:r>
              <a:rPr lang="en-US" sz="2600" b="1" dirty="0">
                <a:cs typeface="Calibri" panose="020F0502020204030204" pitchFamily="34" charset="0"/>
              </a:rPr>
              <a:t>1 100 French centenarians</a:t>
            </a:r>
            <a:r>
              <a:rPr lang="en-US" sz="2600" dirty="0">
                <a:cs typeface="Calibri" panose="020F0502020204030204" pitchFamily="34" charset="0"/>
              </a:rPr>
              <a:t> from the CEPH Chronos cohort </a:t>
            </a:r>
            <a:r>
              <a:rPr lang="en-US" dirty="0">
                <a:cs typeface="Calibri" panose="020F0502020204030204" pitchFamily="34" charset="0"/>
              </a:rPr>
              <a:t>[2]</a:t>
            </a:r>
            <a:r>
              <a:rPr lang="en-US" sz="2600" dirty="0">
                <a:cs typeface="Calibri" panose="020F0502020204030204" pitchFamily="34" charset="0"/>
              </a:rPr>
              <a:t>. In this context, </a:t>
            </a:r>
            <a:r>
              <a:rPr lang="en-US" sz="2600" b="1" dirty="0">
                <a:cs typeface="Calibri" panose="020F0502020204030204" pitchFamily="34" charset="0"/>
              </a:rPr>
              <a:t>we performed a targeted lookup of literature-reported variants associated with longevity</a:t>
            </a:r>
            <a:r>
              <a:rPr lang="en-US" sz="2600" dirty="0">
                <a:cs typeface="Calibri" panose="020F0502020204030204" pitchFamily="34" charset="0"/>
              </a:rPr>
              <a:t> </a:t>
            </a:r>
            <a:r>
              <a:rPr lang="en-US" dirty="0">
                <a:cs typeface="Calibri" panose="020F0502020204030204" pitchFamily="34" charset="0"/>
              </a:rPr>
              <a:t>[3]</a:t>
            </a:r>
            <a:r>
              <a:rPr lang="en-US" sz="2600" dirty="0">
                <a:cs typeface="Calibri" panose="020F0502020204030204" pitchFamily="34" charset="0"/>
              </a:rPr>
              <a:t> or Alzheimer's disease (AD) </a:t>
            </a:r>
            <a:r>
              <a:rPr lang="en-US" dirty="0">
                <a:cs typeface="Calibri" panose="020F0502020204030204" pitchFamily="34" charset="0"/>
              </a:rPr>
              <a:t>[4]</a:t>
            </a:r>
            <a:r>
              <a:rPr lang="en-US" sz="2600" dirty="0">
                <a:cs typeface="Calibri" panose="020F0502020204030204" pitchFamily="34" charset="0"/>
              </a:rPr>
              <a:t>, and compared their allele frequencies with those from a </a:t>
            </a:r>
            <a:r>
              <a:rPr lang="en-US" sz="2600" dirty="0" err="1">
                <a:cs typeface="Calibri" panose="020F0502020204030204" pitchFamily="34" charset="0"/>
              </a:rPr>
              <a:t>FranceGenRef</a:t>
            </a:r>
            <a:r>
              <a:rPr lang="en-US" sz="2600" dirty="0">
                <a:cs typeface="Calibri" panose="020F0502020204030204" pitchFamily="34" charset="0"/>
              </a:rPr>
              <a:t> (FWG) control cohort </a:t>
            </a:r>
            <a:r>
              <a:rPr kumimoji="0" lang="en-US" sz="1800" b="0" i="0" u="none" strike="noStrike" kern="1200" cap="none" spc="0" normalizeH="0" baseline="0" noProof="0" dirty="0">
                <a:ln>
                  <a:noFill/>
                </a:ln>
                <a:solidFill>
                  <a:prstClr val="black"/>
                </a:solidFill>
                <a:effectLst/>
                <a:uLnTx/>
                <a:uFillTx/>
                <a:latin typeface="Arial" panose="020B0604020202020204"/>
                <a:ea typeface="+mn-ea"/>
                <a:cs typeface="Calibri" panose="020F0502020204030204" pitchFamily="34" charset="0"/>
              </a:rPr>
              <a:t>[5]</a:t>
            </a:r>
            <a:r>
              <a:rPr lang="en-US" sz="2600" dirty="0">
                <a:cs typeface="Calibri" panose="020F0502020204030204" pitchFamily="34" charset="0"/>
              </a:rPr>
              <a:t>, to assess the replicability of these associations in a French population.</a:t>
            </a:r>
          </a:p>
        </p:txBody>
      </p:sp>
      <p:sp>
        <p:nvSpPr>
          <p:cNvPr id="237" name="Rectangle 236"/>
          <p:cNvSpPr/>
          <p:nvPr/>
        </p:nvSpPr>
        <p:spPr>
          <a:xfrm>
            <a:off x="433130" y="7814687"/>
            <a:ext cx="29399170" cy="233637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cs typeface="Calibri" panose="020F0502020204030204" pitchFamily="34" charset="0"/>
            </a:endParaRPr>
          </a:p>
        </p:txBody>
      </p:sp>
      <p:sp>
        <p:nvSpPr>
          <p:cNvPr id="242" name="Organigramme : Processus 241"/>
          <p:cNvSpPr/>
          <p:nvPr/>
        </p:nvSpPr>
        <p:spPr>
          <a:xfrm>
            <a:off x="1056982" y="7383321"/>
            <a:ext cx="4104000" cy="574140"/>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u="sng" dirty="0">
                <a:solidFill>
                  <a:srgbClr val="0070C0"/>
                </a:solidFill>
              </a:rPr>
              <a:t>Introduction</a:t>
            </a:r>
          </a:p>
        </p:txBody>
      </p:sp>
      <p:grpSp>
        <p:nvGrpSpPr>
          <p:cNvPr id="25" name="Groupe 24">
            <a:extLst>
              <a:ext uri="{FF2B5EF4-FFF2-40B4-BE49-F238E27FC236}">
                <a16:creationId xmlns:a16="http://schemas.microsoft.com/office/drawing/2014/main" id="{5BEE46CD-D02B-4FD9-BE35-E3689F2074A6}"/>
              </a:ext>
            </a:extLst>
          </p:cNvPr>
          <p:cNvGrpSpPr/>
          <p:nvPr/>
        </p:nvGrpSpPr>
        <p:grpSpPr>
          <a:xfrm>
            <a:off x="433128" y="18297264"/>
            <a:ext cx="29448000" cy="574140"/>
            <a:chOff x="433128" y="18317142"/>
            <a:chExt cx="29448000" cy="574140"/>
          </a:xfrm>
        </p:grpSpPr>
        <p:cxnSp>
          <p:nvCxnSpPr>
            <p:cNvPr id="45" name="Connecteur droit 44"/>
            <p:cNvCxnSpPr/>
            <p:nvPr/>
          </p:nvCxnSpPr>
          <p:spPr>
            <a:xfrm>
              <a:off x="433128" y="18635157"/>
              <a:ext cx="29448000"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243" name="Organigramme : Processus 242"/>
            <p:cNvSpPr/>
            <p:nvPr/>
          </p:nvSpPr>
          <p:spPr>
            <a:xfrm>
              <a:off x="1056982" y="18317142"/>
              <a:ext cx="2952000" cy="574140"/>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u="sng" dirty="0">
                  <a:solidFill>
                    <a:srgbClr val="0070C0"/>
                  </a:solidFill>
                </a:rPr>
                <a:t>Results</a:t>
              </a:r>
            </a:p>
          </p:txBody>
        </p:sp>
      </p:grpSp>
      <p:sp>
        <p:nvSpPr>
          <p:cNvPr id="7" name="ZoneTexte 6"/>
          <p:cNvSpPr txBox="1"/>
          <p:nvPr/>
        </p:nvSpPr>
        <p:spPr>
          <a:xfrm>
            <a:off x="433128" y="4385762"/>
            <a:ext cx="29399172" cy="3170099"/>
          </a:xfrm>
          <a:prstGeom prst="rect">
            <a:avLst/>
          </a:prstGeom>
          <a:solidFill>
            <a:schemeClr val="accent1">
              <a:lumMod val="20000"/>
              <a:lumOff val="80000"/>
              <a:alpha val="16000"/>
            </a:schemeClr>
          </a:solidFill>
        </p:spPr>
        <p:txBody>
          <a:bodyPr wrap="square" rtlCol="0">
            <a:spAutoFit/>
          </a:bodyPr>
          <a:lstStyle/>
          <a:p>
            <a:pPr algn="just" defTabSz="449263" fontAlgn="base">
              <a:spcBef>
                <a:spcPct val="0"/>
              </a:spcBef>
              <a:spcAft>
                <a:spcPct val="0"/>
              </a:spcAft>
              <a:buClr>
                <a:srgbClr val="000000"/>
              </a:buClr>
              <a:buSzPct val="100000"/>
            </a:pPr>
            <a:r>
              <a:rPr kumimoji="0" lang="en-US" sz="3000" b="1" i="0" u="none" strike="noStrike" kern="0" cap="none" spc="0" normalizeH="0" baseline="0" noProof="0" dirty="0">
                <a:ln>
                  <a:noFill/>
                </a:ln>
                <a:solidFill>
                  <a:srgbClr val="000000"/>
                </a:solidFill>
                <a:effectLst/>
                <a:uLnTx/>
                <a:uFillTx/>
                <a:cs typeface="Calibri" panose="020F0502020204030204" pitchFamily="34" charset="0"/>
              </a:rPr>
              <a:t>Assia BENMEHDIA</a:t>
            </a:r>
            <a:r>
              <a:rPr kumimoji="0" lang="en-US" sz="3000" i="0" u="none" strike="noStrike" kern="0" cap="none" spc="0" normalizeH="0" baseline="30000" noProof="0" dirty="0">
                <a:ln>
                  <a:noFill/>
                </a:ln>
                <a:solidFill>
                  <a:srgbClr val="E50019"/>
                </a:solidFill>
                <a:effectLst/>
                <a:uLnTx/>
                <a:uFillTx/>
                <a:cs typeface="Calibri" panose="020F0502020204030204" pitchFamily="34" charset="0"/>
              </a:rPr>
              <a:t>1</a:t>
            </a:r>
            <a:r>
              <a:rPr kumimoji="0" lang="en-US" sz="3000" i="0" u="none" strike="noStrike" kern="0" cap="none" spc="0" normalizeH="0" baseline="0" noProof="0" dirty="0">
                <a:ln>
                  <a:noFill/>
                </a:ln>
                <a:solidFill>
                  <a:srgbClr val="000000"/>
                </a:solidFill>
                <a:effectLst/>
                <a:uLnTx/>
                <a:uFillTx/>
                <a:cs typeface="Calibri" panose="020F0502020204030204" pitchFamily="34" charset="0"/>
              </a:rPr>
              <a:t>, </a:t>
            </a:r>
            <a:r>
              <a:rPr lang="en-US" sz="3000" kern="0" dirty="0">
                <a:solidFill>
                  <a:srgbClr val="000000"/>
                </a:solidFill>
                <a:cs typeface="Calibri" panose="020F0502020204030204" pitchFamily="34" charset="0"/>
              </a:rPr>
              <a:t>Mourad SAHBATOU</a:t>
            </a:r>
            <a:r>
              <a:rPr lang="en-US" sz="3000" kern="0" baseline="30000" dirty="0">
                <a:solidFill>
                  <a:srgbClr val="E50019"/>
                </a:solidFill>
                <a:cs typeface="Calibri" panose="020F0502020204030204" pitchFamily="34" charset="0"/>
              </a:rPr>
              <a:t>2</a:t>
            </a:r>
            <a:r>
              <a:rPr lang="en-US" sz="3000" kern="0" dirty="0">
                <a:solidFill>
                  <a:srgbClr val="000000"/>
                </a:solidFill>
                <a:cs typeface="Calibri" panose="020F0502020204030204" pitchFamily="34" charset="0"/>
              </a:rPr>
              <a:t>, Florian SANDRON</a:t>
            </a:r>
            <a:r>
              <a:rPr lang="en-US" sz="3000" kern="0" baseline="30000" dirty="0">
                <a:solidFill>
                  <a:srgbClr val="E50019"/>
                </a:solidFill>
                <a:cs typeface="Calibri" panose="020F0502020204030204" pitchFamily="34" charset="0"/>
              </a:rPr>
              <a:t>1</a:t>
            </a:r>
            <a:r>
              <a:rPr lang="en-US" sz="3000" kern="0" dirty="0">
                <a:solidFill>
                  <a:srgbClr val="000000"/>
                </a:solidFill>
                <a:cs typeface="Calibri" panose="020F0502020204030204" pitchFamily="34" charset="0"/>
              </a:rPr>
              <a:t>, Delphine BACQ-DAIAN</a:t>
            </a:r>
            <a:r>
              <a:rPr lang="en-US" sz="3000" kern="0" baseline="30000" dirty="0">
                <a:solidFill>
                  <a:srgbClr val="E50019"/>
                </a:solidFill>
                <a:cs typeface="Calibri" panose="020F0502020204030204" pitchFamily="34" charset="0"/>
              </a:rPr>
              <a:t>1</a:t>
            </a:r>
            <a:r>
              <a:rPr lang="en-US" sz="3000" kern="0" dirty="0">
                <a:solidFill>
                  <a:srgbClr val="000000"/>
                </a:solidFill>
                <a:cs typeface="Calibri" panose="020F0502020204030204" pitchFamily="34" charset="0"/>
              </a:rPr>
              <a:t>, Hélène BLANCHÉ</a:t>
            </a:r>
            <a:r>
              <a:rPr lang="en-US" sz="3000" kern="0" baseline="30000" dirty="0">
                <a:solidFill>
                  <a:srgbClr val="E50019"/>
                </a:solidFill>
                <a:cs typeface="Calibri" panose="020F0502020204030204" pitchFamily="34" charset="0"/>
              </a:rPr>
              <a:t>2</a:t>
            </a:r>
            <a:r>
              <a:rPr lang="en-US" sz="3000" kern="0" dirty="0">
                <a:solidFill>
                  <a:srgbClr val="000000"/>
                </a:solidFill>
                <a:cs typeface="Calibri" panose="020F0502020204030204" pitchFamily="34" charset="0"/>
              </a:rPr>
              <a:t>, Edith LE FLOCH</a:t>
            </a:r>
            <a:r>
              <a:rPr lang="en-US" sz="3000" kern="0" baseline="30000" dirty="0">
                <a:solidFill>
                  <a:srgbClr val="E50019"/>
                </a:solidFill>
                <a:cs typeface="Calibri" panose="020F0502020204030204" pitchFamily="34" charset="0"/>
              </a:rPr>
              <a:t>1</a:t>
            </a:r>
            <a:r>
              <a:rPr lang="en-US" sz="3000" kern="0" dirty="0">
                <a:solidFill>
                  <a:srgbClr val="000000"/>
                </a:solidFill>
                <a:cs typeface="Calibri" panose="020F0502020204030204" pitchFamily="34" charset="0"/>
              </a:rPr>
              <a:t>, Alexandre HOW-KIT</a:t>
            </a:r>
            <a:r>
              <a:rPr lang="en-US" sz="3000" kern="0" baseline="30000" dirty="0">
                <a:solidFill>
                  <a:srgbClr val="E50019"/>
                </a:solidFill>
                <a:cs typeface="Calibri" panose="020F0502020204030204" pitchFamily="34" charset="0"/>
              </a:rPr>
              <a:t>2</a:t>
            </a:r>
            <a:r>
              <a:rPr lang="en-US" sz="3000" kern="0" dirty="0">
                <a:solidFill>
                  <a:srgbClr val="000000"/>
                </a:solidFill>
                <a:cs typeface="Calibri" panose="020F0502020204030204" pitchFamily="34" charset="0"/>
              </a:rPr>
              <a:t>, Jean-François ZAGURY</a:t>
            </a:r>
            <a:r>
              <a:rPr lang="en-US" sz="3000" kern="0" baseline="30000" dirty="0">
                <a:solidFill>
                  <a:srgbClr val="E50019"/>
                </a:solidFill>
                <a:cs typeface="Calibri" panose="020F0502020204030204" pitchFamily="34" charset="0"/>
              </a:rPr>
              <a:t>3</a:t>
            </a:r>
            <a:r>
              <a:rPr lang="en-US" sz="3000" kern="0" dirty="0">
                <a:solidFill>
                  <a:srgbClr val="000000"/>
                </a:solidFill>
                <a:cs typeface="Calibri" panose="020F0502020204030204" pitchFamily="34" charset="0"/>
              </a:rPr>
              <a:t>, </a:t>
            </a:r>
            <a:r>
              <a:rPr lang="en-US" sz="3200" dirty="0">
                <a:solidFill>
                  <a:srgbClr val="000000"/>
                </a:solidFill>
                <a:cs typeface="Calibri" panose="020F0502020204030204" pitchFamily="34" charset="0"/>
              </a:rPr>
              <a:t>French Whole Genome </a:t>
            </a:r>
            <a:r>
              <a:rPr lang="fr-FR" sz="3200" dirty="0"/>
              <a:t>Consortium, </a:t>
            </a:r>
            <a:r>
              <a:rPr lang="en-US" sz="3000" kern="0" dirty="0">
                <a:solidFill>
                  <a:srgbClr val="000000"/>
                </a:solidFill>
                <a:cs typeface="Calibri" panose="020F0502020204030204" pitchFamily="34" charset="0"/>
              </a:rPr>
              <a:t>Jean-François DELEUZE</a:t>
            </a:r>
            <a:r>
              <a:rPr lang="en-US" sz="3000" kern="0" baseline="30000" dirty="0">
                <a:solidFill>
                  <a:srgbClr val="E50019"/>
                </a:solidFill>
                <a:cs typeface="Calibri" panose="020F0502020204030204" pitchFamily="34" charset="0"/>
              </a:rPr>
              <a:t>1,2,4@</a:t>
            </a:r>
            <a:r>
              <a:rPr lang="en-US" sz="3000" kern="0" dirty="0">
                <a:solidFill>
                  <a:schemeClr val="tx2"/>
                </a:solidFill>
                <a:cs typeface="Calibri" panose="020F0502020204030204" pitchFamily="34" charset="0"/>
              </a:rPr>
              <a:t> </a:t>
            </a:r>
            <a:r>
              <a:rPr lang="en-US" sz="3000" kern="0" dirty="0">
                <a:solidFill>
                  <a:srgbClr val="000000"/>
                </a:solidFill>
                <a:cs typeface="Calibri" panose="020F0502020204030204" pitchFamily="34" charset="0"/>
              </a:rPr>
              <a:t>and Claire DANDINE-ROULLAND</a:t>
            </a:r>
            <a:r>
              <a:rPr lang="en-US" sz="3000" kern="0" baseline="30000" dirty="0">
                <a:solidFill>
                  <a:srgbClr val="E50019"/>
                </a:solidFill>
                <a:cs typeface="Calibri" panose="020F0502020204030204" pitchFamily="34" charset="0"/>
              </a:rPr>
              <a:t>1@</a:t>
            </a:r>
            <a:r>
              <a:rPr lang="en-US" sz="3000" kern="0" baseline="30000" dirty="0">
                <a:solidFill>
                  <a:srgbClr val="000000"/>
                </a:solidFill>
                <a:cs typeface="Calibri" panose="020F0502020204030204" pitchFamily="34" charset="0"/>
              </a:rPr>
              <a:t> </a:t>
            </a:r>
          </a:p>
          <a:p>
            <a:pPr algn="just" defTabSz="449263" fontAlgn="base">
              <a:spcBef>
                <a:spcPct val="0"/>
              </a:spcBef>
              <a:spcAft>
                <a:spcPct val="0"/>
              </a:spcAft>
              <a:buClr>
                <a:srgbClr val="000000"/>
              </a:buClr>
              <a:buSzPct val="100000"/>
            </a:pPr>
            <a:endParaRPr lang="en-US" sz="3000" b="1" kern="0" baseline="30000" dirty="0">
              <a:solidFill>
                <a:srgbClr val="000000"/>
              </a:solidFill>
              <a:cs typeface="Calibri" panose="020F0502020204030204" pitchFamily="34" charset="0"/>
            </a:endParaRPr>
          </a:p>
          <a:p>
            <a:pPr algn="just" defTabSz="449263" fontAlgn="base">
              <a:spcBef>
                <a:spcPct val="0"/>
              </a:spcBef>
              <a:spcAft>
                <a:spcPct val="0"/>
              </a:spcAft>
              <a:buClr>
                <a:srgbClr val="000000"/>
              </a:buClr>
              <a:buSzPct val="100000"/>
            </a:pPr>
            <a:r>
              <a:rPr lang="en-US" sz="2400" b="1" kern="0" baseline="30000" dirty="0">
                <a:solidFill>
                  <a:srgbClr val="E50019"/>
                </a:solidFill>
                <a:cs typeface="Calibri" panose="020F0502020204030204" pitchFamily="34" charset="0"/>
              </a:rPr>
              <a:t>1 </a:t>
            </a:r>
            <a:r>
              <a:rPr lang="fr-FR" sz="2400" kern="0" dirty="0">
                <a:cs typeface="Calibri" panose="020F0502020204030204" pitchFamily="34" charset="0"/>
              </a:rPr>
              <a:t>Centre National de Recherche en Génomique Humaine (CNRGH), Institut de Biologie François Jacob, Direction de la Recherche Fondamentale, CEA, Evry, France</a:t>
            </a:r>
          </a:p>
          <a:p>
            <a:pPr lvl="0" defTabSz="449263" fontAlgn="base">
              <a:spcBef>
                <a:spcPct val="0"/>
              </a:spcBef>
              <a:spcAft>
                <a:spcPct val="0"/>
              </a:spcAft>
              <a:buClr>
                <a:srgbClr val="000000"/>
              </a:buClr>
              <a:buSzPct val="100000"/>
            </a:pPr>
            <a:r>
              <a:rPr lang="en-US" sz="2400" b="1" kern="0" baseline="30000" dirty="0">
                <a:solidFill>
                  <a:srgbClr val="E50019"/>
                </a:solidFill>
                <a:cs typeface="Calibri" panose="020F0502020204030204" pitchFamily="34" charset="0"/>
              </a:rPr>
              <a:t>2 </a:t>
            </a:r>
            <a:r>
              <a:rPr lang="fr-FR" sz="2400" dirty="0">
                <a:cs typeface="Calibri" panose="020F0502020204030204" pitchFamily="34" charset="0"/>
              </a:rPr>
              <a:t>Centre d’Etude du Polymorphisme Humain, Fondation Jean Dausset (CEPH), Paris, France</a:t>
            </a:r>
          </a:p>
          <a:p>
            <a:pPr lvl="0" defTabSz="449263" fontAlgn="base">
              <a:spcBef>
                <a:spcPct val="0"/>
              </a:spcBef>
              <a:spcAft>
                <a:spcPct val="0"/>
              </a:spcAft>
              <a:buClr>
                <a:srgbClr val="000000"/>
              </a:buClr>
              <a:buSzPct val="100000"/>
            </a:pPr>
            <a:r>
              <a:rPr lang="en-US" sz="2400" b="1" kern="0" baseline="30000" dirty="0">
                <a:solidFill>
                  <a:srgbClr val="E50019"/>
                </a:solidFill>
                <a:cs typeface="Calibri" panose="020F0502020204030204" pitchFamily="34" charset="0"/>
              </a:rPr>
              <a:t>3 </a:t>
            </a:r>
            <a:r>
              <a:rPr lang="fr-FR" sz="2400" dirty="0">
                <a:cs typeface="Calibri" panose="020F0502020204030204" pitchFamily="34" charset="0"/>
              </a:rPr>
              <a:t>Laboratoire de Génomique, bio-informatique et chimie moléculaire, Conservatoire national des arts et métiers (CNAM), Paris, France</a:t>
            </a:r>
          </a:p>
          <a:p>
            <a:pPr lvl="0" defTabSz="449263" fontAlgn="base">
              <a:spcBef>
                <a:spcPct val="0"/>
              </a:spcBef>
              <a:spcAft>
                <a:spcPct val="0"/>
              </a:spcAft>
              <a:buClr>
                <a:srgbClr val="000000"/>
              </a:buClr>
              <a:buSzPct val="100000"/>
            </a:pPr>
            <a:r>
              <a:rPr lang="en-US" sz="2400" b="1" kern="0" baseline="30000" dirty="0">
                <a:solidFill>
                  <a:srgbClr val="E50019"/>
                </a:solidFill>
                <a:cs typeface="Calibri" panose="020F0502020204030204" pitchFamily="34" charset="0"/>
              </a:rPr>
              <a:t>4 </a:t>
            </a:r>
            <a:r>
              <a:rPr lang="fr-FR" sz="2400" dirty="0">
                <a:cs typeface="Calibri" panose="020F0502020204030204" pitchFamily="34" charset="0"/>
              </a:rPr>
              <a:t>Centre de Référence, d’Innovation, d’expertise et de transfert (CREFIX), Evry, France</a:t>
            </a:r>
          </a:p>
          <a:p>
            <a:pPr lvl="0" algn="r" defTabSz="449263" fontAlgn="base">
              <a:spcBef>
                <a:spcPct val="0"/>
              </a:spcBef>
              <a:spcAft>
                <a:spcPct val="0"/>
              </a:spcAft>
              <a:buClr>
                <a:srgbClr val="000000"/>
              </a:buClr>
              <a:buSzPct val="100000"/>
            </a:pPr>
            <a:r>
              <a:rPr lang="en-US" sz="2400" kern="0" dirty="0">
                <a:solidFill>
                  <a:srgbClr val="262626"/>
                </a:solidFill>
                <a:cs typeface="Calibri" panose="020F0502020204030204" pitchFamily="34" charset="0"/>
                <a:hlinkClick r:id="rId7"/>
              </a:rPr>
              <a:t>deleuze@cnrgh.fr</a:t>
            </a:r>
            <a:r>
              <a:rPr lang="en-US" sz="2400" kern="0" dirty="0">
                <a:solidFill>
                  <a:srgbClr val="262626"/>
                </a:solidFill>
                <a:cs typeface="Calibri" panose="020F0502020204030204" pitchFamily="34" charset="0"/>
              </a:rPr>
              <a:t>; </a:t>
            </a:r>
            <a:r>
              <a:rPr lang="en-US" sz="2400" kern="0" dirty="0">
                <a:solidFill>
                  <a:srgbClr val="262626"/>
                </a:solidFill>
                <a:cs typeface="Calibri" panose="020F0502020204030204" pitchFamily="34" charset="0"/>
                <a:hlinkClick r:id="rId8"/>
              </a:rPr>
              <a:t>claire.dandine@cnrgh.fr</a:t>
            </a:r>
            <a:r>
              <a:rPr lang="en-US" sz="2400" kern="0" dirty="0">
                <a:solidFill>
                  <a:srgbClr val="262626"/>
                </a:solidFill>
                <a:cs typeface="Calibri" panose="020F0502020204030204" pitchFamily="34" charset="0"/>
              </a:rPr>
              <a:t>; </a:t>
            </a:r>
            <a:endParaRPr lang="en-US" sz="2400" kern="0" dirty="0">
              <a:solidFill>
                <a:srgbClr val="000000"/>
              </a:solidFill>
              <a:cs typeface="Calibri" panose="020F0502020204030204" pitchFamily="34" charset="0"/>
            </a:endParaRPr>
          </a:p>
        </p:txBody>
      </p:sp>
      <p:pic>
        <p:nvPicPr>
          <p:cNvPr id="203" name="Picture 2" descr="Mécénat Santé"/>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032670" y="40763923"/>
            <a:ext cx="1799630" cy="1676356"/>
          </a:xfrm>
          <a:prstGeom prst="rect">
            <a:avLst/>
          </a:prstGeom>
          <a:noFill/>
          <a:extLst>
            <a:ext uri="{909E8E84-426E-40DD-AFC4-6F175D3DCCD1}">
              <a14:hiddenFill xmlns:a14="http://schemas.microsoft.com/office/drawing/2010/main">
                <a:solidFill>
                  <a:srgbClr val="FFFFFF"/>
                </a:solidFill>
              </a14:hiddenFill>
            </a:ext>
          </a:extLst>
        </p:spPr>
      </p:pic>
      <p:pic>
        <p:nvPicPr>
          <p:cNvPr id="205" name="Image 204"/>
          <p:cNvPicPr>
            <a:picLocks noChangeAspect="1"/>
          </p:cNvPicPr>
          <p:nvPr/>
        </p:nvPicPr>
        <p:blipFill>
          <a:blip r:embed="rId10"/>
          <a:stretch>
            <a:fillRect/>
          </a:stretch>
        </p:blipFill>
        <p:spPr>
          <a:xfrm>
            <a:off x="24442992" y="897828"/>
            <a:ext cx="5161474" cy="1026135"/>
          </a:xfrm>
          <a:prstGeom prst="rect">
            <a:avLst/>
          </a:prstGeom>
        </p:spPr>
      </p:pic>
      <p:grpSp>
        <p:nvGrpSpPr>
          <p:cNvPr id="3" name="Groupe 2">
            <a:extLst>
              <a:ext uri="{FF2B5EF4-FFF2-40B4-BE49-F238E27FC236}">
                <a16:creationId xmlns:a16="http://schemas.microsoft.com/office/drawing/2014/main" id="{C264F583-538F-4940-83A2-722C4DF994CC}"/>
              </a:ext>
            </a:extLst>
          </p:cNvPr>
          <p:cNvGrpSpPr/>
          <p:nvPr/>
        </p:nvGrpSpPr>
        <p:grpSpPr>
          <a:xfrm>
            <a:off x="660964" y="10746110"/>
            <a:ext cx="28861655" cy="5030939"/>
            <a:chOff x="660964" y="11413186"/>
            <a:chExt cx="28861655" cy="5030939"/>
          </a:xfrm>
        </p:grpSpPr>
        <p:sp>
          <p:nvSpPr>
            <p:cNvPr id="389" name="Organigramme : Processus 388"/>
            <p:cNvSpPr/>
            <p:nvPr/>
          </p:nvSpPr>
          <p:spPr>
            <a:xfrm>
              <a:off x="18184287" y="13062538"/>
              <a:ext cx="5039046" cy="801393"/>
            </a:xfrm>
            <a:prstGeom prst="flowChartProcess">
              <a:avLst/>
            </a:prstGeom>
            <a:solidFill>
              <a:srgbClr val="EFF5FB"/>
            </a:solidFill>
            <a:ln>
              <a:solidFill>
                <a:srgbClr val="6495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b="1" dirty="0">
                  <a:solidFill>
                    <a:prstClr val="black"/>
                  </a:solidFill>
                  <a:cs typeface="Arial" panose="020B0604020202020204" pitchFamily="34" charset="0"/>
                </a:rPr>
                <a:t>Whole Genome Sequencing</a:t>
              </a:r>
            </a:p>
            <a:p>
              <a:pPr lvl="0" algn="ctr"/>
              <a:r>
                <a:rPr lang="fr-FR" b="1" dirty="0">
                  <a:solidFill>
                    <a:prstClr val="black"/>
                  </a:solidFill>
                  <a:cs typeface="Arial" panose="020B0604020202020204" pitchFamily="34" charset="0"/>
                </a:rPr>
                <a:t> </a:t>
              </a:r>
              <a:r>
                <a:rPr lang="fr-FR" sz="1700" b="1" dirty="0">
                  <a:solidFill>
                    <a:prstClr val="black"/>
                  </a:solidFill>
                  <a:cs typeface="Arial" panose="020B0604020202020204" pitchFamily="34" charset="0"/>
                </a:rPr>
                <a:t>NovaSeq X+ (AGENOMMICS) / HiseqX (FWG)</a:t>
              </a:r>
            </a:p>
          </p:txBody>
        </p:sp>
        <p:sp>
          <p:nvSpPr>
            <p:cNvPr id="390" name="Organigramme : Processus 389"/>
            <p:cNvSpPr/>
            <p:nvPr/>
          </p:nvSpPr>
          <p:spPr>
            <a:xfrm>
              <a:off x="23999459" y="14111980"/>
              <a:ext cx="5039046" cy="800990"/>
            </a:xfrm>
            <a:prstGeom prst="flowChartProcess">
              <a:avLst/>
            </a:prstGeom>
            <a:solidFill>
              <a:srgbClr val="EFF5FB"/>
            </a:solidFill>
            <a:ln>
              <a:solidFill>
                <a:srgbClr val="6495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b="1" dirty="0">
                  <a:solidFill>
                    <a:prstClr val="black"/>
                  </a:solidFill>
                  <a:cs typeface="Arial" panose="020B0604020202020204" pitchFamily="34" charset="0"/>
                </a:rPr>
                <a:t>Variant Annotation (SNPEff &amp; gnomAD v4.1) &amp; Descriptive statistical (Bcftools &amp; PLINK2)</a:t>
              </a:r>
            </a:p>
          </p:txBody>
        </p:sp>
        <p:sp>
          <p:nvSpPr>
            <p:cNvPr id="391" name="Organigramme : Processus 390"/>
            <p:cNvSpPr/>
            <p:nvPr/>
          </p:nvSpPr>
          <p:spPr>
            <a:xfrm>
              <a:off x="18184287" y="15169656"/>
              <a:ext cx="5039046" cy="800990"/>
            </a:xfrm>
            <a:prstGeom prst="flowChartProcess">
              <a:avLst/>
            </a:prstGeom>
            <a:solidFill>
              <a:srgbClr val="EFF5FB"/>
            </a:solidFill>
            <a:ln>
              <a:solidFill>
                <a:srgbClr val="6495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b="1" dirty="0">
                  <a:solidFill>
                    <a:prstClr val="black"/>
                  </a:solidFill>
                  <a:cs typeface="Arial" panose="020B0604020202020204" pitchFamily="34" charset="0"/>
                </a:rPr>
                <a:t>Alignment to Reference Genome </a:t>
              </a:r>
            </a:p>
            <a:p>
              <a:pPr lvl="0" algn="ctr"/>
              <a:r>
                <a:rPr lang="fr-FR" b="1" dirty="0">
                  <a:solidFill>
                    <a:prstClr val="black"/>
                  </a:solidFill>
                  <a:cs typeface="Arial" panose="020B0604020202020204" pitchFamily="34" charset="0"/>
                </a:rPr>
                <a:t>(GRCh38)</a:t>
              </a:r>
            </a:p>
          </p:txBody>
        </p:sp>
        <p:sp>
          <p:nvSpPr>
            <p:cNvPr id="392" name="Organigramme : Processus 391"/>
            <p:cNvSpPr/>
            <p:nvPr/>
          </p:nvSpPr>
          <p:spPr>
            <a:xfrm>
              <a:off x="18184287" y="14116097"/>
              <a:ext cx="5039046" cy="801393"/>
            </a:xfrm>
            <a:prstGeom prst="flowChartProcess">
              <a:avLst/>
            </a:prstGeom>
            <a:solidFill>
              <a:srgbClr val="EFF5FB"/>
            </a:solidFill>
            <a:ln>
              <a:solidFill>
                <a:srgbClr val="6495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b="1" dirty="0">
                  <a:solidFill>
                    <a:prstClr val="black"/>
                  </a:solidFill>
                  <a:cs typeface="Arial" panose="020B0604020202020204" pitchFamily="34" charset="0"/>
                </a:rPr>
                <a:t>Raw Data Quality Control </a:t>
              </a:r>
            </a:p>
            <a:p>
              <a:pPr lvl="0" algn="ctr"/>
              <a:r>
                <a:rPr lang="en-US" b="1" dirty="0">
                  <a:solidFill>
                    <a:prstClr val="black"/>
                  </a:solidFill>
                  <a:cs typeface="Arial" panose="020B0604020202020204" pitchFamily="34" charset="0"/>
                </a:rPr>
                <a:t>(FASTQ files)</a:t>
              </a:r>
              <a:endParaRPr lang="fr-FR" b="1" dirty="0">
                <a:solidFill>
                  <a:prstClr val="black"/>
                </a:solidFill>
                <a:cs typeface="Arial" panose="020B0604020202020204" pitchFamily="34" charset="0"/>
              </a:endParaRPr>
            </a:p>
          </p:txBody>
        </p:sp>
        <p:sp>
          <p:nvSpPr>
            <p:cNvPr id="393" name="Organigramme : Processus 392"/>
            <p:cNvSpPr/>
            <p:nvPr/>
          </p:nvSpPr>
          <p:spPr>
            <a:xfrm>
              <a:off x="23999459" y="13032535"/>
              <a:ext cx="5039046" cy="800990"/>
            </a:xfrm>
            <a:prstGeom prst="flowChartProcess">
              <a:avLst/>
            </a:prstGeom>
            <a:solidFill>
              <a:srgbClr val="EFF5FB"/>
            </a:solidFill>
            <a:ln>
              <a:solidFill>
                <a:srgbClr val="6495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b="1" dirty="0">
                  <a:solidFill>
                    <a:prstClr val="black"/>
                  </a:solidFill>
                  <a:cs typeface="Arial" panose="020B0604020202020204" pitchFamily="34" charset="0"/>
                </a:rPr>
                <a:t>Post-Variant Calling Quality Filtering</a:t>
              </a:r>
            </a:p>
          </p:txBody>
        </p:sp>
        <p:sp>
          <p:nvSpPr>
            <p:cNvPr id="394" name="Organigramme : Processus 393"/>
            <p:cNvSpPr/>
            <p:nvPr/>
          </p:nvSpPr>
          <p:spPr>
            <a:xfrm>
              <a:off x="23999459" y="15210075"/>
              <a:ext cx="5039046" cy="800990"/>
            </a:xfrm>
            <a:prstGeom prst="flowChartProcess">
              <a:avLst/>
            </a:prstGeom>
            <a:solidFill>
              <a:srgbClr val="EFF5FB"/>
            </a:solidFill>
            <a:ln>
              <a:solidFill>
                <a:srgbClr val="6495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b="1" dirty="0" err="1">
                  <a:solidFill>
                    <a:prstClr val="black"/>
                  </a:solidFill>
                  <a:cs typeface="Arial" panose="020B0604020202020204" pitchFamily="34" charset="0"/>
                </a:rPr>
                <a:t>Lookup</a:t>
              </a:r>
              <a:r>
                <a:rPr lang="fr-FR" b="1" dirty="0">
                  <a:solidFill>
                    <a:prstClr val="black"/>
                  </a:solidFill>
                  <a:cs typeface="Arial" panose="020B0604020202020204" pitchFamily="34" charset="0"/>
                </a:rPr>
                <a:t> analysis (PLINK2) </a:t>
              </a:r>
            </a:p>
          </p:txBody>
        </p:sp>
        <p:sp>
          <p:nvSpPr>
            <p:cNvPr id="395" name="Organigramme : Processus 394"/>
            <p:cNvSpPr/>
            <p:nvPr/>
          </p:nvSpPr>
          <p:spPr>
            <a:xfrm>
              <a:off x="18185044" y="12008979"/>
              <a:ext cx="5037532" cy="801393"/>
            </a:xfrm>
            <a:prstGeom prst="flowChartProcess">
              <a:avLst/>
            </a:prstGeom>
            <a:solidFill>
              <a:srgbClr val="EFF5FB"/>
            </a:solidFill>
            <a:ln>
              <a:solidFill>
                <a:srgbClr val="6495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b="1" dirty="0">
                  <a:solidFill>
                    <a:prstClr val="black"/>
                  </a:solidFill>
                  <a:cs typeface="Arial" panose="020B0604020202020204" pitchFamily="34" charset="0"/>
                </a:rPr>
                <a:t>DNA Extraction &amp;  </a:t>
              </a:r>
            </a:p>
            <a:p>
              <a:pPr lvl="0" algn="ctr"/>
              <a:r>
                <a:rPr lang="fr-FR" b="1" dirty="0">
                  <a:solidFill>
                    <a:prstClr val="black"/>
                  </a:solidFill>
                  <a:cs typeface="Arial" panose="020B0604020202020204" pitchFamily="34" charset="0"/>
                </a:rPr>
                <a:t>Library Preparation</a:t>
              </a:r>
            </a:p>
          </p:txBody>
        </p:sp>
        <p:sp>
          <p:nvSpPr>
            <p:cNvPr id="417" name="Organigramme : Processus 416"/>
            <p:cNvSpPr/>
            <p:nvPr/>
          </p:nvSpPr>
          <p:spPr>
            <a:xfrm>
              <a:off x="23999459" y="12026641"/>
              <a:ext cx="5039046" cy="800990"/>
            </a:xfrm>
            <a:prstGeom prst="flowChartProcess">
              <a:avLst/>
            </a:prstGeom>
            <a:solidFill>
              <a:srgbClr val="EFF5FB"/>
            </a:solidFill>
            <a:ln>
              <a:solidFill>
                <a:srgbClr val="6495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fr-FR" b="1" dirty="0">
                  <a:solidFill>
                    <a:prstClr val="black"/>
                  </a:solidFill>
                  <a:cs typeface="Arial" panose="020B0604020202020204" pitchFamily="34" charset="0"/>
                </a:rPr>
                <a:t>Variant Calling</a:t>
              </a:r>
            </a:p>
            <a:p>
              <a:pPr lvl="0" algn="ctr"/>
              <a:r>
                <a:rPr lang="fr-FR" b="1" dirty="0">
                  <a:solidFill>
                    <a:prstClr val="black"/>
                  </a:solidFill>
                  <a:cs typeface="Arial" panose="020B0604020202020204" pitchFamily="34" charset="0"/>
                </a:rPr>
                <a:t> (GATK 4.6.2.0)</a:t>
              </a:r>
            </a:p>
          </p:txBody>
        </p:sp>
        <p:sp>
          <p:nvSpPr>
            <p:cNvPr id="419" name="Flèche vers le bas 418"/>
            <p:cNvSpPr/>
            <p:nvPr/>
          </p:nvSpPr>
          <p:spPr>
            <a:xfrm>
              <a:off x="20518382" y="12746614"/>
              <a:ext cx="375843" cy="399933"/>
            </a:xfrm>
            <a:prstGeom prst="downArrow">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0" name="Flèche vers le bas 419"/>
            <p:cNvSpPr/>
            <p:nvPr/>
          </p:nvSpPr>
          <p:spPr>
            <a:xfrm>
              <a:off x="20518382" y="13789359"/>
              <a:ext cx="375843" cy="399933"/>
            </a:xfrm>
            <a:prstGeom prst="downArrow">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1" name="Flèche vers le bas 420"/>
            <p:cNvSpPr/>
            <p:nvPr/>
          </p:nvSpPr>
          <p:spPr>
            <a:xfrm>
              <a:off x="20518382" y="14832106"/>
              <a:ext cx="375843" cy="399933"/>
            </a:xfrm>
            <a:prstGeom prst="downArrow">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2" name="Flèche vers le bas 421"/>
            <p:cNvSpPr/>
            <p:nvPr/>
          </p:nvSpPr>
          <p:spPr>
            <a:xfrm>
              <a:off x="26331062" y="12773863"/>
              <a:ext cx="375843" cy="399933"/>
            </a:xfrm>
            <a:prstGeom prst="downArrow">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3" name="Flèche vers le bas 422"/>
            <p:cNvSpPr/>
            <p:nvPr/>
          </p:nvSpPr>
          <p:spPr>
            <a:xfrm>
              <a:off x="26331062" y="13778509"/>
              <a:ext cx="375843" cy="399933"/>
            </a:xfrm>
            <a:prstGeom prst="downArrow">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4" name="Flèche vers le bas 423"/>
            <p:cNvSpPr/>
            <p:nvPr/>
          </p:nvSpPr>
          <p:spPr>
            <a:xfrm>
              <a:off x="26331062" y="14859355"/>
              <a:ext cx="375843" cy="399933"/>
            </a:xfrm>
            <a:prstGeom prst="downArrow">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425" name="Connecteur en angle 424"/>
            <p:cNvCxnSpPr>
              <a:cxnSpLocks/>
              <a:stCxn id="391" idx="3"/>
              <a:endCxn id="417" idx="1"/>
            </p:cNvCxnSpPr>
            <p:nvPr/>
          </p:nvCxnSpPr>
          <p:spPr>
            <a:xfrm flipV="1">
              <a:off x="23223333" y="12427136"/>
              <a:ext cx="776126" cy="3143015"/>
            </a:xfrm>
            <a:prstGeom prst="bentConnector3">
              <a:avLst/>
            </a:prstGeom>
            <a:ln w="76200">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87" name="Rectangle à coins arrondis 486"/>
            <p:cNvSpPr/>
            <p:nvPr/>
          </p:nvSpPr>
          <p:spPr>
            <a:xfrm>
              <a:off x="17612843" y="11721159"/>
              <a:ext cx="11909776" cy="472296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1" dirty="0"/>
            </a:p>
          </p:txBody>
        </p:sp>
        <p:grpSp>
          <p:nvGrpSpPr>
            <p:cNvPr id="400" name="Groupe 399"/>
            <p:cNvGrpSpPr/>
            <p:nvPr/>
          </p:nvGrpSpPr>
          <p:grpSpPr>
            <a:xfrm>
              <a:off x="12304849" y="15092626"/>
              <a:ext cx="712054" cy="1145689"/>
              <a:chOff x="2403763" y="2590799"/>
              <a:chExt cx="765466" cy="1267691"/>
            </a:xfrm>
          </p:grpSpPr>
          <p:pic>
            <p:nvPicPr>
              <p:cNvPr id="401" name="Image 400"/>
              <p:cNvPicPr>
                <a:picLocks noChangeAspect="1"/>
              </p:cNvPicPr>
              <p:nvPr/>
            </p:nvPicPr>
            <p:blipFill rotWithShape="1">
              <a:blip r:embed="rId11"/>
              <a:srcRect l="85783" t="10135" r="8741" b="67508"/>
              <a:stretch/>
            </p:blipFill>
            <p:spPr>
              <a:xfrm>
                <a:off x="2403763" y="2590799"/>
                <a:ext cx="443346" cy="1149928"/>
              </a:xfrm>
              <a:prstGeom prst="rect">
                <a:avLst/>
              </a:prstGeom>
            </p:spPr>
          </p:pic>
          <p:sp>
            <p:nvSpPr>
              <p:cNvPr id="402" name="Organigramme : Délai 401"/>
              <p:cNvSpPr/>
              <p:nvPr/>
            </p:nvSpPr>
            <p:spPr>
              <a:xfrm>
                <a:off x="2795156" y="3061853"/>
                <a:ext cx="374073" cy="796637"/>
              </a:xfrm>
              <a:prstGeom prst="flowChartDelay">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b="1" i="0" u="none" strike="noStrike" kern="0" cap="none" spc="0" normalizeH="0" baseline="0" noProof="0">
                  <a:ln>
                    <a:noFill/>
                  </a:ln>
                  <a:solidFill>
                    <a:prstClr val="white"/>
                  </a:solidFill>
                  <a:effectLst/>
                  <a:uLnTx/>
                  <a:uFillTx/>
                  <a:ea typeface="+mn-ea"/>
                  <a:cs typeface="+mn-cs"/>
                </a:endParaRPr>
              </a:p>
            </p:txBody>
          </p:sp>
        </p:grpSp>
        <p:grpSp>
          <p:nvGrpSpPr>
            <p:cNvPr id="26" name="Groupe 25"/>
            <p:cNvGrpSpPr/>
            <p:nvPr/>
          </p:nvGrpSpPr>
          <p:grpSpPr>
            <a:xfrm>
              <a:off x="11329143" y="14391203"/>
              <a:ext cx="555607" cy="1161815"/>
              <a:chOff x="7512990" y="22015029"/>
              <a:chExt cx="633609" cy="1040910"/>
            </a:xfrm>
          </p:grpSpPr>
          <p:pic>
            <p:nvPicPr>
              <p:cNvPr id="398" name="Image 397"/>
              <p:cNvPicPr>
                <a:picLocks noChangeAspect="1"/>
              </p:cNvPicPr>
              <p:nvPr/>
            </p:nvPicPr>
            <p:blipFill rotWithShape="1">
              <a:blip r:embed="rId11"/>
              <a:srcRect l="62754" t="9327" r="31685" b="67778"/>
              <a:stretch/>
            </p:blipFill>
            <p:spPr>
              <a:xfrm>
                <a:off x="7512990" y="22015029"/>
                <a:ext cx="466681" cy="1006063"/>
              </a:xfrm>
              <a:prstGeom prst="rect">
                <a:avLst/>
              </a:prstGeom>
            </p:spPr>
          </p:pic>
          <p:sp>
            <p:nvSpPr>
              <p:cNvPr id="399" name="Organigramme : Délai 398"/>
              <p:cNvSpPr/>
              <p:nvPr/>
            </p:nvSpPr>
            <p:spPr>
              <a:xfrm>
                <a:off x="7919094" y="22367829"/>
                <a:ext cx="227505" cy="688110"/>
              </a:xfrm>
              <a:prstGeom prst="flowChartDelay">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b="1" i="0" u="none" strike="noStrike" kern="0" cap="none" spc="0" normalizeH="0" baseline="0" noProof="0">
                  <a:ln>
                    <a:noFill/>
                  </a:ln>
                  <a:solidFill>
                    <a:prstClr val="white"/>
                  </a:solidFill>
                  <a:effectLst/>
                  <a:uLnTx/>
                  <a:uFillTx/>
                  <a:ea typeface="+mn-ea"/>
                  <a:cs typeface="+mn-cs"/>
                </a:endParaRPr>
              </a:p>
            </p:txBody>
          </p:sp>
        </p:grpSp>
        <p:grpSp>
          <p:nvGrpSpPr>
            <p:cNvPr id="30" name="Groupe 29"/>
            <p:cNvGrpSpPr/>
            <p:nvPr/>
          </p:nvGrpSpPr>
          <p:grpSpPr>
            <a:xfrm>
              <a:off x="12907673" y="14039647"/>
              <a:ext cx="1110914" cy="630514"/>
              <a:chOff x="9937644" y="21546845"/>
              <a:chExt cx="1424897" cy="685810"/>
            </a:xfrm>
          </p:grpSpPr>
          <p:sp>
            <p:nvSpPr>
              <p:cNvPr id="396" name="ZoneTexte 395"/>
              <p:cNvSpPr txBox="1"/>
              <p:nvPr/>
            </p:nvSpPr>
            <p:spPr>
              <a:xfrm>
                <a:off x="9937644" y="21895559"/>
                <a:ext cx="1424897" cy="337096"/>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1" i="0" u="none" strike="noStrike" kern="0" cap="none" spc="0" normalizeH="0" baseline="0" noProof="0" dirty="0">
                    <a:ln>
                      <a:noFill/>
                    </a:ln>
                    <a:solidFill>
                      <a:prstClr val="black"/>
                    </a:solidFill>
                    <a:effectLst/>
                    <a:uLnTx/>
                    <a:uFillTx/>
                    <a:cs typeface="Arial" panose="020B0604020202020204" pitchFamily="34" charset="0"/>
                  </a:rPr>
                  <a:t>65%</a:t>
                </a:r>
              </a:p>
            </p:txBody>
          </p:sp>
          <p:sp>
            <p:nvSpPr>
              <p:cNvPr id="407" name="ZoneTexte 406"/>
              <p:cNvSpPr txBox="1"/>
              <p:nvPr/>
            </p:nvSpPr>
            <p:spPr>
              <a:xfrm>
                <a:off x="10177175" y="21546845"/>
                <a:ext cx="945835" cy="337096"/>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1" i="0" u="none" strike="noStrike" kern="0" cap="none" spc="0" normalizeH="0" baseline="0" noProof="0" dirty="0">
                    <a:ln>
                      <a:noFill/>
                    </a:ln>
                    <a:solidFill>
                      <a:prstClr val="black"/>
                    </a:solidFill>
                    <a:effectLst/>
                    <a:uLnTx/>
                    <a:uFillTx/>
                    <a:cs typeface="Arial" panose="020B0604020202020204" pitchFamily="34" charset="0"/>
                  </a:rPr>
                  <a:t>LCL</a:t>
                </a:r>
              </a:p>
            </p:txBody>
          </p:sp>
        </p:grpSp>
        <p:grpSp>
          <p:nvGrpSpPr>
            <p:cNvPr id="31" name="Groupe 30"/>
            <p:cNvGrpSpPr/>
            <p:nvPr/>
          </p:nvGrpSpPr>
          <p:grpSpPr>
            <a:xfrm>
              <a:off x="12723136" y="15225835"/>
              <a:ext cx="1490722" cy="698719"/>
              <a:chOff x="9937644" y="22873122"/>
              <a:chExt cx="1424897" cy="634800"/>
            </a:xfrm>
          </p:grpSpPr>
          <p:sp>
            <p:nvSpPr>
              <p:cNvPr id="406" name="ZoneTexte 405"/>
              <p:cNvSpPr txBox="1"/>
              <p:nvPr/>
            </p:nvSpPr>
            <p:spPr>
              <a:xfrm>
                <a:off x="10014417" y="22873122"/>
                <a:ext cx="1271350" cy="27962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1" i="0" u="none" strike="noStrike" kern="0" cap="none" spc="0" normalizeH="0" baseline="0" noProof="0" dirty="0">
                    <a:ln>
                      <a:noFill/>
                    </a:ln>
                    <a:solidFill>
                      <a:prstClr val="black"/>
                    </a:solidFill>
                    <a:effectLst/>
                    <a:uLnTx/>
                    <a:uFillTx/>
                    <a:cs typeface="Arial" panose="020B0604020202020204" pitchFamily="34" charset="0"/>
                  </a:rPr>
                  <a:t>PBMC</a:t>
                </a:r>
              </a:p>
            </p:txBody>
          </p:sp>
          <p:sp>
            <p:nvSpPr>
              <p:cNvPr id="409" name="ZoneTexte 408"/>
              <p:cNvSpPr txBox="1"/>
              <p:nvPr/>
            </p:nvSpPr>
            <p:spPr>
              <a:xfrm>
                <a:off x="9937644" y="23228300"/>
                <a:ext cx="1424897" cy="27962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1" i="0" u="none" strike="noStrike" kern="0" cap="none" spc="0" normalizeH="0" baseline="0" noProof="0" dirty="0">
                    <a:ln>
                      <a:noFill/>
                    </a:ln>
                    <a:solidFill>
                      <a:prstClr val="black"/>
                    </a:solidFill>
                    <a:effectLst/>
                    <a:uLnTx/>
                    <a:uFillTx/>
                    <a:cs typeface="Arial" panose="020B0604020202020204" pitchFamily="34" charset="0"/>
                  </a:rPr>
                  <a:t>35%</a:t>
                </a:r>
              </a:p>
            </p:txBody>
          </p:sp>
        </p:grpSp>
        <p:sp>
          <p:nvSpPr>
            <p:cNvPr id="349" name="Rectangle à coins arrondis 348"/>
            <p:cNvSpPr/>
            <p:nvPr/>
          </p:nvSpPr>
          <p:spPr>
            <a:xfrm>
              <a:off x="1056982" y="11721159"/>
              <a:ext cx="16187884" cy="472296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66" name="Rectangle 365"/>
            <p:cNvSpPr/>
            <p:nvPr/>
          </p:nvSpPr>
          <p:spPr>
            <a:xfrm rot="16200000">
              <a:off x="-29600" y="12790861"/>
              <a:ext cx="1861003" cy="479875"/>
            </a:xfrm>
            <a:prstGeom prst="rect">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accent2"/>
                  </a:solidFill>
                  <a:cs typeface="Arial" panose="020B0604020202020204" pitchFamily="34" charset="0"/>
                </a:rPr>
                <a:t>1 068 Samples </a:t>
              </a:r>
              <a:endParaRPr lang="fr-FR" sz="1600" b="1" dirty="0">
                <a:solidFill>
                  <a:schemeClr val="accent2"/>
                </a:solidFill>
                <a:cs typeface="Arial" panose="020B0604020202020204" pitchFamily="34" charset="0"/>
              </a:endParaRPr>
            </a:p>
          </p:txBody>
        </p:sp>
        <p:sp>
          <p:nvSpPr>
            <p:cNvPr id="367" name="Rectangle 366"/>
            <p:cNvSpPr/>
            <p:nvPr/>
          </p:nvSpPr>
          <p:spPr>
            <a:xfrm rot="16200000">
              <a:off x="-29600" y="14944171"/>
              <a:ext cx="1861003" cy="479875"/>
            </a:xfrm>
            <a:prstGeom prst="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accent5">
                      <a:lumMod val="50000"/>
                    </a:schemeClr>
                  </a:solidFill>
                  <a:cs typeface="Arial" panose="020B0604020202020204" pitchFamily="34" charset="0"/>
                </a:rPr>
                <a:t>1 106 Samples </a:t>
              </a:r>
              <a:endParaRPr lang="fr-FR" b="1" dirty="0">
                <a:solidFill>
                  <a:schemeClr val="accent5">
                    <a:lumMod val="50000"/>
                  </a:schemeClr>
                </a:solidFill>
                <a:cs typeface="Arial" panose="020B0604020202020204" pitchFamily="34" charset="0"/>
              </a:endParaRPr>
            </a:p>
          </p:txBody>
        </p:sp>
        <p:grpSp>
          <p:nvGrpSpPr>
            <p:cNvPr id="351" name="Groupe 350"/>
            <p:cNvGrpSpPr/>
            <p:nvPr/>
          </p:nvGrpSpPr>
          <p:grpSpPr>
            <a:xfrm>
              <a:off x="2083429" y="13159248"/>
              <a:ext cx="770204" cy="611499"/>
              <a:chOff x="6069340" y="5388429"/>
              <a:chExt cx="1045029" cy="762000"/>
            </a:xfrm>
            <a:pattFill prst="wdUpDiag">
              <a:fgClr>
                <a:schemeClr val="accent2">
                  <a:lumMod val="60000"/>
                  <a:lumOff val="40000"/>
                </a:schemeClr>
              </a:fgClr>
              <a:bgClr>
                <a:schemeClr val="bg1"/>
              </a:bgClr>
            </a:pattFill>
          </p:grpSpPr>
          <p:sp>
            <p:nvSpPr>
              <p:cNvPr id="361" name="Organigramme : Délai 360"/>
              <p:cNvSpPr/>
              <p:nvPr/>
            </p:nvSpPr>
            <p:spPr>
              <a:xfrm rot="16200000">
                <a:off x="6434012" y="5470071"/>
                <a:ext cx="315686" cy="1045029"/>
              </a:xfrm>
              <a:prstGeom prst="flowChartDelay">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a:cs typeface="Arial" panose="020B0604020202020204" pitchFamily="34" charset="0"/>
                </a:endParaRPr>
              </a:p>
            </p:txBody>
          </p:sp>
          <p:sp>
            <p:nvSpPr>
              <p:cNvPr id="362" name="Ellipse 361"/>
              <p:cNvSpPr/>
              <p:nvPr/>
            </p:nvSpPr>
            <p:spPr>
              <a:xfrm>
                <a:off x="6299519" y="5388429"/>
                <a:ext cx="547595" cy="566056"/>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a:cs typeface="Arial" panose="020B0604020202020204" pitchFamily="34" charset="0"/>
                </a:endParaRPr>
              </a:p>
            </p:txBody>
          </p:sp>
        </p:grpSp>
        <p:grpSp>
          <p:nvGrpSpPr>
            <p:cNvPr id="352" name="Groupe 351"/>
            <p:cNvGrpSpPr/>
            <p:nvPr/>
          </p:nvGrpSpPr>
          <p:grpSpPr>
            <a:xfrm>
              <a:off x="1420065" y="12842913"/>
              <a:ext cx="770204" cy="611499"/>
              <a:chOff x="6069340" y="5388429"/>
              <a:chExt cx="1045029" cy="762000"/>
            </a:xfrm>
            <a:pattFill prst="wdUpDiag">
              <a:fgClr>
                <a:schemeClr val="accent2">
                  <a:lumMod val="60000"/>
                  <a:lumOff val="40000"/>
                </a:schemeClr>
              </a:fgClr>
              <a:bgClr>
                <a:schemeClr val="bg1"/>
              </a:bgClr>
            </a:pattFill>
          </p:grpSpPr>
          <p:sp>
            <p:nvSpPr>
              <p:cNvPr id="359" name="Organigramme : Délai 358"/>
              <p:cNvSpPr/>
              <p:nvPr/>
            </p:nvSpPr>
            <p:spPr>
              <a:xfrm rot="16200000">
                <a:off x="6434012" y="5470071"/>
                <a:ext cx="315686" cy="1045029"/>
              </a:xfrm>
              <a:prstGeom prst="flowChartDelay">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a:cs typeface="Arial" panose="020B0604020202020204" pitchFamily="34" charset="0"/>
                </a:endParaRPr>
              </a:p>
            </p:txBody>
          </p:sp>
          <p:sp>
            <p:nvSpPr>
              <p:cNvPr id="360" name="Ellipse 359"/>
              <p:cNvSpPr/>
              <p:nvPr/>
            </p:nvSpPr>
            <p:spPr>
              <a:xfrm>
                <a:off x="6299519" y="5388429"/>
                <a:ext cx="547595" cy="566056"/>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a:cs typeface="Arial" panose="020B0604020202020204" pitchFamily="34" charset="0"/>
                </a:endParaRPr>
              </a:p>
            </p:txBody>
          </p:sp>
        </p:grpSp>
        <p:grpSp>
          <p:nvGrpSpPr>
            <p:cNvPr id="353" name="Groupe 352"/>
            <p:cNvGrpSpPr/>
            <p:nvPr/>
          </p:nvGrpSpPr>
          <p:grpSpPr>
            <a:xfrm>
              <a:off x="2272953" y="12475829"/>
              <a:ext cx="770204" cy="611499"/>
              <a:chOff x="6069340" y="5388429"/>
              <a:chExt cx="1045029" cy="762000"/>
            </a:xfrm>
            <a:pattFill prst="wdUpDiag">
              <a:fgClr>
                <a:schemeClr val="accent2">
                  <a:lumMod val="60000"/>
                  <a:lumOff val="40000"/>
                </a:schemeClr>
              </a:fgClr>
              <a:bgClr>
                <a:schemeClr val="bg1"/>
              </a:bgClr>
            </a:pattFill>
          </p:grpSpPr>
          <p:sp>
            <p:nvSpPr>
              <p:cNvPr id="357" name="Organigramme : Délai 356"/>
              <p:cNvSpPr/>
              <p:nvPr/>
            </p:nvSpPr>
            <p:spPr>
              <a:xfrm rot="16200000">
                <a:off x="6434012" y="5470071"/>
                <a:ext cx="315686" cy="1045029"/>
              </a:xfrm>
              <a:prstGeom prst="flowChartDelay">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a:cs typeface="Arial" panose="020B0604020202020204" pitchFamily="34" charset="0"/>
                </a:endParaRPr>
              </a:p>
            </p:txBody>
          </p:sp>
          <p:sp>
            <p:nvSpPr>
              <p:cNvPr id="358" name="Ellipse 357"/>
              <p:cNvSpPr/>
              <p:nvPr/>
            </p:nvSpPr>
            <p:spPr>
              <a:xfrm>
                <a:off x="6299519" y="5388429"/>
                <a:ext cx="547595" cy="566056"/>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a:cs typeface="Arial" panose="020B0604020202020204" pitchFamily="34" charset="0"/>
                </a:endParaRPr>
              </a:p>
            </p:txBody>
          </p:sp>
        </p:grpSp>
        <p:grpSp>
          <p:nvGrpSpPr>
            <p:cNvPr id="354" name="Groupe 353"/>
            <p:cNvGrpSpPr/>
            <p:nvPr/>
          </p:nvGrpSpPr>
          <p:grpSpPr>
            <a:xfrm>
              <a:off x="1600876" y="12161532"/>
              <a:ext cx="770204" cy="611499"/>
              <a:chOff x="6069340" y="5388429"/>
              <a:chExt cx="1045029" cy="762000"/>
            </a:xfrm>
            <a:pattFill prst="wdUpDiag">
              <a:fgClr>
                <a:schemeClr val="accent2">
                  <a:lumMod val="60000"/>
                  <a:lumOff val="40000"/>
                </a:schemeClr>
              </a:fgClr>
              <a:bgClr>
                <a:schemeClr val="bg1"/>
              </a:bgClr>
            </a:pattFill>
          </p:grpSpPr>
          <p:sp>
            <p:nvSpPr>
              <p:cNvPr id="355" name="Organigramme : Délai 354"/>
              <p:cNvSpPr/>
              <p:nvPr/>
            </p:nvSpPr>
            <p:spPr>
              <a:xfrm rot="16200000">
                <a:off x="6434012" y="5470071"/>
                <a:ext cx="315686" cy="1045029"/>
              </a:xfrm>
              <a:prstGeom prst="flowChartDelay">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a:cs typeface="Arial" panose="020B0604020202020204" pitchFamily="34" charset="0"/>
                </a:endParaRPr>
              </a:p>
            </p:txBody>
          </p:sp>
          <p:sp>
            <p:nvSpPr>
              <p:cNvPr id="356" name="Ellipse 355"/>
              <p:cNvSpPr/>
              <p:nvPr/>
            </p:nvSpPr>
            <p:spPr>
              <a:xfrm>
                <a:off x="6299519" y="5388429"/>
                <a:ext cx="547595" cy="566056"/>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a:cs typeface="Arial" panose="020B0604020202020204" pitchFamily="34" charset="0"/>
                </a:endParaRPr>
              </a:p>
            </p:txBody>
          </p:sp>
        </p:grpSp>
        <p:sp>
          <p:nvSpPr>
            <p:cNvPr id="363" name="Rectangle à coins arrondis 362"/>
            <p:cNvSpPr/>
            <p:nvPr/>
          </p:nvSpPr>
          <p:spPr>
            <a:xfrm>
              <a:off x="1332772" y="12055608"/>
              <a:ext cx="1864905" cy="1821061"/>
            </a:xfrm>
            <a:prstGeom prst="roundRect">
              <a:avLst/>
            </a:prstGeom>
            <a:noFill/>
            <a:ln w="19050">
              <a:solidFill>
                <a:schemeClr val="accent2">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a:cs typeface="Arial" panose="020B0604020202020204" pitchFamily="34" charset="0"/>
              </a:endParaRPr>
            </a:p>
          </p:txBody>
        </p:sp>
        <p:sp>
          <p:nvSpPr>
            <p:cNvPr id="364" name="Rectangle à coins arrondis 363"/>
            <p:cNvSpPr/>
            <p:nvPr/>
          </p:nvSpPr>
          <p:spPr>
            <a:xfrm>
              <a:off x="3343262" y="11979432"/>
              <a:ext cx="7675614" cy="927340"/>
            </a:xfrm>
            <a:prstGeom prst="roundRect">
              <a:avLst/>
            </a:prstGeom>
            <a:noFill/>
            <a:ln w="19050">
              <a:solidFill>
                <a:schemeClr val="accent2">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900" b="1" dirty="0">
                  <a:solidFill>
                    <a:schemeClr val="accent2"/>
                  </a:solidFill>
                  <a:cs typeface="Arial" panose="020B0604020202020204" pitchFamily="34" charset="0"/>
                </a:rPr>
                <a:t>French Whole Genome cohort (FWG) </a:t>
              </a:r>
            </a:p>
            <a:p>
              <a:pPr algn="ctr"/>
              <a:r>
                <a:rPr lang="en-US" sz="1900" b="1" dirty="0">
                  <a:solidFill>
                    <a:schemeClr val="accent2"/>
                  </a:solidFill>
                  <a:cs typeface="Arial" panose="020B0604020202020204" pitchFamily="34" charset="0"/>
                </a:rPr>
                <a:t>(FIN, PREGO, GAZEL, CHOPIN) [20-70] years</a:t>
              </a:r>
            </a:p>
          </p:txBody>
        </p:sp>
        <p:sp>
          <p:nvSpPr>
            <p:cNvPr id="365" name="Rectangle 364"/>
            <p:cNvSpPr/>
            <p:nvPr/>
          </p:nvSpPr>
          <p:spPr>
            <a:xfrm>
              <a:off x="4397414" y="13124006"/>
              <a:ext cx="5684442" cy="384721"/>
            </a:xfrm>
            <a:prstGeom prst="rect">
              <a:avLst/>
            </a:prstGeom>
          </p:spPr>
          <p:txBody>
            <a:bodyPr wrap="square">
              <a:spAutoFit/>
            </a:bodyPr>
            <a:lstStyle/>
            <a:p>
              <a:pPr algn="ctr"/>
              <a:r>
                <a:rPr lang="fr-FR" sz="1900" b="1" dirty="0">
                  <a:solidFill>
                    <a:schemeClr val="accent5">
                      <a:lumMod val="50000"/>
                    </a:schemeClr>
                  </a:solidFill>
                  <a:cs typeface="Arial" panose="020B0604020202020204" pitchFamily="34" charset="0"/>
                </a:rPr>
                <a:t>AGENOMICS data from CEPH Chronos cohort  </a:t>
              </a:r>
            </a:p>
          </p:txBody>
        </p:sp>
        <p:grpSp>
          <p:nvGrpSpPr>
            <p:cNvPr id="368" name="Groupe 367"/>
            <p:cNvGrpSpPr/>
            <p:nvPr/>
          </p:nvGrpSpPr>
          <p:grpSpPr>
            <a:xfrm>
              <a:off x="1332772" y="14157115"/>
              <a:ext cx="1864905" cy="1821061"/>
              <a:chOff x="1099805" y="3258969"/>
              <a:chExt cx="888637" cy="875887"/>
            </a:xfrm>
          </p:grpSpPr>
          <p:grpSp>
            <p:nvGrpSpPr>
              <p:cNvPr id="369" name="Groupe 368"/>
              <p:cNvGrpSpPr/>
              <p:nvPr/>
            </p:nvGrpSpPr>
            <p:grpSpPr>
              <a:xfrm>
                <a:off x="1143209" y="3309916"/>
                <a:ext cx="801829" cy="773994"/>
                <a:chOff x="8770795" y="3856449"/>
                <a:chExt cx="2283161" cy="2005273"/>
              </a:xfrm>
            </p:grpSpPr>
            <p:grpSp>
              <p:nvGrpSpPr>
                <p:cNvPr id="371" name="Groupe 370"/>
                <p:cNvGrpSpPr/>
                <p:nvPr/>
              </p:nvGrpSpPr>
              <p:grpSpPr>
                <a:xfrm>
                  <a:off x="9778748" y="5099722"/>
                  <a:ext cx="1045029" cy="762000"/>
                  <a:chOff x="6069340" y="5388429"/>
                  <a:chExt cx="1045029" cy="762000"/>
                </a:xfrm>
                <a:solidFill>
                  <a:srgbClr val="6299D0"/>
                </a:solidFill>
              </p:grpSpPr>
              <p:sp>
                <p:nvSpPr>
                  <p:cNvPr id="381" name="Organigramme : Délai 380"/>
                  <p:cNvSpPr/>
                  <p:nvPr/>
                </p:nvSpPr>
                <p:spPr>
                  <a:xfrm rot="16200000">
                    <a:off x="6434012" y="5470071"/>
                    <a:ext cx="315686" cy="1045029"/>
                  </a:xfrm>
                  <a:prstGeom prst="flowChartDelay">
                    <a:avLst/>
                  </a:prstGeom>
                  <a:pattFill prst="pct50">
                    <a:fgClr>
                      <a:srgbClr val="9DC3E6"/>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cs typeface="Arial" panose="020B0604020202020204" pitchFamily="34" charset="0"/>
                    </a:endParaRPr>
                  </a:p>
                </p:txBody>
              </p:sp>
              <p:sp>
                <p:nvSpPr>
                  <p:cNvPr id="382" name="Ellipse 381"/>
                  <p:cNvSpPr/>
                  <p:nvPr/>
                </p:nvSpPr>
                <p:spPr>
                  <a:xfrm>
                    <a:off x="6299519" y="5388429"/>
                    <a:ext cx="547595" cy="566056"/>
                  </a:xfrm>
                  <a:prstGeom prst="ellipse">
                    <a:avLst/>
                  </a:prstGeom>
                  <a:pattFill prst="pct50">
                    <a:fgClr>
                      <a:srgbClr val="9DC3E6"/>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cs typeface="Arial" panose="020B0604020202020204" pitchFamily="34" charset="0"/>
                    </a:endParaRPr>
                  </a:p>
                </p:txBody>
              </p:sp>
            </p:grpSp>
            <p:grpSp>
              <p:nvGrpSpPr>
                <p:cNvPr id="372" name="Groupe 371"/>
                <p:cNvGrpSpPr/>
                <p:nvPr/>
              </p:nvGrpSpPr>
              <p:grpSpPr>
                <a:xfrm>
                  <a:off x="8770795" y="4705531"/>
                  <a:ext cx="1045029" cy="762000"/>
                  <a:chOff x="6069340" y="5388429"/>
                  <a:chExt cx="1045029" cy="762000"/>
                </a:xfrm>
                <a:solidFill>
                  <a:schemeClr val="accent1">
                    <a:lumMod val="20000"/>
                    <a:lumOff val="80000"/>
                  </a:schemeClr>
                </a:solidFill>
              </p:grpSpPr>
              <p:sp>
                <p:nvSpPr>
                  <p:cNvPr id="379" name="Organigramme : Délai 378"/>
                  <p:cNvSpPr/>
                  <p:nvPr/>
                </p:nvSpPr>
                <p:spPr>
                  <a:xfrm rot="16200000">
                    <a:off x="6434012" y="5470071"/>
                    <a:ext cx="315686" cy="1045029"/>
                  </a:xfrm>
                  <a:prstGeom prst="flowChartDelay">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cs typeface="Arial" panose="020B0604020202020204" pitchFamily="34" charset="0"/>
                    </a:endParaRPr>
                  </a:p>
                </p:txBody>
              </p:sp>
              <p:sp>
                <p:nvSpPr>
                  <p:cNvPr id="380" name="Ellipse 379"/>
                  <p:cNvSpPr/>
                  <p:nvPr/>
                </p:nvSpPr>
                <p:spPr>
                  <a:xfrm>
                    <a:off x="6299519" y="5388429"/>
                    <a:ext cx="547595" cy="566056"/>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cs typeface="Arial" panose="020B0604020202020204" pitchFamily="34" charset="0"/>
                    </a:endParaRPr>
                  </a:p>
                </p:txBody>
              </p:sp>
            </p:grpSp>
            <p:grpSp>
              <p:nvGrpSpPr>
                <p:cNvPr id="373" name="Groupe 372"/>
                <p:cNvGrpSpPr/>
                <p:nvPr/>
              </p:nvGrpSpPr>
              <p:grpSpPr>
                <a:xfrm>
                  <a:off x="10008927" y="4248101"/>
                  <a:ext cx="1045029" cy="762000"/>
                  <a:chOff x="6069340" y="5388429"/>
                  <a:chExt cx="1045029" cy="762000"/>
                </a:xfrm>
                <a:solidFill>
                  <a:schemeClr val="accent1">
                    <a:lumMod val="60000"/>
                    <a:lumOff val="40000"/>
                  </a:schemeClr>
                </a:solidFill>
              </p:grpSpPr>
              <p:sp>
                <p:nvSpPr>
                  <p:cNvPr id="377" name="Organigramme : Délai 376"/>
                  <p:cNvSpPr/>
                  <p:nvPr/>
                </p:nvSpPr>
                <p:spPr>
                  <a:xfrm rot="16200000">
                    <a:off x="6434012" y="5470071"/>
                    <a:ext cx="315686" cy="1045029"/>
                  </a:xfrm>
                  <a:prstGeom prst="flowChartDelay">
                    <a:avLst/>
                  </a:prstGeom>
                  <a:pattFill prst="lgGrid">
                    <a:fgClr>
                      <a:srgbClr val="6299D0"/>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cs typeface="Arial" panose="020B0604020202020204" pitchFamily="34" charset="0"/>
                    </a:endParaRPr>
                  </a:p>
                </p:txBody>
              </p:sp>
              <p:sp>
                <p:nvSpPr>
                  <p:cNvPr id="378" name="Ellipse 377"/>
                  <p:cNvSpPr/>
                  <p:nvPr/>
                </p:nvSpPr>
                <p:spPr>
                  <a:xfrm>
                    <a:off x="6299519" y="5388429"/>
                    <a:ext cx="547595" cy="566056"/>
                  </a:xfrm>
                  <a:prstGeom prst="ellipse">
                    <a:avLst/>
                  </a:prstGeom>
                  <a:pattFill prst="lgGrid">
                    <a:fgClr>
                      <a:srgbClr val="6299D0"/>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cs typeface="Arial" panose="020B0604020202020204" pitchFamily="34" charset="0"/>
                    </a:endParaRPr>
                  </a:p>
                </p:txBody>
              </p:sp>
            </p:grpSp>
            <p:grpSp>
              <p:nvGrpSpPr>
                <p:cNvPr id="374" name="Groupe 373"/>
                <p:cNvGrpSpPr/>
                <p:nvPr/>
              </p:nvGrpSpPr>
              <p:grpSpPr>
                <a:xfrm>
                  <a:off x="9097039" y="3856449"/>
                  <a:ext cx="1045029" cy="762000"/>
                  <a:chOff x="6069340" y="5388429"/>
                  <a:chExt cx="1045029" cy="762000"/>
                </a:xfrm>
                <a:solidFill>
                  <a:schemeClr val="accent1">
                    <a:lumMod val="40000"/>
                    <a:lumOff val="60000"/>
                  </a:schemeClr>
                </a:solidFill>
              </p:grpSpPr>
              <p:sp>
                <p:nvSpPr>
                  <p:cNvPr id="375" name="Organigramme : Délai 374"/>
                  <p:cNvSpPr/>
                  <p:nvPr/>
                </p:nvSpPr>
                <p:spPr>
                  <a:xfrm rot="16200000">
                    <a:off x="6434012" y="5470071"/>
                    <a:ext cx="315686" cy="1045029"/>
                  </a:xfrm>
                  <a:prstGeom prst="flowChartDelay">
                    <a:avLst/>
                  </a:prstGeom>
                  <a:pattFill prst="lgCheck">
                    <a:fgClr>
                      <a:srgbClr val="6299D0"/>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cs typeface="Arial" panose="020B0604020202020204" pitchFamily="34" charset="0"/>
                    </a:endParaRPr>
                  </a:p>
                </p:txBody>
              </p:sp>
              <p:sp>
                <p:nvSpPr>
                  <p:cNvPr id="376" name="Ellipse 375"/>
                  <p:cNvSpPr/>
                  <p:nvPr/>
                </p:nvSpPr>
                <p:spPr>
                  <a:xfrm>
                    <a:off x="6299519" y="5388429"/>
                    <a:ext cx="547595" cy="566056"/>
                  </a:xfrm>
                  <a:prstGeom prst="ellipse">
                    <a:avLst/>
                  </a:prstGeom>
                  <a:pattFill prst="lgCheck">
                    <a:fgClr>
                      <a:srgbClr val="6299D0"/>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b="1" dirty="0">
                      <a:cs typeface="Arial" panose="020B0604020202020204" pitchFamily="34" charset="0"/>
                    </a:endParaRPr>
                  </a:p>
                </p:txBody>
              </p:sp>
            </p:grpSp>
          </p:grpSp>
          <p:sp>
            <p:nvSpPr>
              <p:cNvPr id="370" name="Rectangle à coins arrondis 369"/>
              <p:cNvSpPr/>
              <p:nvPr/>
            </p:nvSpPr>
            <p:spPr>
              <a:xfrm>
                <a:off x="1099805" y="3258969"/>
                <a:ext cx="888637" cy="875887"/>
              </a:xfrm>
              <a:prstGeom prst="roundRect">
                <a:avLst/>
              </a:prstGeom>
              <a:noFill/>
              <a:ln w="19050">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cs typeface="Arial" panose="020B0604020202020204" pitchFamily="34" charset="0"/>
                </a:endParaRPr>
              </a:p>
            </p:txBody>
          </p:sp>
        </p:grpSp>
        <p:sp>
          <p:nvSpPr>
            <p:cNvPr id="383" name="ZoneTexte 382"/>
            <p:cNvSpPr txBox="1"/>
            <p:nvPr/>
          </p:nvSpPr>
          <p:spPr>
            <a:xfrm>
              <a:off x="2268329" y="15303458"/>
              <a:ext cx="539386" cy="353943"/>
            </a:xfrm>
            <a:prstGeom prst="rect">
              <a:avLst/>
            </a:prstGeom>
            <a:noFill/>
          </p:spPr>
          <p:txBody>
            <a:bodyPr wrap="square" rtlCol="0" anchor="ctr">
              <a:spAutoFit/>
            </a:bodyPr>
            <a:lstStyle/>
            <a:p>
              <a:pPr algn="ctr"/>
              <a:r>
                <a:rPr lang="fr-FR" sz="1700" b="1" dirty="0"/>
                <a:t>C</a:t>
              </a:r>
            </a:p>
          </p:txBody>
        </p:sp>
        <p:sp>
          <p:nvSpPr>
            <p:cNvPr id="384" name="ZoneTexte 383"/>
            <p:cNvSpPr txBox="1"/>
            <p:nvPr/>
          </p:nvSpPr>
          <p:spPr>
            <a:xfrm>
              <a:off x="2428868" y="14600728"/>
              <a:ext cx="539386" cy="353943"/>
            </a:xfrm>
            <a:prstGeom prst="rect">
              <a:avLst/>
            </a:prstGeom>
            <a:noFill/>
          </p:spPr>
          <p:txBody>
            <a:bodyPr wrap="square" rtlCol="0" anchor="ctr">
              <a:spAutoFit/>
            </a:bodyPr>
            <a:lstStyle/>
            <a:p>
              <a:pPr algn="ctr"/>
              <a:r>
                <a:rPr lang="fr-FR" sz="1700" b="1" dirty="0"/>
                <a:t>N</a:t>
              </a:r>
            </a:p>
          </p:txBody>
        </p:sp>
        <p:sp>
          <p:nvSpPr>
            <p:cNvPr id="385" name="ZoneTexte 384"/>
            <p:cNvSpPr txBox="1"/>
            <p:nvPr/>
          </p:nvSpPr>
          <p:spPr>
            <a:xfrm>
              <a:off x="1651765" y="14332132"/>
              <a:ext cx="770272" cy="353943"/>
            </a:xfrm>
            <a:prstGeom prst="rect">
              <a:avLst/>
            </a:prstGeom>
            <a:noFill/>
          </p:spPr>
          <p:txBody>
            <a:bodyPr wrap="square" rtlCol="0" anchor="ctr">
              <a:spAutoFit/>
            </a:bodyPr>
            <a:lstStyle/>
            <a:p>
              <a:pPr algn="ctr"/>
              <a:r>
                <a:rPr lang="fr-FR" sz="1700" b="1" dirty="0"/>
                <a:t>SSC</a:t>
              </a:r>
            </a:p>
          </p:txBody>
        </p:sp>
        <p:sp>
          <p:nvSpPr>
            <p:cNvPr id="386" name="ZoneTexte 385"/>
            <p:cNvSpPr txBox="1"/>
            <p:nvPr/>
          </p:nvSpPr>
          <p:spPr>
            <a:xfrm>
              <a:off x="1482007" y="14968558"/>
              <a:ext cx="649605" cy="353943"/>
            </a:xfrm>
            <a:prstGeom prst="rect">
              <a:avLst/>
            </a:prstGeom>
            <a:noFill/>
          </p:spPr>
          <p:txBody>
            <a:bodyPr wrap="square" rtlCol="0" anchor="ctr">
              <a:spAutoFit/>
            </a:bodyPr>
            <a:lstStyle/>
            <a:p>
              <a:pPr algn="ctr"/>
              <a:r>
                <a:rPr lang="fr-FR" sz="1700" b="1" dirty="0"/>
                <a:t>SC</a:t>
              </a:r>
            </a:p>
          </p:txBody>
        </p:sp>
        <p:pic>
          <p:nvPicPr>
            <p:cNvPr id="387" name="Image 386"/>
            <p:cNvPicPr>
              <a:picLocks noChangeAspect="1"/>
            </p:cNvPicPr>
            <p:nvPr/>
          </p:nvPicPr>
          <p:blipFill rotWithShape="1">
            <a:blip r:embed="rId12"/>
            <a:srcRect l="2699" t="5343" r="16756" b="5635"/>
            <a:stretch/>
          </p:blipFill>
          <p:spPr>
            <a:xfrm>
              <a:off x="3488645" y="13507929"/>
              <a:ext cx="2682294" cy="2666701"/>
            </a:xfrm>
            <a:prstGeom prst="rect">
              <a:avLst/>
            </a:prstGeom>
          </p:spPr>
        </p:pic>
        <p:sp>
          <p:nvSpPr>
            <p:cNvPr id="494" name="Rectangle à coins arrondis 493"/>
            <p:cNvSpPr/>
            <p:nvPr/>
          </p:nvSpPr>
          <p:spPr>
            <a:xfrm>
              <a:off x="3324364" y="13001621"/>
              <a:ext cx="7712843" cy="3311860"/>
            </a:xfrm>
            <a:prstGeom prst="round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prstClr val="black"/>
                </a:solidFill>
                <a:cs typeface="Arial" panose="020B0604020202020204" pitchFamily="34" charset="0"/>
              </a:endParaRPr>
            </a:p>
            <a:p>
              <a:pPr algn="ctr"/>
              <a:endParaRPr lang="fr-FR" dirty="0">
                <a:solidFill>
                  <a:prstClr val="black"/>
                </a:solidFill>
                <a:cs typeface="Arial" panose="020B0604020202020204" pitchFamily="34" charset="0"/>
              </a:endParaRPr>
            </a:p>
          </p:txBody>
        </p:sp>
        <p:sp>
          <p:nvSpPr>
            <p:cNvPr id="17" name="ZoneTexte 16"/>
            <p:cNvSpPr txBox="1"/>
            <p:nvPr/>
          </p:nvSpPr>
          <p:spPr>
            <a:xfrm>
              <a:off x="6102945" y="13918396"/>
              <a:ext cx="5047518" cy="1754326"/>
            </a:xfrm>
            <a:prstGeom prst="rect">
              <a:avLst/>
            </a:prstGeom>
            <a:noFill/>
          </p:spPr>
          <p:txBody>
            <a:bodyPr wrap="square" rtlCol="0" anchor="ctr">
              <a:spAutoFit/>
            </a:bodyPr>
            <a:lstStyle/>
            <a:p>
              <a:pPr marL="285750" indent="-285750">
                <a:lnSpc>
                  <a:spcPct val="150000"/>
                </a:lnSpc>
                <a:buClr>
                  <a:schemeClr val="accent5"/>
                </a:buClr>
                <a:buFont typeface="Wingdings" panose="05000000000000000000" pitchFamily="2" charset="2"/>
                <a:buChar char="Ø"/>
              </a:pPr>
              <a:r>
                <a:rPr lang="fr-FR" b="1" dirty="0"/>
                <a:t>Nonagenarians (N) [90–99] </a:t>
              </a:r>
            </a:p>
            <a:p>
              <a:pPr marL="285750" indent="-285750">
                <a:lnSpc>
                  <a:spcPct val="150000"/>
                </a:lnSpc>
                <a:buClr>
                  <a:schemeClr val="accent5"/>
                </a:buClr>
                <a:buFont typeface="Wingdings" panose="05000000000000000000" pitchFamily="2" charset="2"/>
                <a:buChar char="Ø"/>
              </a:pPr>
              <a:r>
                <a:rPr lang="fr-FR" b="1" dirty="0"/>
                <a:t>Centenarians  (C) [100–104]</a:t>
              </a:r>
            </a:p>
            <a:p>
              <a:pPr marL="285750" indent="-285750">
                <a:lnSpc>
                  <a:spcPct val="150000"/>
                </a:lnSpc>
                <a:buClr>
                  <a:schemeClr val="accent5"/>
                </a:buClr>
                <a:buFont typeface="Wingdings" panose="05000000000000000000" pitchFamily="2" charset="2"/>
                <a:buChar char="Ø"/>
              </a:pPr>
              <a:r>
                <a:rPr lang="fr-FR" b="1" dirty="0"/>
                <a:t>Semi-supercentenarians (SSC) [105–109] </a:t>
              </a:r>
            </a:p>
            <a:p>
              <a:pPr marL="285750" indent="-285750">
                <a:lnSpc>
                  <a:spcPct val="150000"/>
                </a:lnSpc>
                <a:buClr>
                  <a:schemeClr val="accent5"/>
                </a:buClr>
                <a:buFont typeface="Wingdings" panose="05000000000000000000" pitchFamily="2" charset="2"/>
                <a:buChar char="Ø"/>
              </a:pPr>
              <a:r>
                <a:rPr lang="fr-FR" b="1" dirty="0"/>
                <a:t>Supercentenarians (SC) (≥110) </a:t>
              </a:r>
            </a:p>
          </p:txBody>
        </p:sp>
        <p:sp>
          <p:nvSpPr>
            <p:cNvPr id="23" name="Flèche droite 22"/>
            <p:cNvSpPr/>
            <p:nvPr/>
          </p:nvSpPr>
          <p:spPr>
            <a:xfrm>
              <a:off x="17157068" y="13779874"/>
              <a:ext cx="906892" cy="649430"/>
            </a:xfrm>
            <a:prstGeom prst="rightArrow">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2" name="Rectangle 491"/>
            <p:cNvSpPr/>
            <p:nvPr/>
          </p:nvSpPr>
          <p:spPr>
            <a:xfrm>
              <a:off x="11633902" y="11413186"/>
              <a:ext cx="1861003" cy="381918"/>
            </a:xfrm>
            <a:prstGeom prst="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prstClr val="black"/>
                  </a:solidFill>
                  <a:cs typeface="Arial" panose="020B0604020202020204" pitchFamily="34" charset="0"/>
                </a:rPr>
                <a:t>Sample type</a:t>
              </a:r>
              <a:endParaRPr lang="fr-FR" b="1" dirty="0">
                <a:cs typeface="Arial" panose="020B0604020202020204" pitchFamily="34" charset="0"/>
              </a:endParaRPr>
            </a:p>
          </p:txBody>
        </p:sp>
        <p:sp>
          <p:nvSpPr>
            <p:cNvPr id="493" name="Rectangle 492"/>
            <p:cNvSpPr/>
            <p:nvPr/>
          </p:nvSpPr>
          <p:spPr>
            <a:xfrm>
              <a:off x="14631130" y="11413186"/>
              <a:ext cx="1861003" cy="381918"/>
            </a:xfrm>
            <a:prstGeom prst="rect">
              <a:avLst/>
            </a:prstGeom>
            <a:solidFill>
              <a:schemeClr val="bg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prstClr val="black"/>
                  </a:solidFill>
                  <a:cs typeface="Arial" panose="020B0604020202020204" pitchFamily="34" charset="0"/>
                </a:rPr>
                <a:t>Sex </a:t>
              </a:r>
              <a:endParaRPr lang="fr-FR" b="1" dirty="0">
                <a:cs typeface="Arial" panose="020B0604020202020204" pitchFamily="34" charset="0"/>
              </a:endParaRPr>
            </a:p>
          </p:txBody>
        </p:sp>
        <p:sp>
          <p:nvSpPr>
            <p:cNvPr id="188" name="Rectangle à coins arrondis 363">
              <a:extLst>
                <a:ext uri="{FF2B5EF4-FFF2-40B4-BE49-F238E27FC236}">
                  <a16:creationId xmlns:a16="http://schemas.microsoft.com/office/drawing/2014/main" id="{73619E85-9258-4983-9279-2EA4DBF98ECE}"/>
                </a:ext>
              </a:extLst>
            </p:cNvPr>
            <p:cNvSpPr/>
            <p:nvPr/>
          </p:nvSpPr>
          <p:spPr>
            <a:xfrm>
              <a:off x="11155466" y="11979431"/>
              <a:ext cx="2768949" cy="1683333"/>
            </a:xfrm>
            <a:prstGeom prst="roundRect">
              <a:avLst/>
            </a:prstGeom>
            <a:noFill/>
            <a:ln w="19050">
              <a:solidFill>
                <a:schemeClr val="accent2">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00" b="1" dirty="0">
                <a:solidFill>
                  <a:schemeClr val="accent2"/>
                </a:solidFill>
                <a:cs typeface="Arial" panose="020B0604020202020204" pitchFamily="34" charset="0"/>
              </a:endParaRPr>
            </a:p>
          </p:txBody>
        </p:sp>
        <p:sp>
          <p:nvSpPr>
            <p:cNvPr id="189" name="Rectangle à coins arrondis 493">
              <a:extLst>
                <a:ext uri="{FF2B5EF4-FFF2-40B4-BE49-F238E27FC236}">
                  <a16:creationId xmlns:a16="http://schemas.microsoft.com/office/drawing/2014/main" id="{B599A068-A4E6-40A4-B74F-33EB4355F7B3}"/>
                </a:ext>
              </a:extLst>
            </p:cNvPr>
            <p:cNvSpPr/>
            <p:nvPr/>
          </p:nvSpPr>
          <p:spPr>
            <a:xfrm>
              <a:off x="11200409" y="13757365"/>
              <a:ext cx="2724006" cy="2549936"/>
            </a:xfrm>
            <a:prstGeom prst="round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prstClr val="black"/>
                </a:solidFill>
                <a:cs typeface="Arial" panose="020B0604020202020204" pitchFamily="34" charset="0"/>
              </a:endParaRPr>
            </a:p>
            <a:p>
              <a:pPr algn="ctr"/>
              <a:endParaRPr lang="fr-FR" dirty="0">
                <a:solidFill>
                  <a:prstClr val="black"/>
                </a:solidFill>
                <a:cs typeface="Arial" panose="020B0604020202020204" pitchFamily="34" charset="0"/>
              </a:endParaRPr>
            </a:p>
          </p:txBody>
        </p:sp>
        <p:pic>
          <p:nvPicPr>
            <p:cNvPr id="10" name="Image 9">
              <a:extLst>
                <a:ext uri="{FF2B5EF4-FFF2-40B4-BE49-F238E27FC236}">
                  <a16:creationId xmlns:a16="http://schemas.microsoft.com/office/drawing/2014/main" id="{EDA7F71C-BF88-4410-B623-125A5E3EB6D5}"/>
                </a:ext>
              </a:extLst>
            </p:cNvPr>
            <p:cNvPicPr>
              <a:picLocks noChangeAspect="1"/>
            </p:cNvPicPr>
            <p:nvPr/>
          </p:nvPicPr>
          <p:blipFill>
            <a:blip r:embed="rId13"/>
            <a:stretch>
              <a:fillRect/>
            </a:stretch>
          </p:blipFill>
          <p:spPr>
            <a:xfrm>
              <a:off x="11440118" y="12144870"/>
              <a:ext cx="1011716" cy="1353574"/>
            </a:xfrm>
            <a:prstGeom prst="rect">
              <a:avLst/>
            </a:prstGeom>
          </p:spPr>
        </p:pic>
        <p:sp>
          <p:nvSpPr>
            <p:cNvPr id="211" name="Rectangle à coins arrondis 488">
              <a:extLst>
                <a:ext uri="{FF2B5EF4-FFF2-40B4-BE49-F238E27FC236}">
                  <a16:creationId xmlns:a16="http://schemas.microsoft.com/office/drawing/2014/main" id="{A0D5D605-8E2B-4734-BE6B-2B3FA54FF711}"/>
                </a:ext>
              </a:extLst>
            </p:cNvPr>
            <p:cNvSpPr/>
            <p:nvPr/>
          </p:nvSpPr>
          <p:spPr>
            <a:xfrm>
              <a:off x="12145884" y="15016544"/>
              <a:ext cx="823341" cy="1103250"/>
            </a:xfrm>
            <a:prstGeom prst="roundRect">
              <a:avLst/>
            </a:prstGeom>
            <a:solidFill>
              <a:schemeClr val="bg1">
                <a:alpha val="10000"/>
              </a:schemeClr>
            </a:solidFill>
            <a:ln w="12700" cap="flat" cmpd="sng" algn="ctr">
              <a:solidFill>
                <a:srgbClr val="A5A5A5">
                  <a:lumMod val="20000"/>
                  <a:lumOff val="8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b="1" i="0" u="none" strike="noStrike" kern="0" cap="none" spc="0" normalizeH="0" baseline="0" noProof="0">
                <a:ln>
                  <a:noFill/>
                </a:ln>
                <a:solidFill>
                  <a:prstClr val="white"/>
                </a:solidFill>
                <a:effectLst/>
                <a:uLnTx/>
                <a:uFillTx/>
                <a:ea typeface="+mn-ea"/>
                <a:cs typeface="+mn-cs"/>
              </a:endParaRPr>
            </a:p>
          </p:txBody>
        </p:sp>
        <p:grpSp>
          <p:nvGrpSpPr>
            <p:cNvPr id="212" name="Groupe 211">
              <a:extLst>
                <a:ext uri="{FF2B5EF4-FFF2-40B4-BE49-F238E27FC236}">
                  <a16:creationId xmlns:a16="http://schemas.microsoft.com/office/drawing/2014/main" id="{429EBD9E-EE51-42DA-9B10-28ABA53F7847}"/>
                </a:ext>
              </a:extLst>
            </p:cNvPr>
            <p:cNvGrpSpPr/>
            <p:nvPr/>
          </p:nvGrpSpPr>
          <p:grpSpPr>
            <a:xfrm>
              <a:off x="12164949" y="13833525"/>
              <a:ext cx="836896" cy="796829"/>
              <a:chOff x="9054788" y="21025768"/>
              <a:chExt cx="1230461" cy="895300"/>
            </a:xfrm>
          </p:grpSpPr>
          <p:pic>
            <p:nvPicPr>
              <p:cNvPr id="213" name="Image 212">
                <a:extLst>
                  <a:ext uri="{FF2B5EF4-FFF2-40B4-BE49-F238E27FC236}">
                    <a16:creationId xmlns:a16="http://schemas.microsoft.com/office/drawing/2014/main" id="{26ACFFBF-1979-40C7-8558-37FB111440F7}"/>
                  </a:ext>
                </a:extLst>
              </p:cNvPr>
              <p:cNvPicPr>
                <a:picLocks noChangeAspect="1"/>
              </p:cNvPicPr>
              <p:nvPr/>
            </p:nvPicPr>
            <p:blipFill rotWithShape="1">
              <a:blip r:embed="rId14"/>
              <a:srcRect l="40086" t="19183" r="50802" b="70404"/>
              <a:stretch/>
            </p:blipFill>
            <p:spPr>
              <a:xfrm>
                <a:off x="9309558" y="21122305"/>
                <a:ext cx="720920" cy="702226"/>
              </a:xfrm>
              <a:prstGeom prst="rect">
                <a:avLst/>
              </a:prstGeom>
            </p:spPr>
          </p:pic>
          <p:sp>
            <p:nvSpPr>
              <p:cNvPr id="216" name="Rectangle à coins arrondis 487">
                <a:extLst>
                  <a:ext uri="{FF2B5EF4-FFF2-40B4-BE49-F238E27FC236}">
                    <a16:creationId xmlns:a16="http://schemas.microsoft.com/office/drawing/2014/main" id="{7ECCEE8C-EE09-4DEC-9102-F7CF150B8712}"/>
                  </a:ext>
                </a:extLst>
              </p:cNvPr>
              <p:cNvSpPr/>
              <p:nvPr/>
            </p:nvSpPr>
            <p:spPr>
              <a:xfrm>
                <a:off x="9054788" y="21025768"/>
                <a:ext cx="1230461" cy="895300"/>
              </a:xfrm>
              <a:prstGeom prst="roundRect">
                <a:avLst/>
              </a:prstGeom>
              <a:solidFill>
                <a:schemeClr val="bg1">
                  <a:alpha val="10000"/>
                </a:schemeClr>
              </a:solidFill>
              <a:ln w="12700" cap="flat" cmpd="sng" algn="ctr">
                <a:solidFill>
                  <a:srgbClr val="A5A5A5">
                    <a:lumMod val="20000"/>
                    <a:lumOff val="8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b="1" i="0" u="none" strike="noStrike" kern="0" cap="none" spc="0" normalizeH="0" baseline="0" noProof="0" dirty="0">
                  <a:ln>
                    <a:noFill/>
                  </a:ln>
                  <a:solidFill>
                    <a:prstClr val="white"/>
                  </a:solidFill>
                  <a:effectLst/>
                  <a:uLnTx/>
                  <a:uFillTx/>
                  <a:ea typeface="+mn-ea"/>
                  <a:cs typeface="+mn-cs"/>
                </a:endParaRPr>
              </a:p>
            </p:txBody>
          </p:sp>
        </p:grpSp>
        <p:sp>
          <p:nvSpPr>
            <p:cNvPr id="217" name="Rectangle à coins arrondis 363">
              <a:extLst>
                <a:ext uri="{FF2B5EF4-FFF2-40B4-BE49-F238E27FC236}">
                  <a16:creationId xmlns:a16="http://schemas.microsoft.com/office/drawing/2014/main" id="{8E39C963-3BF0-4632-9331-79B04408F2B9}"/>
                </a:ext>
              </a:extLst>
            </p:cNvPr>
            <p:cNvSpPr/>
            <p:nvPr/>
          </p:nvSpPr>
          <p:spPr>
            <a:xfrm>
              <a:off x="14087410" y="11956261"/>
              <a:ext cx="2951277" cy="2036855"/>
            </a:xfrm>
            <a:prstGeom prst="roundRect">
              <a:avLst/>
            </a:prstGeom>
            <a:noFill/>
            <a:ln w="19050">
              <a:solidFill>
                <a:schemeClr val="accent2">
                  <a:lumMod val="60000"/>
                  <a:lumOff val="4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900" b="1" dirty="0">
                <a:solidFill>
                  <a:schemeClr val="accent2"/>
                </a:solidFill>
                <a:cs typeface="Arial" panose="020B0604020202020204" pitchFamily="34" charset="0"/>
              </a:endParaRPr>
            </a:p>
          </p:txBody>
        </p:sp>
        <p:sp>
          <p:nvSpPr>
            <p:cNvPr id="218" name="Rectangle à coins arrondis 493">
              <a:extLst>
                <a:ext uri="{FF2B5EF4-FFF2-40B4-BE49-F238E27FC236}">
                  <a16:creationId xmlns:a16="http://schemas.microsoft.com/office/drawing/2014/main" id="{B5AA69D9-CBDE-4EAB-BC50-951CFC180EA1}"/>
                </a:ext>
              </a:extLst>
            </p:cNvPr>
            <p:cNvSpPr/>
            <p:nvPr/>
          </p:nvSpPr>
          <p:spPr>
            <a:xfrm>
              <a:off x="14050555" y="14081207"/>
              <a:ext cx="2986185" cy="2198316"/>
            </a:xfrm>
            <a:prstGeom prst="roundRect">
              <a:avLst/>
            </a:prstGeom>
            <a:no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prstClr val="black"/>
                </a:solidFill>
                <a:cs typeface="Arial" panose="020B0604020202020204" pitchFamily="34" charset="0"/>
              </a:endParaRPr>
            </a:p>
            <a:p>
              <a:pPr algn="ctr"/>
              <a:endParaRPr lang="fr-FR" dirty="0">
                <a:solidFill>
                  <a:prstClr val="black"/>
                </a:solidFill>
                <a:cs typeface="Arial" panose="020B0604020202020204" pitchFamily="34" charset="0"/>
              </a:endParaRPr>
            </a:p>
          </p:txBody>
        </p:sp>
        <p:cxnSp>
          <p:nvCxnSpPr>
            <p:cNvPr id="13" name="Connecteur droit avec flèche 12">
              <a:extLst>
                <a:ext uri="{FF2B5EF4-FFF2-40B4-BE49-F238E27FC236}">
                  <a16:creationId xmlns:a16="http://schemas.microsoft.com/office/drawing/2014/main" id="{AEDE630C-B49E-490E-8896-E453310B72D4}"/>
                </a:ext>
              </a:extLst>
            </p:cNvPr>
            <p:cNvCxnSpPr>
              <a:endCxn id="216" idx="1"/>
            </p:cNvCxnSpPr>
            <p:nvPr/>
          </p:nvCxnSpPr>
          <p:spPr>
            <a:xfrm flipV="1">
              <a:off x="11826779" y="14231940"/>
              <a:ext cx="338170" cy="4618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necteur droit avec flèche 15">
              <a:extLst>
                <a:ext uri="{FF2B5EF4-FFF2-40B4-BE49-F238E27FC236}">
                  <a16:creationId xmlns:a16="http://schemas.microsoft.com/office/drawing/2014/main" id="{EF05DABC-B801-4F6E-A94A-6F2971587959}"/>
                </a:ext>
              </a:extLst>
            </p:cNvPr>
            <p:cNvCxnSpPr>
              <a:endCxn id="211" idx="1"/>
            </p:cNvCxnSpPr>
            <p:nvPr/>
          </p:nvCxnSpPr>
          <p:spPr>
            <a:xfrm>
              <a:off x="11785001" y="15192340"/>
              <a:ext cx="360883" cy="3758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32" name="Groupe 231">
              <a:extLst>
                <a:ext uri="{FF2B5EF4-FFF2-40B4-BE49-F238E27FC236}">
                  <a16:creationId xmlns:a16="http://schemas.microsoft.com/office/drawing/2014/main" id="{FDA3B6FD-DDA4-4E10-B61F-D95F67E5E7D6}"/>
                </a:ext>
              </a:extLst>
            </p:cNvPr>
            <p:cNvGrpSpPr/>
            <p:nvPr/>
          </p:nvGrpSpPr>
          <p:grpSpPr>
            <a:xfrm>
              <a:off x="12446280" y="12517461"/>
              <a:ext cx="1375633" cy="668189"/>
              <a:chOff x="9836554" y="21580615"/>
              <a:chExt cx="1845945" cy="796526"/>
            </a:xfrm>
          </p:grpSpPr>
          <p:sp>
            <p:nvSpPr>
              <p:cNvPr id="233" name="ZoneTexte 232">
                <a:extLst>
                  <a:ext uri="{FF2B5EF4-FFF2-40B4-BE49-F238E27FC236}">
                    <a16:creationId xmlns:a16="http://schemas.microsoft.com/office/drawing/2014/main" id="{83CBCF03-BE22-4DBF-8A34-CCF3FECC884F}"/>
                  </a:ext>
                </a:extLst>
              </p:cNvPr>
              <p:cNvSpPr txBox="1"/>
              <p:nvPr/>
            </p:nvSpPr>
            <p:spPr>
              <a:xfrm>
                <a:off x="10084960" y="22010250"/>
                <a:ext cx="1424897" cy="366891"/>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1" i="0" u="none" strike="noStrike" kern="0" cap="none" spc="0" normalizeH="0" baseline="0" noProof="0" dirty="0">
                    <a:ln>
                      <a:noFill/>
                    </a:ln>
                    <a:solidFill>
                      <a:prstClr val="black"/>
                    </a:solidFill>
                    <a:effectLst/>
                    <a:uLnTx/>
                    <a:uFillTx/>
                    <a:cs typeface="Arial" panose="020B0604020202020204" pitchFamily="34" charset="0"/>
                  </a:rPr>
                  <a:t>100%</a:t>
                </a:r>
              </a:p>
            </p:txBody>
          </p:sp>
          <p:sp>
            <p:nvSpPr>
              <p:cNvPr id="234" name="ZoneTexte 233">
                <a:extLst>
                  <a:ext uri="{FF2B5EF4-FFF2-40B4-BE49-F238E27FC236}">
                    <a16:creationId xmlns:a16="http://schemas.microsoft.com/office/drawing/2014/main" id="{9BA15730-3B49-41C6-85D7-4A8A876F12C2}"/>
                  </a:ext>
                </a:extLst>
              </p:cNvPr>
              <p:cNvSpPr txBox="1"/>
              <p:nvPr/>
            </p:nvSpPr>
            <p:spPr>
              <a:xfrm>
                <a:off x="9836554" y="21580615"/>
                <a:ext cx="1845945" cy="366891"/>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400" b="1" i="0" u="none" strike="noStrike" kern="0" cap="none" spc="0" normalizeH="0" baseline="0" noProof="0" dirty="0">
                    <a:ln>
                      <a:noFill/>
                    </a:ln>
                    <a:solidFill>
                      <a:prstClr val="black"/>
                    </a:solidFill>
                    <a:effectLst/>
                    <a:uLnTx/>
                    <a:uFillTx/>
                    <a:cs typeface="Arial" panose="020B0604020202020204" pitchFamily="34" charset="0"/>
                  </a:rPr>
                  <a:t>Buffy Coat</a:t>
                </a:r>
              </a:p>
            </p:txBody>
          </p:sp>
        </p:grpSp>
        <p:grpSp>
          <p:nvGrpSpPr>
            <p:cNvPr id="41" name="Groupe 40">
              <a:extLst>
                <a:ext uri="{FF2B5EF4-FFF2-40B4-BE49-F238E27FC236}">
                  <a16:creationId xmlns:a16="http://schemas.microsoft.com/office/drawing/2014/main" id="{BB259D44-6138-4687-8C38-CA971C348F59}"/>
                </a:ext>
              </a:extLst>
            </p:cNvPr>
            <p:cNvGrpSpPr/>
            <p:nvPr/>
          </p:nvGrpSpPr>
          <p:grpSpPr>
            <a:xfrm>
              <a:off x="14583683" y="12098488"/>
              <a:ext cx="1868400" cy="1013622"/>
              <a:chOff x="14461796" y="11671721"/>
              <a:chExt cx="1868400" cy="1013622"/>
            </a:xfrm>
          </p:grpSpPr>
          <p:grpSp>
            <p:nvGrpSpPr>
              <p:cNvPr id="36" name="Groupe 35">
                <a:extLst>
                  <a:ext uri="{FF2B5EF4-FFF2-40B4-BE49-F238E27FC236}">
                    <a16:creationId xmlns:a16="http://schemas.microsoft.com/office/drawing/2014/main" id="{7D0535B1-6533-46D7-B8CA-7C7F771210FD}"/>
                  </a:ext>
                </a:extLst>
              </p:cNvPr>
              <p:cNvGrpSpPr/>
              <p:nvPr/>
            </p:nvGrpSpPr>
            <p:grpSpPr>
              <a:xfrm>
                <a:off x="14461796" y="11671721"/>
                <a:ext cx="166254" cy="446405"/>
                <a:chOff x="14752684" y="13440363"/>
                <a:chExt cx="166254" cy="446405"/>
              </a:xfrm>
            </p:grpSpPr>
            <p:sp>
              <p:nvSpPr>
                <p:cNvPr id="35" name="Rectangle : coins arrondis 34">
                  <a:extLst>
                    <a:ext uri="{FF2B5EF4-FFF2-40B4-BE49-F238E27FC236}">
                      <a16:creationId xmlns:a16="http://schemas.microsoft.com/office/drawing/2014/main" id="{8B80127B-EB6F-4970-A2CE-D88CE1B22ED4}"/>
                    </a:ext>
                  </a:extLst>
                </p:cNvPr>
                <p:cNvSpPr/>
                <p:nvPr/>
              </p:nvSpPr>
              <p:spPr>
                <a:xfrm>
                  <a:off x="14763811" y="13627906"/>
                  <a:ext cx="144000" cy="2588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14" name="Ellipse 313">
                  <a:extLst>
                    <a:ext uri="{FF2B5EF4-FFF2-40B4-BE49-F238E27FC236}">
                      <a16:creationId xmlns:a16="http://schemas.microsoft.com/office/drawing/2014/main" id="{606E3691-B67F-42F0-ADB8-B7843ED3EF8B}"/>
                    </a:ext>
                  </a:extLst>
                </p:cNvPr>
                <p:cNvSpPr/>
                <p:nvPr/>
              </p:nvSpPr>
              <p:spPr>
                <a:xfrm>
                  <a:off x="14752684" y="13440363"/>
                  <a:ext cx="166254" cy="1569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grpSp>
            <p:nvGrpSpPr>
              <p:cNvPr id="315" name="Groupe 314">
                <a:extLst>
                  <a:ext uri="{FF2B5EF4-FFF2-40B4-BE49-F238E27FC236}">
                    <a16:creationId xmlns:a16="http://schemas.microsoft.com/office/drawing/2014/main" id="{A480478E-E2B2-468C-B756-E6B79E704276}"/>
                  </a:ext>
                </a:extLst>
              </p:cNvPr>
              <p:cNvGrpSpPr/>
              <p:nvPr/>
            </p:nvGrpSpPr>
            <p:grpSpPr>
              <a:xfrm>
                <a:off x="14931281" y="11671721"/>
                <a:ext cx="166254" cy="446405"/>
                <a:chOff x="14752684" y="13440363"/>
                <a:chExt cx="166254" cy="446405"/>
              </a:xfrm>
            </p:grpSpPr>
            <p:sp>
              <p:nvSpPr>
                <p:cNvPr id="316" name="Rectangle : coins arrondis 315">
                  <a:extLst>
                    <a:ext uri="{FF2B5EF4-FFF2-40B4-BE49-F238E27FC236}">
                      <a16:creationId xmlns:a16="http://schemas.microsoft.com/office/drawing/2014/main" id="{B0AEDF35-657D-4FB9-B197-D717A65CDCAF}"/>
                    </a:ext>
                  </a:extLst>
                </p:cNvPr>
                <p:cNvSpPr/>
                <p:nvPr/>
              </p:nvSpPr>
              <p:spPr>
                <a:xfrm>
                  <a:off x="14763811" y="13627906"/>
                  <a:ext cx="144000" cy="2588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17" name="Ellipse 316">
                  <a:extLst>
                    <a:ext uri="{FF2B5EF4-FFF2-40B4-BE49-F238E27FC236}">
                      <a16:creationId xmlns:a16="http://schemas.microsoft.com/office/drawing/2014/main" id="{430EA5C0-08FB-46AB-8919-EA9E00ABC3C2}"/>
                    </a:ext>
                  </a:extLst>
                </p:cNvPr>
                <p:cNvSpPr/>
                <p:nvPr/>
              </p:nvSpPr>
              <p:spPr>
                <a:xfrm>
                  <a:off x="14752684" y="13440363"/>
                  <a:ext cx="166254" cy="1569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grpSp>
            <p:nvGrpSpPr>
              <p:cNvPr id="318" name="Groupe 317">
                <a:extLst>
                  <a:ext uri="{FF2B5EF4-FFF2-40B4-BE49-F238E27FC236}">
                    <a16:creationId xmlns:a16="http://schemas.microsoft.com/office/drawing/2014/main" id="{4D8D00AB-0025-408B-8F41-2E9F1617E261}"/>
                  </a:ext>
                </a:extLst>
              </p:cNvPr>
              <p:cNvGrpSpPr/>
              <p:nvPr/>
            </p:nvGrpSpPr>
            <p:grpSpPr>
              <a:xfrm>
                <a:off x="15334277" y="11671721"/>
                <a:ext cx="166254" cy="446405"/>
                <a:chOff x="14752684" y="13440363"/>
                <a:chExt cx="166254" cy="446405"/>
              </a:xfrm>
              <a:solidFill>
                <a:srgbClr val="FF99CC"/>
              </a:solidFill>
            </p:grpSpPr>
            <p:sp>
              <p:nvSpPr>
                <p:cNvPr id="319" name="Rectangle : coins arrondis 318">
                  <a:extLst>
                    <a:ext uri="{FF2B5EF4-FFF2-40B4-BE49-F238E27FC236}">
                      <a16:creationId xmlns:a16="http://schemas.microsoft.com/office/drawing/2014/main" id="{25D51D66-9ED3-4B33-A981-90267EB69BEA}"/>
                    </a:ext>
                  </a:extLst>
                </p:cNvPr>
                <p:cNvSpPr/>
                <p:nvPr/>
              </p:nvSpPr>
              <p:spPr>
                <a:xfrm>
                  <a:off x="14763811" y="13627906"/>
                  <a:ext cx="144000" cy="25886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20" name="Ellipse 319">
                  <a:extLst>
                    <a:ext uri="{FF2B5EF4-FFF2-40B4-BE49-F238E27FC236}">
                      <a16:creationId xmlns:a16="http://schemas.microsoft.com/office/drawing/2014/main" id="{F83FFB83-0BBD-40C1-95BF-394211863824}"/>
                    </a:ext>
                  </a:extLst>
                </p:cNvPr>
                <p:cNvSpPr/>
                <p:nvPr/>
              </p:nvSpPr>
              <p:spPr>
                <a:xfrm>
                  <a:off x="14752684" y="13440363"/>
                  <a:ext cx="166254" cy="15697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grpSp>
            <p:nvGrpSpPr>
              <p:cNvPr id="321" name="Groupe 320">
                <a:extLst>
                  <a:ext uri="{FF2B5EF4-FFF2-40B4-BE49-F238E27FC236}">
                    <a16:creationId xmlns:a16="http://schemas.microsoft.com/office/drawing/2014/main" id="{CA570308-F261-42BA-BC38-50A552337552}"/>
                  </a:ext>
                </a:extLst>
              </p:cNvPr>
              <p:cNvGrpSpPr/>
              <p:nvPr/>
            </p:nvGrpSpPr>
            <p:grpSpPr>
              <a:xfrm>
                <a:off x="15733274" y="11671721"/>
                <a:ext cx="166254" cy="446405"/>
                <a:chOff x="14752684" y="13440363"/>
                <a:chExt cx="166254" cy="446405"/>
              </a:xfrm>
              <a:solidFill>
                <a:srgbClr val="FF99CC"/>
              </a:solidFill>
            </p:grpSpPr>
            <p:sp>
              <p:nvSpPr>
                <p:cNvPr id="322" name="Rectangle : coins arrondis 321">
                  <a:extLst>
                    <a:ext uri="{FF2B5EF4-FFF2-40B4-BE49-F238E27FC236}">
                      <a16:creationId xmlns:a16="http://schemas.microsoft.com/office/drawing/2014/main" id="{38CD85E1-7689-4CC8-A21C-91EF59A4F053}"/>
                    </a:ext>
                  </a:extLst>
                </p:cNvPr>
                <p:cNvSpPr/>
                <p:nvPr/>
              </p:nvSpPr>
              <p:spPr>
                <a:xfrm>
                  <a:off x="14763811" y="13627906"/>
                  <a:ext cx="144000" cy="25886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23" name="Ellipse 322">
                  <a:extLst>
                    <a:ext uri="{FF2B5EF4-FFF2-40B4-BE49-F238E27FC236}">
                      <a16:creationId xmlns:a16="http://schemas.microsoft.com/office/drawing/2014/main" id="{E725A8AF-BA98-473D-8FB7-F036F4D5B168}"/>
                    </a:ext>
                  </a:extLst>
                </p:cNvPr>
                <p:cNvSpPr/>
                <p:nvPr/>
              </p:nvSpPr>
              <p:spPr>
                <a:xfrm>
                  <a:off x="14752684" y="13440363"/>
                  <a:ext cx="166254" cy="15697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grpSp>
            <p:nvGrpSpPr>
              <p:cNvPr id="324" name="Groupe 323">
                <a:extLst>
                  <a:ext uri="{FF2B5EF4-FFF2-40B4-BE49-F238E27FC236}">
                    <a16:creationId xmlns:a16="http://schemas.microsoft.com/office/drawing/2014/main" id="{52AC2253-E9DC-4B0F-A689-BC0103458A0A}"/>
                  </a:ext>
                </a:extLst>
              </p:cNvPr>
              <p:cNvGrpSpPr/>
              <p:nvPr/>
            </p:nvGrpSpPr>
            <p:grpSpPr>
              <a:xfrm>
                <a:off x="16163942" y="11671721"/>
                <a:ext cx="166254" cy="446405"/>
                <a:chOff x="14752684" y="13440363"/>
                <a:chExt cx="166254" cy="446405"/>
              </a:xfrm>
              <a:solidFill>
                <a:srgbClr val="FF99CC"/>
              </a:solidFill>
            </p:grpSpPr>
            <p:sp>
              <p:nvSpPr>
                <p:cNvPr id="325" name="Rectangle : coins arrondis 324">
                  <a:extLst>
                    <a:ext uri="{FF2B5EF4-FFF2-40B4-BE49-F238E27FC236}">
                      <a16:creationId xmlns:a16="http://schemas.microsoft.com/office/drawing/2014/main" id="{081FF26A-B29A-4D52-90D2-E196BC90343F}"/>
                    </a:ext>
                  </a:extLst>
                </p:cNvPr>
                <p:cNvSpPr/>
                <p:nvPr/>
              </p:nvSpPr>
              <p:spPr>
                <a:xfrm>
                  <a:off x="14763811" y="13627906"/>
                  <a:ext cx="144000" cy="25886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26" name="Ellipse 325">
                  <a:extLst>
                    <a:ext uri="{FF2B5EF4-FFF2-40B4-BE49-F238E27FC236}">
                      <a16:creationId xmlns:a16="http://schemas.microsoft.com/office/drawing/2014/main" id="{B116A4B9-4B3E-4440-BF5B-BF85E2052B87}"/>
                    </a:ext>
                  </a:extLst>
                </p:cNvPr>
                <p:cNvSpPr/>
                <p:nvPr/>
              </p:nvSpPr>
              <p:spPr>
                <a:xfrm>
                  <a:off x="14752684" y="13440363"/>
                  <a:ext cx="166254" cy="15697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grpSp>
            <p:nvGrpSpPr>
              <p:cNvPr id="327" name="Groupe 326">
                <a:extLst>
                  <a:ext uri="{FF2B5EF4-FFF2-40B4-BE49-F238E27FC236}">
                    <a16:creationId xmlns:a16="http://schemas.microsoft.com/office/drawing/2014/main" id="{26051B51-226F-49F5-A452-27AA07643880}"/>
                  </a:ext>
                </a:extLst>
              </p:cNvPr>
              <p:cNvGrpSpPr/>
              <p:nvPr/>
            </p:nvGrpSpPr>
            <p:grpSpPr>
              <a:xfrm>
                <a:off x="14461796" y="12238938"/>
                <a:ext cx="166254" cy="446405"/>
                <a:chOff x="14752684" y="13440363"/>
                <a:chExt cx="166254" cy="446405"/>
              </a:xfrm>
            </p:grpSpPr>
            <p:sp>
              <p:nvSpPr>
                <p:cNvPr id="328" name="Rectangle : coins arrondis 327">
                  <a:extLst>
                    <a:ext uri="{FF2B5EF4-FFF2-40B4-BE49-F238E27FC236}">
                      <a16:creationId xmlns:a16="http://schemas.microsoft.com/office/drawing/2014/main" id="{01342A28-44C7-4061-A686-FA2429894F16}"/>
                    </a:ext>
                  </a:extLst>
                </p:cNvPr>
                <p:cNvSpPr/>
                <p:nvPr/>
              </p:nvSpPr>
              <p:spPr>
                <a:xfrm>
                  <a:off x="14763811" y="13627906"/>
                  <a:ext cx="144000" cy="2588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29" name="Ellipse 328">
                  <a:extLst>
                    <a:ext uri="{FF2B5EF4-FFF2-40B4-BE49-F238E27FC236}">
                      <a16:creationId xmlns:a16="http://schemas.microsoft.com/office/drawing/2014/main" id="{C4607F64-4A62-44F5-8155-9B42A48DC981}"/>
                    </a:ext>
                  </a:extLst>
                </p:cNvPr>
                <p:cNvSpPr/>
                <p:nvPr/>
              </p:nvSpPr>
              <p:spPr>
                <a:xfrm>
                  <a:off x="14752684" y="13440363"/>
                  <a:ext cx="166254" cy="1569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grpSp>
            <p:nvGrpSpPr>
              <p:cNvPr id="330" name="Groupe 329">
                <a:extLst>
                  <a:ext uri="{FF2B5EF4-FFF2-40B4-BE49-F238E27FC236}">
                    <a16:creationId xmlns:a16="http://schemas.microsoft.com/office/drawing/2014/main" id="{7C3B7AB6-0CD8-4111-81C1-B746665F1145}"/>
                  </a:ext>
                </a:extLst>
              </p:cNvPr>
              <p:cNvGrpSpPr/>
              <p:nvPr/>
            </p:nvGrpSpPr>
            <p:grpSpPr>
              <a:xfrm>
                <a:off x="14931281" y="12238938"/>
                <a:ext cx="166254" cy="446405"/>
                <a:chOff x="14752684" y="13440363"/>
                <a:chExt cx="166254" cy="446405"/>
              </a:xfrm>
            </p:grpSpPr>
            <p:sp>
              <p:nvSpPr>
                <p:cNvPr id="331" name="Rectangle : coins arrondis 330">
                  <a:extLst>
                    <a:ext uri="{FF2B5EF4-FFF2-40B4-BE49-F238E27FC236}">
                      <a16:creationId xmlns:a16="http://schemas.microsoft.com/office/drawing/2014/main" id="{51D77653-B296-4DCC-B18F-A523B7A6F5C9}"/>
                    </a:ext>
                  </a:extLst>
                </p:cNvPr>
                <p:cNvSpPr/>
                <p:nvPr/>
              </p:nvSpPr>
              <p:spPr>
                <a:xfrm>
                  <a:off x="14763811" y="13627906"/>
                  <a:ext cx="144000" cy="2588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32" name="Ellipse 331">
                  <a:extLst>
                    <a:ext uri="{FF2B5EF4-FFF2-40B4-BE49-F238E27FC236}">
                      <a16:creationId xmlns:a16="http://schemas.microsoft.com/office/drawing/2014/main" id="{F5B16DE7-88BA-470A-BCBF-C909E8E55F14}"/>
                    </a:ext>
                  </a:extLst>
                </p:cNvPr>
                <p:cNvSpPr/>
                <p:nvPr/>
              </p:nvSpPr>
              <p:spPr>
                <a:xfrm>
                  <a:off x="14752684" y="13440363"/>
                  <a:ext cx="166254" cy="1569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grpSp>
            <p:nvGrpSpPr>
              <p:cNvPr id="333" name="Groupe 332">
                <a:extLst>
                  <a:ext uri="{FF2B5EF4-FFF2-40B4-BE49-F238E27FC236}">
                    <a16:creationId xmlns:a16="http://schemas.microsoft.com/office/drawing/2014/main" id="{1EBD2857-7106-4D7F-9F23-85AB69BD9255}"/>
                  </a:ext>
                </a:extLst>
              </p:cNvPr>
              <p:cNvGrpSpPr/>
              <p:nvPr/>
            </p:nvGrpSpPr>
            <p:grpSpPr>
              <a:xfrm>
                <a:off x="15334277" y="12238938"/>
                <a:ext cx="166254" cy="446405"/>
                <a:chOff x="14752684" y="13440363"/>
                <a:chExt cx="166254" cy="446405"/>
              </a:xfrm>
            </p:grpSpPr>
            <p:sp>
              <p:nvSpPr>
                <p:cNvPr id="334" name="Rectangle : coins arrondis 333">
                  <a:extLst>
                    <a:ext uri="{FF2B5EF4-FFF2-40B4-BE49-F238E27FC236}">
                      <a16:creationId xmlns:a16="http://schemas.microsoft.com/office/drawing/2014/main" id="{2A83998B-A8F6-422B-8C56-A005D8565794}"/>
                    </a:ext>
                  </a:extLst>
                </p:cNvPr>
                <p:cNvSpPr/>
                <p:nvPr/>
              </p:nvSpPr>
              <p:spPr>
                <a:xfrm>
                  <a:off x="14763811" y="13627906"/>
                  <a:ext cx="144000" cy="2588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35" name="Ellipse 334">
                  <a:extLst>
                    <a:ext uri="{FF2B5EF4-FFF2-40B4-BE49-F238E27FC236}">
                      <a16:creationId xmlns:a16="http://schemas.microsoft.com/office/drawing/2014/main" id="{20154BE0-4E2C-40E9-BA5F-B724C04DD17F}"/>
                    </a:ext>
                  </a:extLst>
                </p:cNvPr>
                <p:cNvSpPr/>
                <p:nvPr/>
              </p:nvSpPr>
              <p:spPr>
                <a:xfrm>
                  <a:off x="14752684" y="13440363"/>
                  <a:ext cx="166254" cy="1569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grpSp>
            <p:nvGrpSpPr>
              <p:cNvPr id="336" name="Groupe 335">
                <a:extLst>
                  <a:ext uri="{FF2B5EF4-FFF2-40B4-BE49-F238E27FC236}">
                    <a16:creationId xmlns:a16="http://schemas.microsoft.com/office/drawing/2014/main" id="{32C61087-F88B-41B9-850A-1A6150052A0D}"/>
                  </a:ext>
                </a:extLst>
              </p:cNvPr>
              <p:cNvGrpSpPr/>
              <p:nvPr/>
            </p:nvGrpSpPr>
            <p:grpSpPr>
              <a:xfrm>
                <a:off x="15733274" y="12238938"/>
                <a:ext cx="166254" cy="446405"/>
                <a:chOff x="14752684" y="13440363"/>
                <a:chExt cx="166254" cy="446405"/>
              </a:xfrm>
            </p:grpSpPr>
            <p:sp>
              <p:nvSpPr>
                <p:cNvPr id="337" name="Rectangle : coins arrondis 336">
                  <a:extLst>
                    <a:ext uri="{FF2B5EF4-FFF2-40B4-BE49-F238E27FC236}">
                      <a16:creationId xmlns:a16="http://schemas.microsoft.com/office/drawing/2014/main" id="{BEF72F63-8849-476C-9404-CAE609A8184A}"/>
                    </a:ext>
                  </a:extLst>
                </p:cNvPr>
                <p:cNvSpPr/>
                <p:nvPr/>
              </p:nvSpPr>
              <p:spPr>
                <a:xfrm>
                  <a:off x="14763811" y="13627906"/>
                  <a:ext cx="144000" cy="2588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38" name="Ellipse 337">
                  <a:extLst>
                    <a:ext uri="{FF2B5EF4-FFF2-40B4-BE49-F238E27FC236}">
                      <a16:creationId xmlns:a16="http://schemas.microsoft.com/office/drawing/2014/main" id="{D5262C63-B981-4CD5-97BF-3A02F72FB210}"/>
                    </a:ext>
                  </a:extLst>
                </p:cNvPr>
                <p:cNvSpPr/>
                <p:nvPr/>
              </p:nvSpPr>
              <p:spPr>
                <a:xfrm>
                  <a:off x="14752684" y="13440363"/>
                  <a:ext cx="166254" cy="1569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grpSp>
            <p:nvGrpSpPr>
              <p:cNvPr id="339" name="Groupe 338">
                <a:extLst>
                  <a:ext uri="{FF2B5EF4-FFF2-40B4-BE49-F238E27FC236}">
                    <a16:creationId xmlns:a16="http://schemas.microsoft.com/office/drawing/2014/main" id="{FA96B82C-24BC-420C-BCBC-6FCC7A762AAD}"/>
                  </a:ext>
                </a:extLst>
              </p:cNvPr>
              <p:cNvGrpSpPr/>
              <p:nvPr/>
            </p:nvGrpSpPr>
            <p:grpSpPr>
              <a:xfrm>
                <a:off x="16163942" y="12238938"/>
                <a:ext cx="166254" cy="446405"/>
                <a:chOff x="14752684" y="13440363"/>
                <a:chExt cx="166254" cy="446405"/>
              </a:xfrm>
            </p:grpSpPr>
            <p:sp>
              <p:nvSpPr>
                <p:cNvPr id="340" name="Rectangle : coins arrondis 339">
                  <a:extLst>
                    <a:ext uri="{FF2B5EF4-FFF2-40B4-BE49-F238E27FC236}">
                      <a16:creationId xmlns:a16="http://schemas.microsoft.com/office/drawing/2014/main" id="{8C2C6D04-1F56-4AC9-9339-3D857CF69956}"/>
                    </a:ext>
                  </a:extLst>
                </p:cNvPr>
                <p:cNvSpPr/>
                <p:nvPr/>
              </p:nvSpPr>
              <p:spPr>
                <a:xfrm>
                  <a:off x="14763811" y="13627906"/>
                  <a:ext cx="144000" cy="2588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41" name="Ellipse 340">
                  <a:extLst>
                    <a:ext uri="{FF2B5EF4-FFF2-40B4-BE49-F238E27FC236}">
                      <a16:creationId xmlns:a16="http://schemas.microsoft.com/office/drawing/2014/main" id="{780B450E-E2FA-44FB-A128-1687F10A9728}"/>
                    </a:ext>
                  </a:extLst>
                </p:cNvPr>
                <p:cNvSpPr/>
                <p:nvPr/>
              </p:nvSpPr>
              <p:spPr>
                <a:xfrm>
                  <a:off x="14752684" y="13440363"/>
                  <a:ext cx="166254" cy="1569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grpSp>
        <p:grpSp>
          <p:nvGrpSpPr>
            <p:cNvPr id="40" name="Groupe 39">
              <a:extLst>
                <a:ext uri="{FF2B5EF4-FFF2-40B4-BE49-F238E27FC236}">
                  <a16:creationId xmlns:a16="http://schemas.microsoft.com/office/drawing/2014/main" id="{94676909-954D-47FB-A5BC-571B226231AB}"/>
                </a:ext>
              </a:extLst>
            </p:cNvPr>
            <p:cNvGrpSpPr/>
            <p:nvPr/>
          </p:nvGrpSpPr>
          <p:grpSpPr>
            <a:xfrm>
              <a:off x="14611971" y="14288961"/>
              <a:ext cx="1868400" cy="1013622"/>
              <a:chOff x="14488592" y="13763755"/>
              <a:chExt cx="1868400" cy="1013622"/>
            </a:xfrm>
          </p:grpSpPr>
          <p:grpSp>
            <p:nvGrpSpPr>
              <p:cNvPr id="343" name="Groupe 342">
                <a:extLst>
                  <a:ext uri="{FF2B5EF4-FFF2-40B4-BE49-F238E27FC236}">
                    <a16:creationId xmlns:a16="http://schemas.microsoft.com/office/drawing/2014/main" id="{B9CD96BA-3E8A-42EA-B757-7E1039AF89AE}"/>
                  </a:ext>
                </a:extLst>
              </p:cNvPr>
              <p:cNvGrpSpPr/>
              <p:nvPr/>
            </p:nvGrpSpPr>
            <p:grpSpPr>
              <a:xfrm>
                <a:off x="14488592" y="13763755"/>
                <a:ext cx="166254" cy="446405"/>
                <a:chOff x="14752684" y="13440363"/>
                <a:chExt cx="166254" cy="446405"/>
              </a:xfrm>
              <a:solidFill>
                <a:srgbClr val="FF99CC"/>
              </a:solidFill>
            </p:grpSpPr>
            <p:sp>
              <p:nvSpPr>
                <p:cNvPr id="441" name="Rectangle : coins arrondis 440">
                  <a:extLst>
                    <a:ext uri="{FF2B5EF4-FFF2-40B4-BE49-F238E27FC236}">
                      <a16:creationId xmlns:a16="http://schemas.microsoft.com/office/drawing/2014/main" id="{C03B115A-8758-415B-9ED5-E4D1700E1B92}"/>
                    </a:ext>
                  </a:extLst>
                </p:cNvPr>
                <p:cNvSpPr/>
                <p:nvPr/>
              </p:nvSpPr>
              <p:spPr>
                <a:xfrm>
                  <a:off x="14763811" y="13627906"/>
                  <a:ext cx="144000" cy="25886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42" name="Ellipse 441">
                  <a:extLst>
                    <a:ext uri="{FF2B5EF4-FFF2-40B4-BE49-F238E27FC236}">
                      <a16:creationId xmlns:a16="http://schemas.microsoft.com/office/drawing/2014/main" id="{5D87AD7B-0D60-4246-B6B0-B6CD7C28C7DB}"/>
                    </a:ext>
                  </a:extLst>
                </p:cNvPr>
                <p:cNvSpPr/>
                <p:nvPr/>
              </p:nvSpPr>
              <p:spPr>
                <a:xfrm>
                  <a:off x="14752684" y="13440363"/>
                  <a:ext cx="166254" cy="15697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grpSp>
            <p:nvGrpSpPr>
              <p:cNvPr id="344" name="Groupe 343">
                <a:extLst>
                  <a:ext uri="{FF2B5EF4-FFF2-40B4-BE49-F238E27FC236}">
                    <a16:creationId xmlns:a16="http://schemas.microsoft.com/office/drawing/2014/main" id="{DED1F5C2-EE13-4536-9D99-F8F2F17E8377}"/>
                  </a:ext>
                </a:extLst>
              </p:cNvPr>
              <p:cNvGrpSpPr/>
              <p:nvPr/>
            </p:nvGrpSpPr>
            <p:grpSpPr>
              <a:xfrm>
                <a:off x="14958077" y="13763755"/>
                <a:ext cx="166254" cy="446405"/>
                <a:chOff x="14752684" y="13440363"/>
                <a:chExt cx="166254" cy="446405"/>
              </a:xfrm>
              <a:solidFill>
                <a:srgbClr val="FF99CC"/>
              </a:solidFill>
            </p:grpSpPr>
            <p:sp>
              <p:nvSpPr>
                <p:cNvPr id="439" name="Rectangle : coins arrondis 438">
                  <a:extLst>
                    <a:ext uri="{FF2B5EF4-FFF2-40B4-BE49-F238E27FC236}">
                      <a16:creationId xmlns:a16="http://schemas.microsoft.com/office/drawing/2014/main" id="{E42E52B6-9BFB-4D0D-B568-33DFFCB192D1}"/>
                    </a:ext>
                  </a:extLst>
                </p:cNvPr>
                <p:cNvSpPr/>
                <p:nvPr/>
              </p:nvSpPr>
              <p:spPr>
                <a:xfrm>
                  <a:off x="14763811" y="13627906"/>
                  <a:ext cx="144000" cy="25886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40" name="Ellipse 439">
                  <a:extLst>
                    <a:ext uri="{FF2B5EF4-FFF2-40B4-BE49-F238E27FC236}">
                      <a16:creationId xmlns:a16="http://schemas.microsoft.com/office/drawing/2014/main" id="{7F02081D-6F6B-40B4-ACB6-388A3DF4EA39}"/>
                    </a:ext>
                  </a:extLst>
                </p:cNvPr>
                <p:cNvSpPr/>
                <p:nvPr/>
              </p:nvSpPr>
              <p:spPr>
                <a:xfrm>
                  <a:off x="14752684" y="13440363"/>
                  <a:ext cx="166254" cy="15697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grpSp>
            <p:nvGrpSpPr>
              <p:cNvPr id="345" name="Groupe 344">
                <a:extLst>
                  <a:ext uri="{FF2B5EF4-FFF2-40B4-BE49-F238E27FC236}">
                    <a16:creationId xmlns:a16="http://schemas.microsoft.com/office/drawing/2014/main" id="{FA15EB10-05FC-403C-9B02-FB064355551C}"/>
                  </a:ext>
                </a:extLst>
              </p:cNvPr>
              <p:cNvGrpSpPr/>
              <p:nvPr/>
            </p:nvGrpSpPr>
            <p:grpSpPr>
              <a:xfrm>
                <a:off x="15361073" y="13763755"/>
                <a:ext cx="166254" cy="446405"/>
                <a:chOff x="14752684" y="13440363"/>
                <a:chExt cx="166254" cy="446405"/>
              </a:xfrm>
              <a:solidFill>
                <a:srgbClr val="FF99CC"/>
              </a:solidFill>
            </p:grpSpPr>
            <p:sp>
              <p:nvSpPr>
                <p:cNvPr id="437" name="Rectangle : coins arrondis 436">
                  <a:extLst>
                    <a:ext uri="{FF2B5EF4-FFF2-40B4-BE49-F238E27FC236}">
                      <a16:creationId xmlns:a16="http://schemas.microsoft.com/office/drawing/2014/main" id="{6264B01D-4C71-4D33-A06D-5B4221BBAE94}"/>
                    </a:ext>
                  </a:extLst>
                </p:cNvPr>
                <p:cNvSpPr/>
                <p:nvPr/>
              </p:nvSpPr>
              <p:spPr>
                <a:xfrm>
                  <a:off x="14763811" y="13627906"/>
                  <a:ext cx="144000" cy="25886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38" name="Ellipse 437">
                  <a:extLst>
                    <a:ext uri="{FF2B5EF4-FFF2-40B4-BE49-F238E27FC236}">
                      <a16:creationId xmlns:a16="http://schemas.microsoft.com/office/drawing/2014/main" id="{04CED178-F3D3-4577-8F58-D32AD9A63EC7}"/>
                    </a:ext>
                  </a:extLst>
                </p:cNvPr>
                <p:cNvSpPr/>
                <p:nvPr/>
              </p:nvSpPr>
              <p:spPr>
                <a:xfrm>
                  <a:off x="14752684" y="13440363"/>
                  <a:ext cx="166254" cy="15697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grpSp>
            <p:nvGrpSpPr>
              <p:cNvPr id="346" name="Groupe 345">
                <a:extLst>
                  <a:ext uri="{FF2B5EF4-FFF2-40B4-BE49-F238E27FC236}">
                    <a16:creationId xmlns:a16="http://schemas.microsoft.com/office/drawing/2014/main" id="{BA5F61C7-E35D-463B-ADB9-65A3418D9C8C}"/>
                  </a:ext>
                </a:extLst>
              </p:cNvPr>
              <p:cNvGrpSpPr/>
              <p:nvPr/>
            </p:nvGrpSpPr>
            <p:grpSpPr>
              <a:xfrm>
                <a:off x="15760070" y="13763755"/>
                <a:ext cx="166254" cy="446405"/>
                <a:chOff x="14752684" y="13440363"/>
                <a:chExt cx="166254" cy="446405"/>
              </a:xfrm>
            </p:grpSpPr>
            <p:sp>
              <p:nvSpPr>
                <p:cNvPr id="435" name="Rectangle : coins arrondis 434">
                  <a:extLst>
                    <a:ext uri="{FF2B5EF4-FFF2-40B4-BE49-F238E27FC236}">
                      <a16:creationId xmlns:a16="http://schemas.microsoft.com/office/drawing/2014/main" id="{4731629E-F311-4120-9D56-7EF27B7A07EA}"/>
                    </a:ext>
                  </a:extLst>
                </p:cNvPr>
                <p:cNvSpPr/>
                <p:nvPr/>
              </p:nvSpPr>
              <p:spPr>
                <a:xfrm>
                  <a:off x="14763811" y="13627906"/>
                  <a:ext cx="144000" cy="2588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36" name="Ellipse 435">
                  <a:extLst>
                    <a:ext uri="{FF2B5EF4-FFF2-40B4-BE49-F238E27FC236}">
                      <a16:creationId xmlns:a16="http://schemas.microsoft.com/office/drawing/2014/main" id="{353C4D08-0C0C-4C6B-811E-140809D02684}"/>
                    </a:ext>
                  </a:extLst>
                </p:cNvPr>
                <p:cNvSpPr/>
                <p:nvPr/>
              </p:nvSpPr>
              <p:spPr>
                <a:xfrm>
                  <a:off x="14752684" y="13440363"/>
                  <a:ext cx="166254" cy="1569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grpSp>
            <p:nvGrpSpPr>
              <p:cNvPr id="347" name="Groupe 346">
                <a:extLst>
                  <a:ext uri="{FF2B5EF4-FFF2-40B4-BE49-F238E27FC236}">
                    <a16:creationId xmlns:a16="http://schemas.microsoft.com/office/drawing/2014/main" id="{82569441-CB22-4F94-96EB-50BFDEE81EE5}"/>
                  </a:ext>
                </a:extLst>
              </p:cNvPr>
              <p:cNvGrpSpPr/>
              <p:nvPr/>
            </p:nvGrpSpPr>
            <p:grpSpPr>
              <a:xfrm>
                <a:off x="16190738" y="13763755"/>
                <a:ext cx="166254" cy="446405"/>
                <a:chOff x="14752684" y="13440363"/>
                <a:chExt cx="166254" cy="446405"/>
              </a:xfrm>
            </p:grpSpPr>
            <p:sp>
              <p:nvSpPr>
                <p:cNvPr id="433" name="Rectangle : coins arrondis 432">
                  <a:extLst>
                    <a:ext uri="{FF2B5EF4-FFF2-40B4-BE49-F238E27FC236}">
                      <a16:creationId xmlns:a16="http://schemas.microsoft.com/office/drawing/2014/main" id="{02BDADD0-D8F2-4B9A-A3A2-7244AA8A12E5}"/>
                    </a:ext>
                  </a:extLst>
                </p:cNvPr>
                <p:cNvSpPr/>
                <p:nvPr/>
              </p:nvSpPr>
              <p:spPr>
                <a:xfrm>
                  <a:off x="14763811" y="13627906"/>
                  <a:ext cx="144000" cy="25886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34" name="Ellipse 433">
                  <a:extLst>
                    <a:ext uri="{FF2B5EF4-FFF2-40B4-BE49-F238E27FC236}">
                      <a16:creationId xmlns:a16="http://schemas.microsoft.com/office/drawing/2014/main" id="{6055B8CC-C171-4FA8-B516-349256050FFE}"/>
                    </a:ext>
                  </a:extLst>
                </p:cNvPr>
                <p:cNvSpPr/>
                <p:nvPr/>
              </p:nvSpPr>
              <p:spPr>
                <a:xfrm>
                  <a:off x="14752684" y="13440363"/>
                  <a:ext cx="166254" cy="15697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grpSp>
            <p:nvGrpSpPr>
              <p:cNvPr id="348" name="Groupe 347">
                <a:extLst>
                  <a:ext uri="{FF2B5EF4-FFF2-40B4-BE49-F238E27FC236}">
                    <a16:creationId xmlns:a16="http://schemas.microsoft.com/office/drawing/2014/main" id="{47C018FF-EBBC-43CA-887E-9658693EE020}"/>
                  </a:ext>
                </a:extLst>
              </p:cNvPr>
              <p:cNvGrpSpPr/>
              <p:nvPr/>
            </p:nvGrpSpPr>
            <p:grpSpPr>
              <a:xfrm>
                <a:off x="14488592" y="14330972"/>
                <a:ext cx="166254" cy="446405"/>
                <a:chOff x="14752684" y="13440363"/>
                <a:chExt cx="166254" cy="446405"/>
              </a:xfrm>
              <a:solidFill>
                <a:srgbClr val="FF99CC"/>
              </a:solidFill>
            </p:grpSpPr>
            <p:sp>
              <p:nvSpPr>
                <p:cNvPr id="431" name="Rectangle : coins arrondis 430">
                  <a:extLst>
                    <a:ext uri="{FF2B5EF4-FFF2-40B4-BE49-F238E27FC236}">
                      <a16:creationId xmlns:a16="http://schemas.microsoft.com/office/drawing/2014/main" id="{CCED1885-F682-4C3C-BDE2-8B83A7222D1B}"/>
                    </a:ext>
                  </a:extLst>
                </p:cNvPr>
                <p:cNvSpPr/>
                <p:nvPr/>
              </p:nvSpPr>
              <p:spPr>
                <a:xfrm>
                  <a:off x="14763811" y="13627906"/>
                  <a:ext cx="144000" cy="25886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32" name="Ellipse 431">
                  <a:extLst>
                    <a:ext uri="{FF2B5EF4-FFF2-40B4-BE49-F238E27FC236}">
                      <a16:creationId xmlns:a16="http://schemas.microsoft.com/office/drawing/2014/main" id="{572349C3-28AE-417C-94D6-EEF986EAF1A9}"/>
                    </a:ext>
                  </a:extLst>
                </p:cNvPr>
                <p:cNvSpPr/>
                <p:nvPr/>
              </p:nvSpPr>
              <p:spPr>
                <a:xfrm>
                  <a:off x="14752684" y="13440363"/>
                  <a:ext cx="166254" cy="15697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grpSp>
            <p:nvGrpSpPr>
              <p:cNvPr id="350" name="Groupe 349">
                <a:extLst>
                  <a:ext uri="{FF2B5EF4-FFF2-40B4-BE49-F238E27FC236}">
                    <a16:creationId xmlns:a16="http://schemas.microsoft.com/office/drawing/2014/main" id="{177719E0-87D0-478B-BA91-2840827BBECC}"/>
                  </a:ext>
                </a:extLst>
              </p:cNvPr>
              <p:cNvGrpSpPr/>
              <p:nvPr/>
            </p:nvGrpSpPr>
            <p:grpSpPr>
              <a:xfrm>
                <a:off x="14958077" y="14330972"/>
                <a:ext cx="166254" cy="446405"/>
                <a:chOff x="14752684" y="13440363"/>
                <a:chExt cx="166254" cy="446405"/>
              </a:xfrm>
              <a:solidFill>
                <a:srgbClr val="FF99CC"/>
              </a:solidFill>
            </p:grpSpPr>
            <p:sp>
              <p:nvSpPr>
                <p:cNvPr id="429" name="Rectangle : coins arrondis 428">
                  <a:extLst>
                    <a:ext uri="{FF2B5EF4-FFF2-40B4-BE49-F238E27FC236}">
                      <a16:creationId xmlns:a16="http://schemas.microsoft.com/office/drawing/2014/main" id="{278FCFA4-BF57-44F8-A847-029843D341AB}"/>
                    </a:ext>
                  </a:extLst>
                </p:cNvPr>
                <p:cNvSpPr/>
                <p:nvPr/>
              </p:nvSpPr>
              <p:spPr>
                <a:xfrm>
                  <a:off x="14763811" y="13627906"/>
                  <a:ext cx="144000" cy="25886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30" name="Ellipse 429">
                  <a:extLst>
                    <a:ext uri="{FF2B5EF4-FFF2-40B4-BE49-F238E27FC236}">
                      <a16:creationId xmlns:a16="http://schemas.microsoft.com/office/drawing/2014/main" id="{226461B9-4CAB-43EA-980B-442FCA62595F}"/>
                    </a:ext>
                  </a:extLst>
                </p:cNvPr>
                <p:cNvSpPr/>
                <p:nvPr/>
              </p:nvSpPr>
              <p:spPr>
                <a:xfrm>
                  <a:off x="14752684" y="13440363"/>
                  <a:ext cx="166254" cy="15697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grpSp>
            <p:nvGrpSpPr>
              <p:cNvPr id="397" name="Groupe 396">
                <a:extLst>
                  <a:ext uri="{FF2B5EF4-FFF2-40B4-BE49-F238E27FC236}">
                    <a16:creationId xmlns:a16="http://schemas.microsoft.com/office/drawing/2014/main" id="{5DE45C86-CF0A-4DB3-B216-E2129F67A381}"/>
                  </a:ext>
                </a:extLst>
              </p:cNvPr>
              <p:cNvGrpSpPr/>
              <p:nvPr/>
            </p:nvGrpSpPr>
            <p:grpSpPr>
              <a:xfrm>
                <a:off x="15361073" y="14330972"/>
                <a:ext cx="166254" cy="446405"/>
                <a:chOff x="14752684" y="13440363"/>
                <a:chExt cx="166254" cy="446405"/>
              </a:xfrm>
              <a:solidFill>
                <a:srgbClr val="FF99CC"/>
              </a:solidFill>
            </p:grpSpPr>
            <p:sp>
              <p:nvSpPr>
                <p:cNvPr id="427" name="Rectangle : coins arrondis 426">
                  <a:extLst>
                    <a:ext uri="{FF2B5EF4-FFF2-40B4-BE49-F238E27FC236}">
                      <a16:creationId xmlns:a16="http://schemas.microsoft.com/office/drawing/2014/main" id="{5B4FD356-3B4D-47AC-BF95-A45A8A317EE4}"/>
                    </a:ext>
                  </a:extLst>
                </p:cNvPr>
                <p:cNvSpPr/>
                <p:nvPr/>
              </p:nvSpPr>
              <p:spPr>
                <a:xfrm>
                  <a:off x="14763811" y="13627906"/>
                  <a:ext cx="144000" cy="25886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28" name="Ellipse 427">
                  <a:extLst>
                    <a:ext uri="{FF2B5EF4-FFF2-40B4-BE49-F238E27FC236}">
                      <a16:creationId xmlns:a16="http://schemas.microsoft.com/office/drawing/2014/main" id="{10797613-912E-4D1A-BE3B-FE7B852BFFC5}"/>
                    </a:ext>
                  </a:extLst>
                </p:cNvPr>
                <p:cNvSpPr/>
                <p:nvPr/>
              </p:nvSpPr>
              <p:spPr>
                <a:xfrm>
                  <a:off x="14752684" y="13440363"/>
                  <a:ext cx="166254" cy="15697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grpSp>
            <p:nvGrpSpPr>
              <p:cNvPr id="405" name="Groupe 404">
                <a:extLst>
                  <a:ext uri="{FF2B5EF4-FFF2-40B4-BE49-F238E27FC236}">
                    <a16:creationId xmlns:a16="http://schemas.microsoft.com/office/drawing/2014/main" id="{FA67DE30-4035-4D22-96EC-7C24AD52AC13}"/>
                  </a:ext>
                </a:extLst>
              </p:cNvPr>
              <p:cNvGrpSpPr/>
              <p:nvPr/>
            </p:nvGrpSpPr>
            <p:grpSpPr>
              <a:xfrm>
                <a:off x="15760070" y="14330972"/>
                <a:ext cx="166254" cy="446405"/>
                <a:chOff x="14752684" y="13440363"/>
                <a:chExt cx="166254" cy="446405"/>
              </a:xfrm>
              <a:solidFill>
                <a:srgbClr val="FF99CC"/>
              </a:solidFill>
            </p:grpSpPr>
            <p:sp>
              <p:nvSpPr>
                <p:cNvPr id="418" name="Rectangle : coins arrondis 417">
                  <a:extLst>
                    <a:ext uri="{FF2B5EF4-FFF2-40B4-BE49-F238E27FC236}">
                      <a16:creationId xmlns:a16="http://schemas.microsoft.com/office/drawing/2014/main" id="{4992990D-83B5-457D-94D4-4868F1B6E498}"/>
                    </a:ext>
                  </a:extLst>
                </p:cNvPr>
                <p:cNvSpPr/>
                <p:nvPr/>
              </p:nvSpPr>
              <p:spPr>
                <a:xfrm>
                  <a:off x="14763811" y="13627906"/>
                  <a:ext cx="144000" cy="25886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26" name="Ellipse 425">
                  <a:extLst>
                    <a:ext uri="{FF2B5EF4-FFF2-40B4-BE49-F238E27FC236}">
                      <a16:creationId xmlns:a16="http://schemas.microsoft.com/office/drawing/2014/main" id="{2B718851-5505-4EAD-9360-14C1985CFE23}"/>
                    </a:ext>
                  </a:extLst>
                </p:cNvPr>
                <p:cNvSpPr/>
                <p:nvPr/>
              </p:nvSpPr>
              <p:spPr>
                <a:xfrm>
                  <a:off x="14752684" y="13440363"/>
                  <a:ext cx="166254" cy="15697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grpSp>
            <p:nvGrpSpPr>
              <p:cNvPr id="410" name="Groupe 409">
                <a:extLst>
                  <a:ext uri="{FF2B5EF4-FFF2-40B4-BE49-F238E27FC236}">
                    <a16:creationId xmlns:a16="http://schemas.microsoft.com/office/drawing/2014/main" id="{0DCE8506-99D7-4C28-948C-7EC3892918B6}"/>
                  </a:ext>
                </a:extLst>
              </p:cNvPr>
              <p:cNvGrpSpPr/>
              <p:nvPr/>
            </p:nvGrpSpPr>
            <p:grpSpPr>
              <a:xfrm>
                <a:off x="16190738" y="14330972"/>
                <a:ext cx="166254" cy="446405"/>
                <a:chOff x="14752684" y="13440363"/>
                <a:chExt cx="166254" cy="446405"/>
              </a:xfrm>
              <a:solidFill>
                <a:srgbClr val="FF99CC"/>
              </a:solidFill>
            </p:grpSpPr>
            <p:sp>
              <p:nvSpPr>
                <p:cNvPr id="411" name="Rectangle : coins arrondis 410">
                  <a:extLst>
                    <a:ext uri="{FF2B5EF4-FFF2-40B4-BE49-F238E27FC236}">
                      <a16:creationId xmlns:a16="http://schemas.microsoft.com/office/drawing/2014/main" id="{7EC80418-94EF-4768-80BC-327E3F856D62}"/>
                    </a:ext>
                  </a:extLst>
                </p:cNvPr>
                <p:cNvSpPr/>
                <p:nvPr/>
              </p:nvSpPr>
              <p:spPr>
                <a:xfrm>
                  <a:off x="14763811" y="13627906"/>
                  <a:ext cx="144000" cy="258862"/>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12" name="Ellipse 411">
                  <a:extLst>
                    <a:ext uri="{FF2B5EF4-FFF2-40B4-BE49-F238E27FC236}">
                      <a16:creationId xmlns:a16="http://schemas.microsoft.com/office/drawing/2014/main" id="{A9E5B975-D86F-497A-8041-B5A4E5F4F6AD}"/>
                    </a:ext>
                  </a:extLst>
                </p:cNvPr>
                <p:cNvSpPr/>
                <p:nvPr/>
              </p:nvSpPr>
              <p:spPr>
                <a:xfrm>
                  <a:off x="14752684" y="13440363"/>
                  <a:ext cx="166254" cy="156978"/>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grpSp>
        <p:grpSp>
          <p:nvGrpSpPr>
            <p:cNvPr id="456" name="Groupe 455">
              <a:extLst>
                <a:ext uri="{FF2B5EF4-FFF2-40B4-BE49-F238E27FC236}">
                  <a16:creationId xmlns:a16="http://schemas.microsoft.com/office/drawing/2014/main" id="{15C743BF-6981-4009-847D-F8C2D09032D4}"/>
                </a:ext>
              </a:extLst>
            </p:cNvPr>
            <p:cNvGrpSpPr/>
            <p:nvPr/>
          </p:nvGrpSpPr>
          <p:grpSpPr>
            <a:xfrm>
              <a:off x="14357078" y="15524173"/>
              <a:ext cx="2544940" cy="668279"/>
              <a:chOff x="14277258" y="15079342"/>
              <a:chExt cx="2544940" cy="668279"/>
            </a:xfrm>
          </p:grpSpPr>
          <p:grpSp>
            <p:nvGrpSpPr>
              <p:cNvPr id="47" name="Groupe 46">
                <a:extLst>
                  <a:ext uri="{FF2B5EF4-FFF2-40B4-BE49-F238E27FC236}">
                    <a16:creationId xmlns:a16="http://schemas.microsoft.com/office/drawing/2014/main" id="{733D8402-6D14-4634-B272-C756D5DECB7E}"/>
                  </a:ext>
                </a:extLst>
              </p:cNvPr>
              <p:cNvGrpSpPr/>
              <p:nvPr/>
            </p:nvGrpSpPr>
            <p:grpSpPr>
              <a:xfrm>
                <a:off x="14277258" y="15079342"/>
                <a:ext cx="2544940" cy="338554"/>
                <a:chOff x="14277258" y="15008113"/>
                <a:chExt cx="2544940" cy="338554"/>
              </a:xfrm>
            </p:grpSpPr>
            <p:sp>
              <p:nvSpPr>
                <p:cNvPr id="444" name="Rectangle : coins arrondis 443">
                  <a:extLst>
                    <a:ext uri="{FF2B5EF4-FFF2-40B4-BE49-F238E27FC236}">
                      <a16:creationId xmlns:a16="http://schemas.microsoft.com/office/drawing/2014/main" id="{1EB8D3CA-01FC-4EF9-9444-66A58A85DF9E}"/>
                    </a:ext>
                  </a:extLst>
                </p:cNvPr>
                <p:cNvSpPr/>
                <p:nvPr/>
              </p:nvSpPr>
              <p:spPr>
                <a:xfrm>
                  <a:off x="14277258" y="15105390"/>
                  <a:ext cx="144000" cy="144000"/>
                </a:xfrm>
                <a:prstGeom prst="roundRect">
                  <a:avLst/>
                </a:prstGeom>
                <a:solidFill>
                  <a:srgbClr val="FF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ZoneTexte 42">
                  <a:extLst>
                    <a:ext uri="{FF2B5EF4-FFF2-40B4-BE49-F238E27FC236}">
                      <a16:creationId xmlns:a16="http://schemas.microsoft.com/office/drawing/2014/main" id="{1CC2E1F5-8407-4B7B-AC47-76848D7D7613}"/>
                    </a:ext>
                  </a:extLst>
                </p:cNvPr>
                <p:cNvSpPr txBox="1"/>
                <p:nvPr/>
              </p:nvSpPr>
              <p:spPr>
                <a:xfrm>
                  <a:off x="14482727" y="15008113"/>
                  <a:ext cx="2339471" cy="338554"/>
                </a:xfrm>
                <a:prstGeom prst="rect">
                  <a:avLst/>
                </a:prstGeom>
                <a:noFill/>
              </p:spPr>
              <p:txBody>
                <a:bodyPr wrap="square" rtlCol="0">
                  <a:spAutoFit/>
                </a:bodyPr>
                <a:lstStyle/>
                <a:p>
                  <a:r>
                    <a:rPr lang="fr-FR" sz="1600" dirty="0"/>
                    <a:t>Females 84% (n=928)</a:t>
                  </a:r>
                </a:p>
              </p:txBody>
            </p:sp>
          </p:grpSp>
          <p:grpSp>
            <p:nvGrpSpPr>
              <p:cNvPr id="48" name="Groupe 47">
                <a:extLst>
                  <a:ext uri="{FF2B5EF4-FFF2-40B4-BE49-F238E27FC236}">
                    <a16:creationId xmlns:a16="http://schemas.microsoft.com/office/drawing/2014/main" id="{99036F14-8212-4614-8CF9-120C2A5A66DF}"/>
                  </a:ext>
                </a:extLst>
              </p:cNvPr>
              <p:cNvGrpSpPr/>
              <p:nvPr/>
            </p:nvGrpSpPr>
            <p:grpSpPr>
              <a:xfrm>
                <a:off x="14277258" y="15409067"/>
                <a:ext cx="2544648" cy="338554"/>
                <a:chOff x="14277258" y="15337838"/>
                <a:chExt cx="2544648" cy="338554"/>
              </a:xfrm>
            </p:grpSpPr>
            <p:sp>
              <p:nvSpPr>
                <p:cNvPr id="445" name="Rectangle : coins arrondis 444">
                  <a:extLst>
                    <a:ext uri="{FF2B5EF4-FFF2-40B4-BE49-F238E27FC236}">
                      <a16:creationId xmlns:a16="http://schemas.microsoft.com/office/drawing/2014/main" id="{AF2E30EE-A968-4A02-BFBA-E0CC0286487F}"/>
                    </a:ext>
                  </a:extLst>
                </p:cNvPr>
                <p:cNvSpPr/>
                <p:nvPr/>
              </p:nvSpPr>
              <p:spPr>
                <a:xfrm>
                  <a:off x="14277258" y="15435115"/>
                  <a:ext cx="144000" cy="144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6" name="ZoneTexte 445">
                  <a:extLst>
                    <a:ext uri="{FF2B5EF4-FFF2-40B4-BE49-F238E27FC236}">
                      <a16:creationId xmlns:a16="http://schemas.microsoft.com/office/drawing/2014/main" id="{546D2D3F-333D-45D8-8854-978309881D74}"/>
                    </a:ext>
                  </a:extLst>
                </p:cNvPr>
                <p:cNvSpPr txBox="1"/>
                <p:nvPr/>
              </p:nvSpPr>
              <p:spPr>
                <a:xfrm>
                  <a:off x="14482435" y="15337838"/>
                  <a:ext cx="2339471" cy="338554"/>
                </a:xfrm>
                <a:prstGeom prst="rect">
                  <a:avLst/>
                </a:prstGeom>
                <a:noFill/>
              </p:spPr>
              <p:txBody>
                <a:bodyPr wrap="square" rtlCol="0">
                  <a:spAutoFit/>
                </a:bodyPr>
                <a:lstStyle/>
                <a:p>
                  <a:r>
                    <a:rPr lang="fr-FR" sz="1600" dirty="0"/>
                    <a:t>Males 16% (n=178)</a:t>
                  </a:r>
                </a:p>
              </p:txBody>
            </p:sp>
          </p:grpSp>
        </p:grpSp>
        <p:grpSp>
          <p:nvGrpSpPr>
            <p:cNvPr id="455" name="Groupe 454">
              <a:extLst>
                <a:ext uri="{FF2B5EF4-FFF2-40B4-BE49-F238E27FC236}">
                  <a16:creationId xmlns:a16="http://schemas.microsoft.com/office/drawing/2014/main" id="{19B715DF-4B0A-4075-9B74-7C6F42E88B19}"/>
                </a:ext>
              </a:extLst>
            </p:cNvPr>
            <p:cNvGrpSpPr/>
            <p:nvPr/>
          </p:nvGrpSpPr>
          <p:grpSpPr>
            <a:xfrm>
              <a:off x="14377724" y="13201842"/>
              <a:ext cx="2544940" cy="668279"/>
              <a:chOff x="14297904" y="12757011"/>
              <a:chExt cx="2544940" cy="668279"/>
            </a:xfrm>
          </p:grpSpPr>
          <p:grpSp>
            <p:nvGrpSpPr>
              <p:cNvPr id="50" name="Groupe 49">
                <a:extLst>
                  <a:ext uri="{FF2B5EF4-FFF2-40B4-BE49-F238E27FC236}">
                    <a16:creationId xmlns:a16="http://schemas.microsoft.com/office/drawing/2014/main" id="{55A2B73C-C794-44F0-9438-102C89EA6C69}"/>
                  </a:ext>
                </a:extLst>
              </p:cNvPr>
              <p:cNvGrpSpPr/>
              <p:nvPr/>
            </p:nvGrpSpPr>
            <p:grpSpPr>
              <a:xfrm>
                <a:off x="14297904" y="12757011"/>
                <a:ext cx="2544940" cy="338554"/>
                <a:chOff x="14297904" y="12795111"/>
                <a:chExt cx="2544940" cy="338554"/>
              </a:xfrm>
            </p:grpSpPr>
            <p:sp>
              <p:nvSpPr>
                <p:cNvPr id="448" name="Rectangle : coins arrondis 447">
                  <a:extLst>
                    <a:ext uri="{FF2B5EF4-FFF2-40B4-BE49-F238E27FC236}">
                      <a16:creationId xmlns:a16="http://schemas.microsoft.com/office/drawing/2014/main" id="{6EC7A517-4B5B-48D9-9744-8A4CBA024B81}"/>
                    </a:ext>
                  </a:extLst>
                </p:cNvPr>
                <p:cNvSpPr/>
                <p:nvPr/>
              </p:nvSpPr>
              <p:spPr>
                <a:xfrm>
                  <a:off x="14297904" y="12892388"/>
                  <a:ext cx="144000" cy="144000"/>
                </a:xfrm>
                <a:prstGeom prst="roundRect">
                  <a:avLst/>
                </a:prstGeom>
                <a:solidFill>
                  <a:srgbClr val="FF99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9" name="ZoneTexte 448">
                  <a:extLst>
                    <a:ext uri="{FF2B5EF4-FFF2-40B4-BE49-F238E27FC236}">
                      <a16:creationId xmlns:a16="http://schemas.microsoft.com/office/drawing/2014/main" id="{7965769B-006A-4BB0-A91E-7106F6AB33B5}"/>
                    </a:ext>
                  </a:extLst>
                </p:cNvPr>
                <p:cNvSpPr txBox="1"/>
                <p:nvPr/>
              </p:nvSpPr>
              <p:spPr>
                <a:xfrm>
                  <a:off x="14503373" y="12795111"/>
                  <a:ext cx="2339471" cy="338554"/>
                </a:xfrm>
                <a:prstGeom prst="rect">
                  <a:avLst/>
                </a:prstGeom>
                <a:noFill/>
              </p:spPr>
              <p:txBody>
                <a:bodyPr wrap="square" rtlCol="0">
                  <a:spAutoFit/>
                </a:bodyPr>
                <a:lstStyle/>
                <a:p>
                  <a:r>
                    <a:rPr lang="fr-FR" sz="1600" dirty="0"/>
                    <a:t>Females 33% (n=351)</a:t>
                  </a:r>
                </a:p>
              </p:txBody>
            </p:sp>
          </p:grpSp>
          <p:grpSp>
            <p:nvGrpSpPr>
              <p:cNvPr id="51" name="Groupe 50">
                <a:extLst>
                  <a:ext uri="{FF2B5EF4-FFF2-40B4-BE49-F238E27FC236}">
                    <a16:creationId xmlns:a16="http://schemas.microsoft.com/office/drawing/2014/main" id="{98336A96-8567-4568-AA3B-54DFDB662A4E}"/>
                  </a:ext>
                </a:extLst>
              </p:cNvPr>
              <p:cNvGrpSpPr/>
              <p:nvPr/>
            </p:nvGrpSpPr>
            <p:grpSpPr>
              <a:xfrm>
                <a:off x="14297904" y="13086736"/>
                <a:ext cx="2544648" cy="338554"/>
                <a:chOff x="14297904" y="13124836"/>
                <a:chExt cx="2544648" cy="338554"/>
              </a:xfrm>
            </p:grpSpPr>
            <p:sp>
              <p:nvSpPr>
                <p:cNvPr id="451" name="Rectangle : coins arrondis 450">
                  <a:extLst>
                    <a:ext uri="{FF2B5EF4-FFF2-40B4-BE49-F238E27FC236}">
                      <a16:creationId xmlns:a16="http://schemas.microsoft.com/office/drawing/2014/main" id="{03381AE7-CFE6-4CFF-913D-4F0C3A3ACAB9}"/>
                    </a:ext>
                  </a:extLst>
                </p:cNvPr>
                <p:cNvSpPr/>
                <p:nvPr/>
              </p:nvSpPr>
              <p:spPr>
                <a:xfrm>
                  <a:off x="14297904" y="13222113"/>
                  <a:ext cx="144000" cy="144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52" name="ZoneTexte 451">
                  <a:extLst>
                    <a:ext uri="{FF2B5EF4-FFF2-40B4-BE49-F238E27FC236}">
                      <a16:creationId xmlns:a16="http://schemas.microsoft.com/office/drawing/2014/main" id="{35885C2C-BF1C-43A3-9F29-E9D9E2B0A375}"/>
                    </a:ext>
                  </a:extLst>
                </p:cNvPr>
                <p:cNvSpPr txBox="1"/>
                <p:nvPr/>
              </p:nvSpPr>
              <p:spPr>
                <a:xfrm>
                  <a:off x="14503081" y="13124836"/>
                  <a:ext cx="2339471" cy="338554"/>
                </a:xfrm>
                <a:prstGeom prst="rect">
                  <a:avLst/>
                </a:prstGeom>
                <a:noFill/>
              </p:spPr>
              <p:txBody>
                <a:bodyPr wrap="square" rtlCol="0">
                  <a:spAutoFit/>
                </a:bodyPr>
                <a:lstStyle/>
                <a:p>
                  <a:r>
                    <a:rPr lang="fr-FR" sz="1600" dirty="0"/>
                    <a:t>Males 67%  (n=717)</a:t>
                  </a:r>
                </a:p>
              </p:txBody>
            </p:sp>
          </p:grpSp>
        </p:grpSp>
      </p:grpSp>
      <p:graphicFrame>
        <p:nvGraphicFramePr>
          <p:cNvPr id="54" name="Tableau 53">
            <a:extLst>
              <a:ext uri="{FF2B5EF4-FFF2-40B4-BE49-F238E27FC236}">
                <a16:creationId xmlns:a16="http://schemas.microsoft.com/office/drawing/2014/main" id="{3AEAD1BA-E08C-460F-A199-204FDAC45680}"/>
              </a:ext>
            </a:extLst>
          </p:cNvPr>
          <p:cNvGraphicFramePr>
            <a:graphicFrameLocks noGrp="1"/>
          </p:cNvGraphicFramePr>
          <p:nvPr>
            <p:extLst>
              <p:ext uri="{D42A27DB-BD31-4B8C-83A1-F6EECF244321}">
                <p14:modId xmlns:p14="http://schemas.microsoft.com/office/powerpoint/2010/main" val="2228574205"/>
              </p:ext>
            </p:extLst>
          </p:nvPr>
        </p:nvGraphicFramePr>
        <p:xfrm>
          <a:off x="10077886" y="19072698"/>
          <a:ext cx="19754413" cy="8550209"/>
        </p:xfrm>
        <a:graphic>
          <a:graphicData uri="http://schemas.openxmlformats.org/drawingml/2006/table">
            <a:tbl>
              <a:tblPr>
                <a:tableStyleId>{5940675A-B579-460E-94D1-54222C63F5DA}</a:tableStyleId>
              </a:tblPr>
              <a:tblGrid>
                <a:gridCol w="2456507">
                  <a:extLst>
                    <a:ext uri="{9D8B030D-6E8A-4147-A177-3AD203B41FA5}">
                      <a16:colId xmlns:a16="http://schemas.microsoft.com/office/drawing/2014/main" val="2669070217"/>
                    </a:ext>
                  </a:extLst>
                </a:gridCol>
                <a:gridCol w="614477">
                  <a:extLst>
                    <a:ext uri="{9D8B030D-6E8A-4147-A177-3AD203B41FA5}">
                      <a16:colId xmlns:a16="http://schemas.microsoft.com/office/drawing/2014/main" val="3498192518"/>
                    </a:ext>
                  </a:extLst>
                </a:gridCol>
                <a:gridCol w="2525431">
                  <a:extLst>
                    <a:ext uri="{9D8B030D-6E8A-4147-A177-3AD203B41FA5}">
                      <a16:colId xmlns:a16="http://schemas.microsoft.com/office/drawing/2014/main" val="4042706180"/>
                    </a:ext>
                  </a:extLst>
                </a:gridCol>
                <a:gridCol w="3236553">
                  <a:extLst>
                    <a:ext uri="{9D8B030D-6E8A-4147-A177-3AD203B41FA5}">
                      <a16:colId xmlns:a16="http://schemas.microsoft.com/office/drawing/2014/main" val="2968825616"/>
                    </a:ext>
                  </a:extLst>
                </a:gridCol>
                <a:gridCol w="1784526">
                  <a:extLst>
                    <a:ext uri="{9D8B030D-6E8A-4147-A177-3AD203B41FA5}">
                      <a16:colId xmlns:a16="http://schemas.microsoft.com/office/drawing/2014/main" val="1492459630"/>
                    </a:ext>
                  </a:extLst>
                </a:gridCol>
                <a:gridCol w="2270525">
                  <a:extLst>
                    <a:ext uri="{9D8B030D-6E8A-4147-A177-3AD203B41FA5}">
                      <a16:colId xmlns:a16="http://schemas.microsoft.com/office/drawing/2014/main" val="384353036"/>
                    </a:ext>
                  </a:extLst>
                </a:gridCol>
                <a:gridCol w="2288798">
                  <a:extLst>
                    <a:ext uri="{9D8B030D-6E8A-4147-A177-3AD203B41FA5}">
                      <a16:colId xmlns:a16="http://schemas.microsoft.com/office/drawing/2014/main" val="1762608763"/>
                    </a:ext>
                  </a:extLst>
                </a:gridCol>
                <a:gridCol w="2288798">
                  <a:extLst>
                    <a:ext uri="{9D8B030D-6E8A-4147-A177-3AD203B41FA5}">
                      <a16:colId xmlns:a16="http://schemas.microsoft.com/office/drawing/2014/main" val="352086044"/>
                    </a:ext>
                  </a:extLst>
                </a:gridCol>
                <a:gridCol w="2288798">
                  <a:extLst>
                    <a:ext uri="{9D8B030D-6E8A-4147-A177-3AD203B41FA5}">
                      <a16:colId xmlns:a16="http://schemas.microsoft.com/office/drawing/2014/main" val="2624722483"/>
                    </a:ext>
                  </a:extLst>
                </a:gridCol>
              </a:tblGrid>
              <a:tr h="884163">
                <a:tc>
                  <a:txBody>
                    <a:bodyPr/>
                    <a:lstStyle/>
                    <a:p>
                      <a:pPr algn="ctr" fontAlgn="ctr"/>
                      <a:r>
                        <a:rPr lang="fr-FR" sz="2200" b="1" u="sng" strike="noStrike" dirty="0">
                          <a:effectLst/>
                        </a:rPr>
                        <a:t>Variant ID</a:t>
                      </a:r>
                      <a:endParaRPr lang="fr-FR" sz="2200" b="1" i="0" u="sng" strike="noStrike" dirty="0">
                        <a:solidFill>
                          <a:srgbClr val="000000"/>
                        </a:solidFill>
                        <a:effectLst/>
                        <a:latin typeface="+mn-lt"/>
                      </a:endParaRPr>
                    </a:p>
                  </a:txBody>
                  <a:tcPr marL="9525" marR="9525" marT="9525" marB="0" anchor="ctr"/>
                </a:tc>
                <a:tc>
                  <a:txBody>
                    <a:bodyPr/>
                    <a:lstStyle/>
                    <a:p>
                      <a:pPr algn="ctr" fontAlgn="ctr"/>
                      <a:r>
                        <a:rPr lang="fr-FR" sz="2200" b="1" u="sng" strike="noStrike" dirty="0">
                          <a:effectLst/>
                        </a:rPr>
                        <a:t>Chr</a:t>
                      </a:r>
                      <a:endParaRPr lang="fr-FR" sz="2200" b="1" i="0" u="sng" strike="noStrike" dirty="0">
                        <a:solidFill>
                          <a:srgbClr val="000000"/>
                        </a:solidFill>
                        <a:effectLst/>
                        <a:latin typeface="+mn-lt"/>
                      </a:endParaRPr>
                    </a:p>
                  </a:txBody>
                  <a:tcPr marL="9525" marR="9525" marT="9525" marB="0" anchor="ctr"/>
                </a:tc>
                <a:tc>
                  <a:txBody>
                    <a:bodyPr/>
                    <a:lstStyle/>
                    <a:p>
                      <a:pPr algn="ctr" fontAlgn="ctr"/>
                      <a:r>
                        <a:rPr lang="fr-FR" sz="2200" b="1" u="sng" strike="noStrike" dirty="0" err="1">
                          <a:effectLst/>
                        </a:rPr>
                        <a:t>Implicated</a:t>
                      </a:r>
                      <a:r>
                        <a:rPr lang="fr-FR" sz="2200" b="1" u="sng" strike="noStrike" dirty="0">
                          <a:effectLst/>
                        </a:rPr>
                        <a:t> </a:t>
                      </a:r>
                      <a:r>
                        <a:rPr lang="fr-FR" sz="2200" b="1" u="sng" strike="noStrike" dirty="0" err="1">
                          <a:effectLst/>
                        </a:rPr>
                        <a:t>gene</a:t>
                      </a:r>
                      <a:endParaRPr lang="fr-FR" sz="2200" b="1" i="0" u="sng" strike="noStrike" dirty="0">
                        <a:solidFill>
                          <a:srgbClr val="000000"/>
                        </a:solidFill>
                        <a:effectLst/>
                        <a:latin typeface="+mn-lt"/>
                      </a:endParaRPr>
                    </a:p>
                  </a:txBody>
                  <a:tcPr marL="9525" marR="9525" marT="9525" marB="0" anchor="ctr"/>
                </a:tc>
                <a:tc>
                  <a:txBody>
                    <a:bodyPr/>
                    <a:lstStyle/>
                    <a:p>
                      <a:pPr algn="ctr" fontAlgn="ctr"/>
                      <a:r>
                        <a:rPr lang="fr-FR" sz="2200" b="1" u="sng" strike="noStrike" dirty="0" err="1">
                          <a:effectLst/>
                        </a:rPr>
                        <a:t>Ancestry</a:t>
                      </a:r>
                      <a:r>
                        <a:rPr lang="fr-FR" sz="2200" b="1" u="sng" strike="noStrike" dirty="0">
                          <a:effectLst/>
                        </a:rPr>
                        <a:t> (</a:t>
                      </a:r>
                      <a:r>
                        <a:rPr lang="fr-FR" sz="2200" b="1" u="sng" strike="noStrike" dirty="0" err="1">
                          <a:effectLst/>
                        </a:rPr>
                        <a:t>Study</a:t>
                      </a:r>
                      <a:r>
                        <a:rPr lang="fr-FR" sz="2200" b="1" u="sng" strike="noStrike" dirty="0">
                          <a:effectLst/>
                        </a:rPr>
                        <a:t>)</a:t>
                      </a:r>
                      <a:endParaRPr lang="fr-FR" sz="2200" b="1" i="0" u="sng" strike="noStrike" dirty="0">
                        <a:solidFill>
                          <a:srgbClr val="000000"/>
                        </a:solidFill>
                        <a:effectLst/>
                        <a:latin typeface="+mn-lt"/>
                      </a:endParaRPr>
                    </a:p>
                  </a:txBody>
                  <a:tcPr marL="9525" marR="9525" marT="9525" marB="0" anchor="ctr"/>
                </a:tc>
                <a:tc>
                  <a:txBody>
                    <a:bodyPr/>
                    <a:lstStyle/>
                    <a:p>
                      <a:pPr marL="0" algn="ctr" defTabSz="3028036" rtl="0" eaLnBrk="1" fontAlgn="ctr" latinLnBrk="0" hangingPunct="1"/>
                      <a:r>
                        <a:rPr lang="fr-FR" sz="2200" b="1" u="sng" strike="noStrike" kern="1200" dirty="0">
                          <a:solidFill>
                            <a:schemeClr val="tx1"/>
                          </a:solidFill>
                          <a:effectLst/>
                          <a:latin typeface="+mn-lt"/>
                          <a:ea typeface="+mn-ea"/>
                          <a:cs typeface="+mn-cs"/>
                        </a:rPr>
                        <a:t>Genotyping </a:t>
                      </a:r>
                      <a:br>
                        <a:rPr lang="fr-FR" sz="2200" b="1" u="sng" strike="noStrike" kern="1200" dirty="0">
                          <a:solidFill>
                            <a:schemeClr val="tx1"/>
                          </a:solidFill>
                          <a:effectLst/>
                          <a:latin typeface="+mn-lt"/>
                          <a:ea typeface="+mn-ea"/>
                          <a:cs typeface="+mn-cs"/>
                        </a:rPr>
                      </a:br>
                      <a:r>
                        <a:rPr lang="fr-FR" sz="2200" b="1" u="sng" strike="noStrike" kern="1200" dirty="0" err="1">
                          <a:solidFill>
                            <a:schemeClr val="tx1"/>
                          </a:solidFill>
                          <a:effectLst/>
                          <a:latin typeface="+mn-lt"/>
                          <a:ea typeface="+mn-ea"/>
                          <a:cs typeface="+mn-cs"/>
                        </a:rPr>
                        <a:t>method</a:t>
                      </a:r>
                      <a:endParaRPr lang="fr-FR" sz="2200" b="1" u="sng" strike="noStrike" kern="1200" dirty="0">
                        <a:solidFill>
                          <a:schemeClr val="tx1"/>
                        </a:solidFill>
                        <a:effectLst/>
                        <a:latin typeface="+mn-lt"/>
                        <a:ea typeface="+mn-ea"/>
                        <a:cs typeface="+mn-cs"/>
                      </a:endParaRPr>
                    </a:p>
                  </a:txBody>
                  <a:tcPr marL="9525" marR="9525" marT="9525" marB="0" anchor="ctr"/>
                </a:tc>
                <a:tc>
                  <a:txBody>
                    <a:bodyPr/>
                    <a:lstStyle/>
                    <a:p>
                      <a:pPr marL="0" algn="ctr" defTabSz="3028036" rtl="0" eaLnBrk="1" fontAlgn="ctr" latinLnBrk="0" hangingPunct="1"/>
                      <a:r>
                        <a:rPr lang="fr-FR" sz="2200" b="1" u="sng" strike="noStrike" kern="1200" dirty="0">
                          <a:solidFill>
                            <a:schemeClr val="tx1"/>
                          </a:solidFill>
                          <a:effectLst/>
                        </a:rPr>
                        <a:t>P-value (</a:t>
                      </a:r>
                      <a:r>
                        <a:rPr lang="fr-FR" sz="2200" b="1" u="sng" strike="noStrike" kern="1200" dirty="0" err="1">
                          <a:solidFill>
                            <a:schemeClr val="tx1"/>
                          </a:solidFill>
                          <a:effectLst/>
                        </a:rPr>
                        <a:t>Study</a:t>
                      </a:r>
                      <a:r>
                        <a:rPr lang="fr-FR" sz="2200" b="1" u="sng" strike="noStrike" kern="1200" dirty="0">
                          <a:solidFill>
                            <a:schemeClr val="tx1"/>
                          </a:solidFill>
                          <a:effectLst/>
                        </a:rPr>
                        <a:t>)</a:t>
                      </a:r>
                      <a:endParaRPr lang="fr-FR" sz="2200" b="1" u="sng" strike="noStrike" kern="1200" dirty="0">
                        <a:solidFill>
                          <a:schemeClr val="tx1"/>
                        </a:solidFill>
                        <a:effectLst/>
                        <a:latin typeface="+mn-lt"/>
                        <a:ea typeface="+mn-ea"/>
                        <a:cs typeface="+mn-cs"/>
                      </a:endParaRPr>
                    </a:p>
                  </a:txBody>
                  <a:tcPr marL="9525" marR="9525" marT="9525" marB="0" anchor="ctr"/>
                </a:tc>
                <a:tc>
                  <a:txBody>
                    <a:bodyPr/>
                    <a:lstStyle/>
                    <a:p>
                      <a:pPr algn="ctr" fontAlgn="ctr"/>
                      <a:r>
                        <a:rPr lang="fr-FR" sz="2200" b="1" u="sng" strike="noStrike" dirty="0">
                          <a:effectLst/>
                        </a:rPr>
                        <a:t>AF (ALT)</a:t>
                      </a:r>
                    </a:p>
                    <a:p>
                      <a:pPr algn="ctr" fontAlgn="ctr"/>
                      <a:r>
                        <a:rPr lang="fr-FR" sz="2200" b="1" u="sng" strike="noStrike" dirty="0">
                          <a:effectLst/>
                        </a:rPr>
                        <a:t>AGENOMICS</a:t>
                      </a:r>
                      <a:endParaRPr lang="fr-FR" sz="2200" b="1" i="0" u="sng" strike="noStrike" dirty="0">
                        <a:solidFill>
                          <a:srgbClr val="000000"/>
                        </a:solidFill>
                        <a:effectLst/>
                        <a:latin typeface="+mn-lt"/>
                      </a:endParaRPr>
                    </a:p>
                  </a:txBody>
                  <a:tcPr marL="9525" marR="9525" marT="9525" marB="0" anchor="ctr"/>
                </a:tc>
                <a:tc>
                  <a:txBody>
                    <a:bodyPr/>
                    <a:lstStyle/>
                    <a:p>
                      <a:pPr algn="ctr" fontAlgn="ctr"/>
                      <a:r>
                        <a:rPr lang="fr-FR" sz="2200" b="1" u="sng" strike="noStrike" dirty="0">
                          <a:effectLst/>
                        </a:rPr>
                        <a:t>AF (ALT)</a:t>
                      </a:r>
                    </a:p>
                    <a:p>
                      <a:pPr algn="ctr" fontAlgn="ctr"/>
                      <a:r>
                        <a:rPr lang="fr-FR" sz="2200" b="1" u="sng" strike="noStrike" dirty="0">
                          <a:effectLst/>
                        </a:rPr>
                        <a:t>FWG</a:t>
                      </a:r>
                      <a:endParaRPr lang="fr-FR" sz="2200" b="1" i="0" u="sng" strike="noStrike" dirty="0">
                        <a:solidFill>
                          <a:srgbClr val="000000"/>
                        </a:solidFill>
                        <a:effectLst/>
                        <a:latin typeface="+mn-lt"/>
                      </a:endParaRPr>
                    </a:p>
                  </a:txBody>
                  <a:tcPr marL="9525" marR="9525" marT="9525" marB="0" anchor="ctr"/>
                </a:tc>
                <a:tc>
                  <a:txBody>
                    <a:bodyPr/>
                    <a:lstStyle/>
                    <a:p>
                      <a:pPr algn="ctr" fontAlgn="ctr"/>
                      <a:r>
                        <a:rPr lang="fr-FR" sz="2200" b="1" u="sng" strike="noStrike" dirty="0">
                          <a:effectLst/>
                        </a:rPr>
                        <a:t>AF (ALT)</a:t>
                      </a:r>
                    </a:p>
                    <a:p>
                      <a:pPr algn="ctr" fontAlgn="ctr"/>
                      <a:r>
                        <a:rPr lang="fr-FR" sz="2200" b="1" u="sng" strike="noStrike" dirty="0">
                          <a:effectLst/>
                        </a:rPr>
                        <a:t>gnomAD</a:t>
                      </a:r>
                      <a:endParaRPr lang="fr-FR" sz="2200" b="1" i="0" u="sng" strike="noStrike" dirty="0">
                        <a:solidFill>
                          <a:srgbClr val="000000"/>
                        </a:solidFill>
                        <a:effectLst/>
                        <a:latin typeface="+mn-lt"/>
                      </a:endParaRPr>
                    </a:p>
                  </a:txBody>
                  <a:tcPr marL="9525" marR="9525" marT="9525" marB="0" anchor="ctr"/>
                </a:tc>
                <a:extLst>
                  <a:ext uri="{0D108BD9-81ED-4DB2-BD59-A6C34878D82A}">
                    <a16:rowId xmlns:a16="http://schemas.microsoft.com/office/drawing/2014/main" val="3536098073"/>
                  </a:ext>
                </a:extLst>
              </a:tr>
              <a:tr h="389715">
                <a:tc>
                  <a:txBody>
                    <a:bodyPr/>
                    <a:lstStyle/>
                    <a:p>
                      <a:pPr algn="ctr" rtl="0" fontAlgn="ctr"/>
                      <a:r>
                        <a:rPr lang="fr-FR" sz="2100" u="none" strike="noStrike" dirty="0">
                          <a:effectLst/>
                        </a:rPr>
                        <a:t>rs13963</a:t>
                      </a:r>
                      <a:endParaRPr lang="fr-FR" sz="2100" b="0" i="0" u="none" strike="noStrike" dirty="0">
                        <a:solidFill>
                          <a:srgbClr val="262626"/>
                        </a:solidFill>
                        <a:effectLst/>
                        <a:latin typeface="+mn-lt"/>
                      </a:endParaRPr>
                    </a:p>
                  </a:txBody>
                  <a:tcPr marL="9525" marR="9525" marT="9525" marB="0" anchor="ctr"/>
                </a:tc>
                <a:tc>
                  <a:txBody>
                    <a:bodyPr/>
                    <a:lstStyle/>
                    <a:p>
                      <a:pPr algn="ctr" fontAlgn="ctr"/>
                      <a:r>
                        <a:rPr lang="fr-FR" sz="2100" u="none" strike="noStrike">
                          <a:effectLst/>
                        </a:rPr>
                        <a:t>3</a:t>
                      </a:r>
                      <a:endParaRPr lang="fr-FR" sz="2100" b="0" i="0" u="none" strike="noStrike">
                        <a:solidFill>
                          <a:srgbClr val="000000"/>
                        </a:solidFill>
                        <a:effectLst/>
                        <a:latin typeface="+mn-lt"/>
                      </a:endParaRPr>
                    </a:p>
                  </a:txBody>
                  <a:tcPr marL="9525" marR="9525" marT="9525" marB="0" anchor="ctr"/>
                </a:tc>
                <a:tc>
                  <a:txBody>
                    <a:bodyPr/>
                    <a:lstStyle/>
                    <a:p>
                      <a:pPr algn="ctr" rtl="0" fontAlgn="ctr"/>
                      <a:r>
                        <a:rPr lang="fr-FR" sz="2100" u="none" strike="noStrike" dirty="0">
                          <a:solidFill>
                            <a:schemeClr val="accent6">
                              <a:lumMod val="75000"/>
                            </a:schemeClr>
                          </a:solidFill>
                          <a:effectLst/>
                        </a:rPr>
                        <a:t>CLEC3B</a:t>
                      </a:r>
                      <a:endParaRPr lang="fr-FR" sz="2100" b="1" i="0" u="none" strike="noStrike" dirty="0">
                        <a:solidFill>
                          <a:schemeClr val="accent6">
                            <a:lumMod val="75000"/>
                          </a:schemeClr>
                        </a:solidFill>
                        <a:effectLst/>
                        <a:latin typeface="+mn-lt"/>
                      </a:endParaRPr>
                    </a:p>
                  </a:txBody>
                  <a:tcPr marL="9525" marR="9525" marT="9525" marB="0" anchor="ctr"/>
                </a:tc>
                <a:tc>
                  <a:txBody>
                    <a:bodyPr/>
                    <a:lstStyle/>
                    <a:p>
                      <a:pPr algn="ctr" fontAlgn="ctr"/>
                      <a:r>
                        <a:rPr lang="fr-FR" sz="2100" u="none" strike="noStrike" dirty="0">
                          <a:effectLst/>
                        </a:rPr>
                        <a:t>East Asian (Japanese)</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b="0" i="0" u="none" strike="noStrike" dirty="0">
                          <a:solidFill>
                            <a:srgbClr val="000000"/>
                          </a:solidFill>
                          <a:effectLst/>
                          <a:latin typeface="+mn-lt"/>
                        </a:rPr>
                        <a:t>Genotyping</a:t>
                      </a:r>
                    </a:p>
                  </a:txBody>
                  <a:tcPr marL="9525" marR="9525" marT="9525" marB="0" anchor="ctr"/>
                </a:tc>
                <a:tc>
                  <a:txBody>
                    <a:bodyPr/>
                    <a:lstStyle/>
                    <a:p>
                      <a:pPr algn="r" fontAlgn="ctr"/>
                      <a:r>
                        <a:rPr lang="fr-FR" sz="2100" dirty="0"/>
                        <a:t>1.87 × 10⁻⁸       </a:t>
                      </a:r>
                      <a:endParaRPr lang="fr-FR" sz="2100" b="0" i="0" u="none" strike="noStrike" dirty="0">
                        <a:solidFill>
                          <a:srgbClr val="000000"/>
                        </a:solidFill>
                        <a:effectLst/>
                        <a:latin typeface="+mn-lt"/>
                      </a:endParaRPr>
                    </a:p>
                  </a:txBody>
                  <a:tcPr marL="0" marR="108000" marT="0" marB="0" anchor="ctr"/>
                </a:tc>
                <a:tc>
                  <a:txBody>
                    <a:bodyPr/>
                    <a:lstStyle/>
                    <a:p>
                      <a:pPr algn="ctr" fontAlgn="ctr"/>
                      <a:r>
                        <a:rPr lang="fr-FR" sz="2100" u="none" strike="noStrike" dirty="0">
                          <a:effectLst/>
                        </a:rPr>
                        <a:t>0.39295</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u="none" strike="noStrike" dirty="0">
                          <a:effectLst/>
                        </a:rPr>
                        <a:t>0.41776</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u="none" strike="noStrike" dirty="0">
                          <a:effectLst/>
                        </a:rPr>
                        <a:t>0.43411</a:t>
                      </a:r>
                      <a:endParaRPr lang="fr-FR" sz="2100" b="0" i="0" u="none" strike="noStrike" dirty="0">
                        <a:solidFill>
                          <a:srgbClr val="000000"/>
                        </a:solidFill>
                        <a:effectLst/>
                        <a:latin typeface="+mn-lt"/>
                      </a:endParaRPr>
                    </a:p>
                  </a:txBody>
                  <a:tcPr marL="9525" marR="9525" marT="9525" marB="0" anchor="ctr"/>
                </a:tc>
                <a:extLst>
                  <a:ext uri="{0D108BD9-81ED-4DB2-BD59-A6C34878D82A}">
                    <a16:rowId xmlns:a16="http://schemas.microsoft.com/office/drawing/2014/main" val="48607971"/>
                  </a:ext>
                </a:extLst>
              </a:tr>
              <a:tr h="389715">
                <a:tc>
                  <a:txBody>
                    <a:bodyPr/>
                    <a:lstStyle/>
                    <a:p>
                      <a:pPr algn="ctr" rtl="0" fontAlgn="ctr"/>
                      <a:r>
                        <a:rPr lang="fr-FR" sz="2100" u="none" strike="noStrike" dirty="0">
                          <a:effectLst/>
                        </a:rPr>
                        <a:t>rs1043943</a:t>
                      </a:r>
                      <a:endParaRPr lang="fr-FR" sz="2100" b="0" i="0" u="none" strike="noStrike" dirty="0">
                        <a:solidFill>
                          <a:srgbClr val="262626"/>
                        </a:solidFill>
                        <a:effectLst/>
                        <a:latin typeface="+mn-lt"/>
                      </a:endParaRPr>
                    </a:p>
                  </a:txBody>
                  <a:tcPr marL="9525" marR="9525" marT="9525" marB="0" anchor="ctr"/>
                </a:tc>
                <a:tc>
                  <a:txBody>
                    <a:bodyPr/>
                    <a:lstStyle/>
                    <a:p>
                      <a:pPr algn="ctr" fontAlgn="ctr"/>
                      <a:r>
                        <a:rPr lang="fr-FR" sz="2100" u="none" strike="noStrike" dirty="0">
                          <a:effectLst/>
                        </a:rPr>
                        <a:t>3</a:t>
                      </a:r>
                      <a:endParaRPr lang="fr-FR" sz="2100" b="0" i="0" u="none" strike="noStrike" dirty="0">
                        <a:solidFill>
                          <a:srgbClr val="000000"/>
                        </a:solidFill>
                        <a:effectLst/>
                        <a:latin typeface="+mn-lt"/>
                      </a:endParaRPr>
                    </a:p>
                  </a:txBody>
                  <a:tcPr marL="9525" marR="9525" marT="9525" marB="0" anchor="ctr"/>
                </a:tc>
                <a:tc>
                  <a:txBody>
                    <a:bodyPr/>
                    <a:lstStyle/>
                    <a:p>
                      <a:pPr algn="ctr" rtl="0" fontAlgn="ctr"/>
                      <a:r>
                        <a:rPr lang="fr-FR" sz="2100" u="none" strike="noStrike" dirty="0">
                          <a:solidFill>
                            <a:schemeClr val="accent6">
                              <a:lumMod val="75000"/>
                            </a:schemeClr>
                          </a:solidFill>
                          <a:effectLst/>
                        </a:rPr>
                        <a:t>TMEM43</a:t>
                      </a:r>
                      <a:endParaRPr lang="fr-FR" sz="2100" b="1" i="0" u="none" strike="noStrike" dirty="0">
                        <a:solidFill>
                          <a:schemeClr val="accent6">
                            <a:lumMod val="75000"/>
                          </a:schemeClr>
                        </a:solidFill>
                        <a:effectLst/>
                        <a:latin typeface="+mn-lt"/>
                      </a:endParaRPr>
                    </a:p>
                  </a:txBody>
                  <a:tcPr marL="9525" marR="9525" marT="9525" marB="0" anchor="ctr"/>
                </a:tc>
                <a:tc>
                  <a:txBody>
                    <a:bodyPr/>
                    <a:lstStyle/>
                    <a:p>
                      <a:pPr algn="ctr" fontAlgn="ctr"/>
                      <a:r>
                        <a:rPr lang="fr-FR" sz="2100" u="none" strike="noStrike" dirty="0">
                          <a:effectLst/>
                        </a:rPr>
                        <a:t>East Asian (Han Chinese)</a:t>
                      </a:r>
                      <a:endParaRPr lang="fr-FR" sz="2100" b="0" i="0" u="none" strike="noStrike" dirty="0">
                        <a:solidFill>
                          <a:srgbClr val="000000"/>
                        </a:solidFill>
                        <a:effectLst/>
                        <a:latin typeface="+mn-lt"/>
                      </a:endParaRPr>
                    </a:p>
                  </a:txBody>
                  <a:tcPr marL="9525" marR="9525" marT="9525" marB="0" anchor="ctr"/>
                </a:tc>
                <a:tc>
                  <a:txBody>
                    <a:bodyPr/>
                    <a:lstStyle/>
                    <a:p>
                      <a:pPr marL="0" marR="0" lvl="0" indent="0" algn="ctr" defTabSz="3028036" rtl="0" eaLnBrk="1" fontAlgn="ctr" latinLnBrk="0" hangingPunct="1">
                        <a:lnSpc>
                          <a:spcPct val="100000"/>
                        </a:lnSpc>
                        <a:spcBef>
                          <a:spcPts val="0"/>
                        </a:spcBef>
                        <a:spcAft>
                          <a:spcPts val="0"/>
                        </a:spcAft>
                        <a:buClrTx/>
                        <a:buSzTx/>
                        <a:buFontTx/>
                        <a:buNone/>
                        <a:tabLst/>
                        <a:defRPr/>
                      </a:pPr>
                      <a:r>
                        <a:rPr lang="fr-FR" sz="2100" b="0" i="0" u="none" strike="noStrike" dirty="0">
                          <a:solidFill>
                            <a:srgbClr val="000000"/>
                          </a:solidFill>
                          <a:effectLst/>
                          <a:latin typeface="+mn-lt"/>
                        </a:rPr>
                        <a:t>Genotyping</a:t>
                      </a:r>
                    </a:p>
                  </a:txBody>
                  <a:tcPr marL="9525" marR="9525" marT="9525" marB="0" anchor="ctr"/>
                </a:tc>
                <a:tc>
                  <a:txBody>
                    <a:bodyPr/>
                    <a:lstStyle/>
                    <a:p>
                      <a:pPr algn="r" fontAlgn="ctr"/>
                      <a:r>
                        <a:rPr lang="fr-FR" sz="2100" b="0" i="0" u="none" strike="noStrike" dirty="0">
                          <a:solidFill>
                            <a:srgbClr val="000000"/>
                          </a:solidFill>
                          <a:effectLst/>
                          <a:latin typeface="+mn-lt"/>
                        </a:rPr>
                        <a:t>3.59 × 10⁻⁸    </a:t>
                      </a:r>
                    </a:p>
                  </a:txBody>
                  <a:tcPr marL="0" marR="108000" marT="0" marB="0" anchor="ctr"/>
                </a:tc>
                <a:tc>
                  <a:txBody>
                    <a:bodyPr/>
                    <a:lstStyle/>
                    <a:p>
                      <a:pPr algn="ctr" fontAlgn="ctr"/>
                      <a:r>
                        <a:rPr lang="fr-FR" sz="2100" u="none" strike="noStrike" dirty="0">
                          <a:effectLst/>
                        </a:rPr>
                        <a:t>0.58762</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u="none" strike="noStrike" dirty="0">
                          <a:effectLst/>
                        </a:rPr>
                        <a:t>0.61075</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u="none" strike="noStrike" dirty="0">
                          <a:effectLst/>
                        </a:rPr>
                        <a:t>0.65151</a:t>
                      </a:r>
                      <a:endParaRPr lang="fr-FR" sz="2100" b="0" i="0" u="none" strike="noStrike" dirty="0">
                        <a:solidFill>
                          <a:srgbClr val="000000"/>
                        </a:solidFill>
                        <a:effectLst/>
                        <a:latin typeface="+mn-lt"/>
                      </a:endParaRPr>
                    </a:p>
                  </a:txBody>
                  <a:tcPr marL="9525" marR="9525" marT="9525" marB="0" anchor="ctr"/>
                </a:tc>
                <a:extLst>
                  <a:ext uri="{0D108BD9-81ED-4DB2-BD59-A6C34878D82A}">
                    <a16:rowId xmlns:a16="http://schemas.microsoft.com/office/drawing/2014/main" val="2585758914"/>
                  </a:ext>
                </a:extLst>
              </a:tr>
              <a:tr h="389715">
                <a:tc>
                  <a:txBody>
                    <a:bodyPr/>
                    <a:lstStyle/>
                    <a:p>
                      <a:pPr algn="ctr" rtl="0" fontAlgn="ctr"/>
                      <a:r>
                        <a:rPr lang="fr-FR" sz="2100" u="none" strike="noStrike" dirty="0">
                          <a:effectLst/>
                        </a:rPr>
                        <a:t>rs7676745</a:t>
                      </a:r>
                      <a:endParaRPr lang="fr-FR" sz="2100" b="0" i="0" u="none" strike="noStrike" dirty="0">
                        <a:solidFill>
                          <a:srgbClr val="262626"/>
                        </a:solidFill>
                        <a:effectLst/>
                        <a:latin typeface="+mn-lt"/>
                      </a:endParaRPr>
                    </a:p>
                  </a:txBody>
                  <a:tcPr marL="9525" marR="9525" marT="9525" marB="0" anchor="ctr"/>
                </a:tc>
                <a:tc>
                  <a:txBody>
                    <a:bodyPr/>
                    <a:lstStyle/>
                    <a:p>
                      <a:pPr algn="ctr" fontAlgn="ctr"/>
                      <a:r>
                        <a:rPr lang="fr-FR" sz="2100" u="none" strike="noStrike" dirty="0">
                          <a:effectLst/>
                        </a:rPr>
                        <a:t>4</a:t>
                      </a:r>
                      <a:endParaRPr lang="fr-FR" sz="2100" b="0" i="0" u="none" strike="noStrike" dirty="0">
                        <a:solidFill>
                          <a:srgbClr val="000000"/>
                        </a:solidFill>
                        <a:effectLst/>
                        <a:latin typeface="+mn-lt"/>
                      </a:endParaRPr>
                    </a:p>
                  </a:txBody>
                  <a:tcPr marL="9525" marR="9525" marT="9525" marB="0" anchor="ctr"/>
                </a:tc>
                <a:tc>
                  <a:txBody>
                    <a:bodyPr/>
                    <a:lstStyle/>
                    <a:p>
                      <a:pPr algn="ctr" rtl="0" fontAlgn="ctr"/>
                      <a:r>
                        <a:rPr lang="fr-FR" sz="2100" u="none" strike="noStrike" dirty="0">
                          <a:solidFill>
                            <a:srgbClr val="FF0000"/>
                          </a:solidFill>
                          <a:effectLst/>
                        </a:rPr>
                        <a:t>GPR78</a:t>
                      </a:r>
                      <a:endParaRPr lang="fr-FR" sz="2100" b="1" i="0" u="none" strike="noStrike" dirty="0">
                        <a:solidFill>
                          <a:srgbClr val="FF0000"/>
                        </a:solidFill>
                        <a:effectLst/>
                        <a:latin typeface="+mn-lt"/>
                      </a:endParaRPr>
                    </a:p>
                  </a:txBody>
                  <a:tcPr marL="9525" marR="9525" marT="9525" marB="0" anchor="ctr"/>
                </a:tc>
                <a:tc>
                  <a:txBody>
                    <a:bodyPr/>
                    <a:lstStyle/>
                    <a:p>
                      <a:pPr algn="ctr" fontAlgn="ctr"/>
                      <a:r>
                        <a:rPr lang="fr-FR" sz="2100" u="none" strike="noStrike" dirty="0">
                          <a:effectLst/>
                        </a:rPr>
                        <a:t>European</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b="0" i="0" u="none" strike="noStrike" dirty="0">
                          <a:solidFill>
                            <a:srgbClr val="000000"/>
                          </a:solidFill>
                          <a:effectLst/>
                          <a:latin typeface="+mn-lt"/>
                        </a:rPr>
                        <a:t>Imputation</a:t>
                      </a:r>
                    </a:p>
                  </a:txBody>
                  <a:tcPr marL="9525" marR="9525" marT="9525" marB="0" anchor="ctr"/>
                </a:tc>
                <a:tc>
                  <a:txBody>
                    <a:bodyPr/>
                    <a:lstStyle/>
                    <a:p>
                      <a:pPr algn="r" fontAlgn="ctr"/>
                      <a:r>
                        <a:rPr lang="fr-FR" sz="2100" b="0" i="0" u="none" strike="noStrike" dirty="0">
                          <a:solidFill>
                            <a:srgbClr val="000000"/>
                          </a:solidFill>
                          <a:effectLst/>
                          <a:latin typeface="+mn-lt"/>
                        </a:rPr>
                        <a:t>4.30 × 10⁻⁸  </a:t>
                      </a:r>
                    </a:p>
                  </a:txBody>
                  <a:tcPr marL="0" marR="108000" marT="0" marB="0" anchor="ctr"/>
                </a:tc>
                <a:tc>
                  <a:txBody>
                    <a:bodyPr/>
                    <a:lstStyle/>
                    <a:p>
                      <a:pPr algn="ctr" fontAlgn="ctr"/>
                      <a:r>
                        <a:rPr lang="fr-FR" sz="2100" u="none" strike="noStrike" dirty="0">
                          <a:effectLst/>
                        </a:rPr>
                        <a:t>0.04652</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u="none" strike="noStrike" dirty="0">
                          <a:effectLst/>
                        </a:rPr>
                        <a:t>0.04486</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u="none" strike="noStrike" dirty="0">
                          <a:effectLst/>
                        </a:rPr>
                        <a:t>0.05166</a:t>
                      </a:r>
                      <a:endParaRPr lang="fr-FR" sz="2100" b="0" i="0" u="none" strike="noStrike" dirty="0">
                        <a:solidFill>
                          <a:srgbClr val="000000"/>
                        </a:solidFill>
                        <a:effectLst/>
                        <a:latin typeface="+mn-lt"/>
                      </a:endParaRPr>
                    </a:p>
                  </a:txBody>
                  <a:tcPr marL="9525" marR="9525" marT="9525" marB="0" anchor="ctr"/>
                </a:tc>
                <a:extLst>
                  <a:ext uri="{0D108BD9-81ED-4DB2-BD59-A6C34878D82A}">
                    <a16:rowId xmlns:a16="http://schemas.microsoft.com/office/drawing/2014/main" val="2527652584"/>
                  </a:ext>
                </a:extLst>
              </a:tr>
              <a:tr h="389715">
                <a:tc>
                  <a:txBody>
                    <a:bodyPr/>
                    <a:lstStyle/>
                    <a:p>
                      <a:pPr algn="ctr" rtl="0" fontAlgn="ctr"/>
                      <a:r>
                        <a:rPr lang="fr-FR" sz="2100" u="none" strike="noStrike" dirty="0">
                          <a:effectLst/>
                        </a:rPr>
                        <a:t>rs2149954</a:t>
                      </a:r>
                      <a:endParaRPr lang="fr-FR" sz="2100" b="0" i="0" u="none" strike="noStrike" dirty="0">
                        <a:solidFill>
                          <a:srgbClr val="262626"/>
                        </a:solidFill>
                        <a:effectLst/>
                        <a:latin typeface="+mn-lt"/>
                      </a:endParaRPr>
                    </a:p>
                  </a:txBody>
                  <a:tcPr marL="9525" marR="9525" marT="9525" marB="0" anchor="ctr"/>
                </a:tc>
                <a:tc>
                  <a:txBody>
                    <a:bodyPr/>
                    <a:lstStyle/>
                    <a:p>
                      <a:pPr algn="ctr" fontAlgn="ctr"/>
                      <a:r>
                        <a:rPr lang="fr-FR" sz="2100" u="none" strike="noStrike">
                          <a:effectLst/>
                        </a:rPr>
                        <a:t>5</a:t>
                      </a:r>
                      <a:endParaRPr lang="fr-FR" sz="2100" b="0" i="0" u="none" strike="noStrike">
                        <a:solidFill>
                          <a:srgbClr val="000000"/>
                        </a:solidFill>
                        <a:effectLst/>
                        <a:latin typeface="+mn-lt"/>
                      </a:endParaRPr>
                    </a:p>
                  </a:txBody>
                  <a:tcPr marL="9525" marR="9525" marT="9525" marB="0" anchor="ctr"/>
                </a:tc>
                <a:tc>
                  <a:txBody>
                    <a:bodyPr/>
                    <a:lstStyle/>
                    <a:p>
                      <a:pPr algn="ctr" rtl="0" fontAlgn="ctr"/>
                      <a:r>
                        <a:rPr lang="fr-FR" sz="2100" u="none" strike="noStrike" dirty="0">
                          <a:solidFill>
                            <a:schemeClr val="accent6">
                              <a:lumMod val="75000"/>
                            </a:schemeClr>
                          </a:solidFill>
                          <a:effectLst/>
                        </a:rPr>
                        <a:t>EBF1/LINC02227</a:t>
                      </a:r>
                      <a:endParaRPr lang="fr-FR" sz="2100" b="1" i="0" u="none" strike="noStrike" dirty="0">
                        <a:solidFill>
                          <a:schemeClr val="accent6">
                            <a:lumMod val="75000"/>
                          </a:schemeClr>
                        </a:solidFill>
                        <a:effectLst/>
                        <a:latin typeface="+mn-lt"/>
                      </a:endParaRPr>
                    </a:p>
                  </a:txBody>
                  <a:tcPr marL="9525" marR="9525" marT="9525" marB="0" anchor="ctr"/>
                </a:tc>
                <a:tc>
                  <a:txBody>
                    <a:bodyPr/>
                    <a:lstStyle/>
                    <a:p>
                      <a:pPr algn="ctr" fontAlgn="ctr"/>
                      <a:r>
                        <a:rPr lang="fr-FR" sz="2100" u="none" strike="noStrike" dirty="0">
                          <a:effectLst/>
                        </a:rPr>
                        <a:t>European</a:t>
                      </a:r>
                      <a:endParaRPr lang="fr-FR" sz="2100" b="0" i="0" u="none" strike="noStrike" dirty="0">
                        <a:solidFill>
                          <a:srgbClr val="000000"/>
                        </a:solidFill>
                        <a:effectLst/>
                        <a:latin typeface="+mn-lt"/>
                      </a:endParaRPr>
                    </a:p>
                  </a:txBody>
                  <a:tcPr marL="9525" marR="9525" marT="9525" marB="0" anchor="ctr"/>
                </a:tc>
                <a:tc>
                  <a:txBody>
                    <a:bodyPr/>
                    <a:lstStyle/>
                    <a:p>
                      <a:pPr marL="0" marR="0" lvl="0" indent="0" algn="ctr" defTabSz="3028036" rtl="0" eaLnBrk="1" fontAlgn="ctr" latinLnBrk="0" hangingPunct="1">
                        <a:lnSpc>
                          <a:spcPct val="100000"/>
                        </a:lnSpc>
                        <a:spcBef>
                          <a:spcPts val="0"/>
                        </a:spcBef>
                        <a:spcAft>
                          <a:spcPts val="0"/>
                        </a:spcAft>
                        <a:buClrTx/>
                        <a:buSzTx/>
                        <a:buFontTx/>
                        <a:buNone/>
                        <a:tabLst/>
                        <a:defRPr/>
                      </a:pPr>
                      <a:r>
                        <a:rPr lang="fr-FR" sz="2100" b="0" i="0" u="none" strike="noStrike" dirty="0">
                          <a:solidFill>
                            <a:srgbClr val="000000"/>
                          </a:solidFill>
                          <a:effectLst/>
                          <a:latin typeface="+mn-lt"/>
                        </a:rPr>
                        <a:t>Imputation</a:t>
                      </a:r>
                    </a:p>
                  </a:txBody>
                  <a:tcPr marL="9525" marR="9525" marT="9525" marB="0" anchor="ctr"/>
                </a:tc>
                <a:tc>
                  <a:txBody>
                    <a:bodyPr/>
                    <a:lstStyle/>
                    <a:p>
                      <a:pPr algn="r" fontAlgn="ctr"/>
                      <a:r>
                        <a:rPr lang="fr-FR" sz="2100" b="0" i="0" u="none" strike="noStrike" dirty="0">
                          <a:solidFill>
                            <a:srgbClr val="000000"/>
                          </a:solidFill>
                          <a:effectLst/>
                          <a:latin typeface="+mn-lt"/>
                        </a:rPr>
                        <a:t>1.74 × 10⁻⁸  </a:t>
                      </a:r>
                    </a:p>
                  </a:txBody>
                  <a:tcPr marL="0" marR="108000" marT="0" marB="0" anchor="ctr"/>
                </a:tc>
                <a:tc>
                  <a:txBody>
                    <a:bodyPr/>
                    <a:lstStyle/>
                    <a:p>
                      <a:pPr algn="ctr" fontAlgn="ctr"/>
                      <a:r>
                        <a:rPr lang="fr-FR" sz="2100" u="none" strike="noStrike" dirty="0">
                          <a:effectLst/>
                        </a:rPr>
                        <a:t>0.39792</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u="none" strike="noStrike" dirty="0">
                          <a:effectLst/>
                        </a:rPr>
                        <a:t>0.40327</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u="none" strike="noStrike" dirty="0">
                          <a:effectLst/>
                        </a:rPr>
                        <a:t>0.36291</a:t>
                      </a:r>
                      <a:endParaRPr lang="fr-FR" sz="2100" b="0" i="0" u="none" strike="noStrike" dirty="0">
                        <a:solidFill>
                          <a:srgbClr val="000000"/>
                        </a:solidFill>
                        <a:effectLst/>
                        <a:latin typeface="+mn-lt"/>
                      </a:endParaRPr>
                    </a:p>
                  </a:txBody>
                  <a:tcPr marL="9525" marR="9525" marT="9525" marB="0" anchor="ctr"/>
                </a:tc>
                <a:extLst>
                  <a:ext uri="{0D108BD9-81ED-4DB2-BD59-A6C34878D82A}">
                    <a16:rowId xmlns:a16="http://schemas.microsoft.com/office/drawing/2014/main" val="719226699"/>
                  </a:ext>
                </a:extLst>
              </a:tr>
              <a:tr h="389715">
                <a:tc>
                  <a:txBody>
                    <a:bodyPr/>
                    <a:lstStyle/>
                    <a:p>
                      <a:pPr algn="ctr" rtl="0" fontAlgn="ctr"/>
                      <a:r>
                        <a:rPr lang="fr-FR" sz="2100" u="none" strike="noStrike" dirty="0">
                          <a:effectLst/>
                        </a:rPr>
                        <a:t>rs2706372</a:t>
                      </a:r>
                      <a:endParaRPr lang="fr-FR" sz="2100" b="0" i="0" u="none" strike="noStrike" dirty="0">
                        <a:solidFill>
                          <a:srgbClr val="262626"/>
                        </a:solidFill>
                        <a:effectLst/>
                        <a:latin typeface="+mn-lt"/>
                      </a:endParaRPr>
                    </a:p>
                  </a:txBody>
                  <a:tcPr marL="9525" marR="9525" marT="9525" marB="0" anchor="ctr"/>
                </a:tc>
                <a:tc>
                  <a:txBody>
                    <a:bodyPr/>
                    <a:lstStyle/>
                    <a:p>
                      <a:pPr algn="ctr" fontAlgn="ctr"/>
                      <a:r>
                        <a:rPr lang="fr-FR" sz="2100" u="none" strike="noStrike">
                          <a:effectLst/>
                        </a:rPr>
                        <a:t>5</a:t>
                      </a:r>
                      <a:endParaRPr lang="fr-FR" sz="2100" b="0" i="0" u="none" strike="noStrike">
                        <a:solidFill>
                          <a:srgbClr val="000000"/>
                        </a:solidFill>
                        <a:effectLst/>
                        <a:latin typeface="+mn-lt"/>
                      </a:endParaRPr>
                    </a:p>
                  </a:txBody>
                  <a:tcPr marL="9525" marR="9525" marT="9525" marB="0" anchor="ctr"/>
                </a:tc>
                <a:tc>
                  <a:txBody>
                    <a:bodyPr/>
                    <a:lstStyle/>
                    <a:p>
                      <a:pPr algn="ctr" rtl="0" fontAlgn="ctr"/>
                      <a:r>
                        <a:rPr lang="fr-FR" sz="2100" u="none" strike="noStrike" dirty="0">
                          <a:solidFill>
                            <a:schemeClr val="accent6">
                              <a:lumMod val="75000"/>
                            </a:schemeClr>
                          </a:solidFill>
                          <a:effectLst/>
                        </a:rPr>
                        <a:t>RAD50</a:t>
                      </a:r>
                      <a:endParaRPr lang="fr-FR" sz="2100" b="1" i="0" u="none" strike="noStrike" dirty="0">
                        <a:solidFill>
                          <a:schemeClr val="accent6">
                            <a:lumMod val="75000"/>
                          </a:schemeClr>
                        </a:solidFill>
                        <a:effectLst/>
                        <a:latin typeface="+mn-lt"/>
                      </a:endParaRPr>
                    </a:p>
                  </a:txBody>
                  <a:tcPr marL="9525" marR="9525" marT="9525" marB="0" anchor="ctr"/>
                </a:tc>
                <a:tc>
                  <a:txBody>
                    <a:bodyPr/>
                    <a:lstStyle/>
                    <a:p>
                      <a:pPr algn="ctr" fontAlgn="ctr"/>
                      <a:r>
                        <a:rPr lang="fr-FR" sz="2100" u="none" strike="noStrike" dirty="0">
                          <a:effectLst/>
                        </a:rPr>
                        <a:t>European</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b="0" i="0" u="none" strike="noStrike" dirty="0">
                          <a:solidFill>
                            <a:srgbClr val="000000"/>
                          </a:solidFill>
                          <a:effectLst/>
                          <a:latin typeface="+mn-lt"/>
                        </a:rPr>
                        <a:t>Genotyping</a:t>
                      </a:r>
                    </a:p>
                  </a:txBody>
                  <a:tcPr marL="9525" marR="9525" marT="9525" marB="0" anchor="ctr"/>
                </a:tc>
                <a:tc>
                  <a:txBody>
                    <a:bodyPr/>
                    <a:lstStyle/>
                    <a:p>
                      <a:pPr algn="r" fontAlgn="ctr"/>
                      <a:r>
                        <a:rPr lang="fr-FR" sz="2100" b="0" i="0" u="none" strike="noStrike" dirty="0">
                          <a:solidFill>
                            <a:srgbClr val="000000"/>
                          </a:solidFill>
                          <a:effectLst/>
                          <a:latin typeface="+mn-lt"/>
                        </a:rPr>
                        <a:t>5.42 × 10⁻⁸  </a:t>
                      </a:r>
                    </a:p>
                  </a:txBody>
                  <a:tcPr marL="0" marR="108000" marT="0" marB="0" anchor="ctr"/>
                </a:tc>
                <a:tc>
                  <a:txBody>
                    <a:bodyPr/>
                    <a:lstStyle/>
                    <a:p>
                      <a:pPr algn="ctr" fontAlgn="ctr"/>
                      <a:r>
                        <a:rPr lang="fr-FR" sz="2100" u="none" strike="noStrike" dirty="0">
                          <a:effectLst/>
                        </a:rPr>
                        <a:t>0.22042</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u="none" strike="noStrike" dirty="0">
                          <a:effectLst/>
                        </a:rPr>
                        <a:t>0.19112</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u="none" strike="noStrike" dirty="0">
                          <a:effectLst/>
                        </a:rPr>
                        <a:t>0.32581</a:t>
                      </a:r>
                      <a:endParaRPr lang="fr-FR" sz="2100" b="0" i="0" u="none" strike="noStrike" dirty="0">
                        <a:solidFill>
                          <a:srgbClr val="000000"/>
                        </a:solidFill>
                        <a:effectLst/>
                        <a:latin typeface="+mn-lt"/>
                      </a:endParaRPr>
                    </a:p>
                  </a:txBody>
                  <a:tcPr marL="9525" marR="9525" marT="9525" marB="0" anchor="ctr"/>
                </a:tc>
                <a:extLst>
                  <a:ext uri="{0D108BD9-81ED-4DB2-BD59-A6C34878D82A}">
                    <a16:rowId xmlns:a16="http://schemas.microsoft.com/office/drawing/2014/main" val="4047865440"/>
                  </a:ext>
                </a:extLst>
              </a:tr>
              <a:tr h="389715">
                <a:tc>
                  <a:txBody>
                    <a:bodyPr/>
                    <a:lstStyle/>
                    <a:p>
                      <a:pPr algn="ctr" rtl="0" fontAlgn="ctr"/>
                      <a:r>
                        <a:rPr lang="fr-FR" sz="2100" u="none" strike="noStrike" dirty="0">
                          <a:effectLst/>
                        </a:rPr>
                        <a:t>rs143332484</a:t>
                      </a:r>
                      <a:endParaRPr lang="fr-FR" sz="2100" b="0" i="0" u="none" strike="noStrike" dirty="0">
                        <a:solidFill>
                          <a:srgbClr val="262626"/>
                        </a:solidFill>
                        <a:effectLst/>
                        <a:latin typeface="+mn-lt"/>
                      </a:endParaRPr>
                    </a:p>
                  </a:txBody>
                  <a:tcPr marL="9525" marR="9525" marT="9525" marB="0" anchor="ctr">
                    <a:solidFill>
                      <a:srgbClr val="FCE9DC"/>
                    </a:solidFill>
                  </a:tcPr>
                </a:tc>
                <a:tc>
                  <a:txBody>
                    <a:bodyPr/>
                    <a:lstStyle/>
                    <a:p>
                      <a:pPr algn="ctr" fontAlgn="ctr"/>
                      <a:r>
                        <a:rPr lang="fr-FR" sz="2100" u="none" strike="noStrike" dirty="0">
                          <a:effectLst/>
                        </a:rPr>
                        <a:t>6</a:t>
                      </a:r>
                      <a:endParaRPr lang="fr-FR" sz="2100" b="0" i="0" u="none" strike="noStrike" dirty="0">
                        <a:solidFill>
                          <a:srgbClr val="000000"/>
                        </a:solidFill>
                        <a:effectLst/>
                        <a:latin typeface="+mn-lt"/>
                      </a:endParaRPr>
                    </a:p>
                  </a:txBody>
                  <a:tcPr marL="9525" marR="9525" marT="9525" marB="0" anchor="ctr">
                    <a:solidFill>
                      <a:srgbClr val="FCE9DC"/>
                    </a:solidFill>
                  </a:tcPr>
                </a:tc>
                <a:tc>
                  <a:txBody>
                    <a:bodyPr/>
                    <a:lstStyle/>
                    <a:p>
                      <a:pPr algn="ctr" rtl="0" fontAlgn="ctr"/>
                      <a:r>
                        <a:rPr lang="fr-FR" sz="2100" u="none" strike="noStrike" dirty="0">
                          <a:solidFill>
                            <a:srgbClr val="FF0000"/>
                          </a:solidFill>
                          <a:effectLst/>
                        </a:rPr>
                        <a:t>TREM2</a:t>
                      </a:r>
                      <a:endParaRPr lang="fr-FR" sz="2100" b="1" i="0" u="none" strike="noStrike" dirty="0">
                        <a:solidFill>
                          <a:srgbClr val="FF0000"/>
                        </a:solidFill>
                        <a:effectLst/>
                        <a:latin typeface="+mn-lt"/>
                      </a:endParaRPr>
                    </a:p>
                  </a:txBody>
                  <a:tcPr marL="9525" marR="9525" marT="9525" marB="0" anchor="ctr">
                    <a:solidFill>
                      <a:srgbClr val="FCE9DC"/>
                    </a:solidFill>
                  </a:tcPr>
                </a:tc>
                <a:tc>
                  <a:txBody>
                    <a:bodyPr/>
                    <a:lstStyle/>
                    <a:p>
                      <a:pPr algn="ctr" fontAlgn="ctr"/>
                      <a:r>
                        <a:rPr lang="fr-FR" sz="2100" u="none" strike="noStrike" dirty="0">
                          <a:effectLst/>
                        </a:rPr>
                        <a:t>Multiple cohorts</a:t>
                      </a:r>
                      <a:endParaRPr lang="fr-FR" sz="2100" b="0" i="0" u="none" strike="noStrike" dirty="0">
                        <a:solidFill>
                          <a:srgbClr val="000000"/>
                        </a:solidFill>
                        <a:effectLst/>
                        <a:latin typeface="+mn-lt"/>
                      </a:endParaRPr>
                    </a:p>
                  </a:txBody>
                  <a:tcPr marL="9525" marR="9525" marT="9525" marB="0" anchor="ctr">
                    <a:solidFill>
                      <a:srgbClr val="FCE9DC"/>
                    </a:solidFill>
                  </a:tcPr>
                </a:tc>
                <a:tc>
                  <a:txBody>
                    <a:bodyPr/>
                    <a:lstStyle/>
                    <a:p>
                      <a:pPr algn="ctr" fontAlgn="ctr"/>
                      <a:r>
                        <a:rPr lang="fr-FR" sz="2100" b="0" i="0" u="none" strike="noStrike" dirty="0">
                          <a:solidFill>
                            <a:srgbClr val="000000"/>
                          </a:solidFill>
                          <a:effectLst/>
                          <a:latin typeface="+mn-lt"/>
                        </a:rPr>
                        <a:t>Mixed</a:t>
                      </a:r>
                    </a:p>
                  </a:txBody>
                  <a:tcPr marL="9525" marR="9525" marT="9525" marB="0" anchor="ctr">
                    <a:solidFill>
                      <a:srgbClr val="FCE9DC"/>
                    </a:solidFill>
                  </a:tcPr>
                </a:tc>
                <a:tc>
                  <a:txBody>
                    <a:bodyPr/>
                    <a:lstStyle/>
                    <a:p>
                      <a:pPr algn="r" fontAlgn="ctr"/>
                      <a:r>
                        <a:rPr lang="fr-FR" sz="2100" b="0" i="0" u="none" strike="noStrike" dirty="0">
                          <a:solidFill>
                            <a:srgbClr val="000000"/>
                          </a:solidFill>
                          <a:effectLst/>
                          <a:latin typeface="+mn-lt"/>
                        </a:rPr>
                        <a:t> 1.55 × 10⁻</a:t>
                      </a:r>
                      <a:r>
                        <a:rPr lang="fr-FR" sz="2100" b="0" i="0" u="none" strike="noStrike" baseline="30000" dirty="0">
                          <a:solidFill>
                            <a:srgbClr val="000000"/>
                          </a:solidFill>
                          <a:effectLst/>
                          <a:latin typeface="+mn-lt"/>
                        </a:rPr>
                        <a:t>14</a:t>
                      </a:r>
                      <a:r>
                        <a:rPr lang="fr-FR" sz="2100" b="0" i="0" u="none" strike="noStrike" dirty="0">
                          <a:solidFill>
                            <a:srgbClr val="000000"/>
                          </a:solidFill>
                          <a:effectLst/>
                          <a:latin typeface="+mn-lt"/>
                        </a:rPr>
                        <a:t>  </a:t>
                      </a:r>
                    </a:p>
                  </a:txBody>
                  <a:tcPr marL="0" marR="108000" marT="0" marB="0" anchor="ctr">
                    <a:solidFill>
                      <a:srgbClr val="FCE9DC"/>
                    </a:solidFill>
                  </a:tcPr>
                </a:tc>
                <a:tc>
                  <a:txBody>
                    <a:bodyPr/>
                    <a:lstStyle/>
                    <a:p>
                      <a:pPr algn="ctr" fontAlgn="ctr"/>
                      <a:r>
                        <a:rPr lang="fr-FR" sz="2100" u="none" strike="noStrike" dirty="0">
                          <a:effectLst/>
                        </a:rPr>
                        <a:t>0.00903</a:t>
                      </a:r>
                    </a:p>
                  </a:txBody>
                  <a:tcPr marL="9525" marR="9525" marT="9525" marB="0" anchor="ctr">
                    <a:solidFill>
                      <a:srgbClr val="FCE9DC"/>
                    </a:solidFill>
                  </a:tcPr>
                </a:tc>
                <a:tc>
                  <a:txBody>
                    <a:bodyPr/>
                    <a:lstStyle/>
                    <a:p>
                      <a:pPr algn="ctr" fontAlgn="ctr"/>
                      <a:r>
                        <a:rPr lang="fr-FR" sz="2100" u="none" strike="noStrike" dirty="0">
                          <a:effectLst/>
                        </a:rPr>
                        <a:t>0.01355</a:t>
                      </a:r>
                      <a:endParaRPr lang="fr-FR" sz="2100" b="0" i="0" u="none" strike="noStrike" dirty="0">
                        <a:solidFill>
                          <a:srgbClr val="000000"/>
                        </a:solidFill>
                        <a:effectLst/>
                        <a:latin typeface="+mn-lt"/>
                      </a:endParaRPr>
                    </a:p>
                  </a:txBody>
                  <a:tcPr marL="9525" marR="9525" marT="9525" marB="0" anchor="ctr">
                    <a:solidFill>
                      <a:srgbClr val="FCE9DC"/>
                    </a:solidFill>
                  </a:tcPr>
                </a:tc>
                <a:tc>
                  <a:txBody>
                    <a:bodyPr/>
                    <a:lstStyle/>
                    <a:p>
                      <a:pPr algn="ctr" fontAlgn="ctr"/>
                      <a:r>
                        <a:rPr lang="fr-FR" sz="2100" u="none" strike="noStrike" dirty="0">
                          <a:effectLst/>
                        </a:rPr>
                        <a:t>0.00708</a:t>
                      </a:r>
                      <a:endParaRPr lang="fr-FR" sz="2100" b="0" i="0" u="none" strike="noStrike" dirty="0">
                        <a:solidFill>
                          <a:srgbClr val="000000"/>
                        </a:solidFill>
                        <a:effectLst/>
                        <a:latin typeface="+mn-lt"/>
                      </a:endParaRPr>
                    </a:p>
                  </a:txBody>
                  <a:tcPr marL="9525" marR="9525" marT="9525" marB="0" anchor="ctr">
                    <a:solidFill>
                      <a:srgbClr val="FCE9DC"/>
                    </a:solidFill>
                  </a:tcPr>
                </a:tc>
                <a:extLst>
                  <a:ext uri="{0D108BD9-81ED-4DB2-BD59-A6C34878D82A}">
                    <a16:rowId xmlns:a16="http://schemas.microsoft.com/office/drawing/2014/main" val="2722043083"/>
                  </a:ext>
                </a:extLst>
              </a:tr>
              <a:tr h="389715">
                <a:tc>
                  <a:txBody>
                    <a:bodyPr/>
                    <a:lstStyle/>
                    <a:p>
                      <a:pPr algn="ctr" rtl="0" fontAlgn="ctr"/>
                      <a:r>
                        <a:rPr lang="fr-FR" sz="2100" u="none" strike="noStrike" dirty="0">
                          <a:effectLst/>
                        </a:rPr>
                        <a:t>rs75932628</a:t>
                      </a:r>
                      <a:endParaRPr lang="fr-FR" sz="2100" b="0" i="0" u="none" strike="noStrike" dirty="0">
                        <a:solidFill>
                          <a:srgbClr val="262626"/>
                        </a:solidFill>
                        <a:effectLst/>
                        <a:latin typeface="+mn-lt"/>
                      </a:endParaRPr>
                    </a:p>
                  </a:txBody>
                  <a:tcPr marL="9525" marR="9525" marT="9525" marB="0" anchor="ctr"/>
                </a:tc>
                <a:tc>
                  <a:txBody>
                    <a:bodyPr/>
                    <a:lstStyle/>
                    <a:p>
                      <a:pPr algn="ctr" fontAlgn="ctr"/>
                      <a:r>
                        <a:rPr lang="fr-FR" sz="2100" u="none" strike="noStrike">
                          <a:effectLst/>
                        </a:rPr>
                        <a:t>6</a:t>
                      </a:r>
                      <a:endParaRPr lang="fr-FR" sz="2100" b="0" i="0" u="none" strike="noStrike">
                        <a:solidFill>
                          <a:srgbClr val="000000"/>
                        </a:solidFill>
                        <a:effectLst/>
                        <a:latin typeface="+mn-lt"/>
                      </a:endParaRPr>
                    </a:p>
                  </a:txBody>
                  <a:tcPr marL="9525" marR="9525" marT="9525" marB="0" anchor="ctr"/>
                </a:tc>
                <a:tc>
                  <a:txBody>
                    <a:bodyPr/>
                    <a:lstStyle/>
                    <a:p>
                      <a:pPr algn="ctr" rtl="0" fontAlgn="ctr"/>
                      <a:r>
                        <a:rPr lang="fr-FR" sz="2100" u="none" strike="noStrike" dirty="0">
                          <a:solidFill>
                            <a:srgbClr val="FF0000"/>
                          </a:solidFill>
                          <a:effectLst/>
                        </a:rPr>
                        <a:t>TREM2</a:t>
                      </a:r>
                      <a:endParaRPr lang="fr-FR" sz="2100" b="1" i="0" u="none" strike="noStrike" dirty="0">
                        <a:solidFill>
                          <a:srgbClr val="FF0000"/>
                        </a:solidFill>
                        <a:effectLst/>
                        <a:latin typeface="+mn-lt"/>
                      </a:endParaRPr>
                    </a:p>
                  </a:txBody>
                  <a:tcPr marL="9525" marR="9525" marT="9525" marB="0" anchor="ctr"/>
                </a:tc>
                <a:tc>
                  <a:txBody>
                    <a:bodyPr/>
                    <a:lstStyle/>
                    <a:p>
                      <a:pPr algn="ctr" fontAlgn="ctr"/>
                      <a:r>
                        <a:rPr lang="fr-FR" sz="2100" u="none" strike="noStrike" dirty="0">
                          <a:effectLst/>
                        </a:rPr>
                        <a:t>Multiple cohorts</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b="0" i="0" u="none" strike="noStrike" dirty="0">
                          <a:solidFill>
                            <a:srgbClr val="000000"/>
                          </a:solidFill>
                          <a:effectLst/>
                          <a:latin typeface="+mn-lt"/>
                        </a:rPr>
                        <a:t>Mixed</a:t>
                      </a:r>
                    </a:p>
                  </a:txBody>
                  <a:tcPr marL="9525" marR="9525" marT="9525" marB="0" anchor="ctr"/>
                </a:tc>
                <a:tc>
                  <a:txBody>
                    <a:bodyPr/>
                    <a:lstStyle/>
                    <a:p>
                      <a:pPr algn="r" fontAlgn="ctr"/>
                      <a:r>
                        <a:rPr lang="fr-FR" sz="2100" b="0" i="0" u="none" strike="noStrike" dirty="0">
                          <a:solidFill>
                            <a:srgbClr val="000000"/>
                          </a:solidFill>
                          <a:effectLst/>
                          <a:latin typeface="+mn-lt"/>
                        </a:rPr>
                        <a:t>5.38 × 10⁻</a:t>
                      </a:r>
                      <a:r>
                        <a:rPr lang="fr-FR" sz="2100" b="0" i="0" u="none" strike="noStrike" baseline="30000" dirty="0">
                          <a:solidFill>
                            <a:srgbClr val="000000"/>
                          </a:solidFill>
                          <a:effectLst/>
                          <a:latin typeface="+mn-lt"/>
                        </a:rPr>
                        <a:t>24</a:t>
                      </a:r>
                      <a:r>
                        <a:rPr lang="fr-FR" sz="2100" b="0" i="0" u="none" strike="noStrike" dirty="0">
                          <a:solidFill>
                            <a:srgbClr val="000000"/>
                          </a:solidFill>
                          <a:effectLst/>
                          <a:latin typeface="+mn-lt"/>
                        </a:rPr>
                        <a:t>  </a:t>
                      </a:r>
                    </a:p>
                  </a:txBody>
                  <a:tcPr marL="0" marR="108000" marT="0" marB="0" anchor="ctr"/>
                </a:tc>
                <a:tc>
                  <a:txBody>
                    <a:bodyPr/>
                    <a:lstStyle/>
                    <a:p>
                      <a:pPr algn="ctr" fontAlgn="ctr"/>
                      <a:r>
                        <a:rPr lang="fr-FR" sz="2100" u="none" strike="noStrike" dirty="0">
                          <a:effectLst/>
                        </a:rPr>
                        <a:t>0.00090</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u="none" strike="noStrike" dirty="0">
                          <a:effectLst/>
                        </a:rPr>
                        <a:t>0.00608</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u="none" strike="noStrike" dirty="0">
                          <a:effectLst/>
                        </a:rPr>
                        <a:t>0.00199</a:t>
                      </a:r>
                      <a:endParaRPr lang="fr-FR" sz="2100" b="0" i="0" u="none" strike="noStrike" dirty="0">
                        <a:solidFill>
                          <a:srgbClr val="000000"/>
                        </a:solidFill>
                        <a:effectLst/>
                        <a:latin typeface="+mn-lt"/>
                      </a:endParaRPr>
                    </a:p>
                  </a:txBody>
                  <a:tcPr marL="9525" marR="9525" marT="9525" marB="0" anchor="ctr"/>
                </a:tc>
                <a:extLst>
                  <a:ext uri="{0D108BD9-81ED-4DB2-BD59-A6C34878D82A}">
                    <a16:rowId xmlns:a16="http://schemas.microsoft.com/office/drawing/2014/main" val="4200866277"/>
                  </a:ext>
                </a:extLst>
              </a:tr>
              <a:tr h="389715">
                <a:tc>
                  <a:txBody>
                    <a:bodyPr/>
                    <a:lstStyle/>
                    <a:p>
                      <a:pPr algn="ctr" rtl="0" fontAlgn="ctr"/>
                      <a:r>
                        <a:rPr lang="fr-FR" sz="2100" u="none" strike="noStrike" dirty="0">
                          <a:effectLst/>
                        </a:rPr>
                        <a:t>rs17169634</a:t>
                      </a:r>
                      <a:endParaRPr lang="fr-FR" sz="2100" b="0" i="0" u="none" strike="noStrike" dirty="0">
                        <a:solidFill>
                          <a:srgbClr val="262626"/>
                        </a:solidFill>
                        <a:effectLst/>
                        <a:latin typeface="+mn-lt"/>
                      </a:endParaRPr>
                    </a:p>
                  </a:txBody>
                  <a:tcPr marL="9525" marR="9525" marT="9525" marB="0" anchor="ctr"/>
                </a:tc>
                <a:tc>
                  <a:txBody>
                    <a:bodyPr/>
                    <a:lstStyle/>
                    <a:p>
                      <a:pPr algn="ctr" fontAlgn="ctr"/>
                      <a:r>
                        <a:rPr lang="fr-FR" sz="2100" u="none" strike="noStrike">
                          <a:effectLst/>
                        </a:rPr>
                        <a:t>7</a:t>
                      </a:r>
                      <a:endParaRPr lang="fr-FR" sz="2100" b="0" i="0" u="none" strike="noStrike">
                        <a:solidFill>
                          <a:srgbClr val="000000"/>
                        </a:solidFill>
                        <a:effectLst/>
                        <a:latin typeface="+mn-lt"/>
                      </a:endParaRPr>
                    </a:p>
                  </a:txBody>
                  <a:tcPr marL="9525" marR="9525" marT="9525" marB="0" anchor="ctr"/>
                </a:tc>
                <a:tc>
                  <a:txBody>
                    <a:bodyPr/>
                    <a:lstStyle/>
                    <a:p>
                      <a:pPr algn="ctr" rtl="0" fontAlgn="ctr"/>
                      <a:r>
                        <a:rPr lang="fr-FR" sz="2100" u="none" strike="noStrike" dirty="0">
                          <a:solidFill>
                            <a:schemeClr val="accent6">
                              <a:lumMod val="75000"/>
                            </a:schemeClr>
                          </a:solidFill>
                          <a:effectLst/>
                        </a:rPr>
                        <a:t>BMPER</a:t>
                      </a:r>
                      <a:endParaRPr lang="fr-FR" sz="2100" b="1" i="0" u="none" strike="noStrike" dirty="0">
                        <a:solidFill>
                          <a:schemeClr val="accent6">
                            <a:lumMod val="75000"/>
                          </a:schemeClr>
                        </a:solidFill>
                        <a:effectLst/>
                        <a:latin typeface="+mn-lt"/>
                      </a:endParaRPr>
                    </a:p>
                  </a:txBody>
                  <a:tcPr marL="9525" marR="9525" marT="9525" marB="0" anchor="ctr"/>
                </a:tc>
                <a:tc>
                  <a:txBody>
                    <a:bodyPr/>
                    <a:lstStyle/>
                    <a:p>
                      <a:pPr algn="ctr" fontAlgn="ctr"/>
                      <a:r>
                        <a:rPr lang="fr-FR" sz="2100" u="none" strike="noStrike" dirty="0">
                          <a:effectLst/>
                        </a:rPr>
                        <a:t>East Asian (Han Chinese)</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b="0" i="0" u="none" strike="noStrike" dirty="0">
                          <a:solidFill>
                            <a:srgbClr val="000000"/>
                          </a:solidFill>
                          <a:effectLst/>
                          <a:latin typeface="+mn-lt"/>
                        </a:rPr>
                        <a:t>Mixed</a:t>
                      </a:r>
                    </a:p>
                  </a:txBody>
                  <a:tcPr marL="9525" marR="9525" marT="9525" marB="0" anchor="ctr"/>
                </a:tc>
                <a:tc>
                  <a:txBody>
                    <a:bodyPr/>
                    <a:lstStyle/>
                    <a:p>
                      <a:pPr algn="r" fontAlgn="ctr"/>
                      <a:r>
                        <a:rPr lang="fr-FR" sz="2100" b="0" i="0" u="none" strike="noStrike" dirty="0">
                          <a:solidFill>
                            <a:srgbClr val="000000"/>
                          </a:solidFill>
                          <a:effectLst/>
                          <a:latin typeface="+mn-lt"/>
                        </a:rPr>
                        <a:t>1.45 × 10⁻</a:t>
                      </a:r>
                      <a:r>
                        <a:rPr lang="fr-FR" sz="2100" b="0" i="0" u="none" strike="noStrike" baseline="30000" dirty="0">
                          <a:solidFill>
                            <a:srgbClr val="000000"/>
                          </a:solidFill>
                          <a:effectLst/>
                          <a:latin typeface="+mn-lt"/>
                        </a:rPr>
                        <a:t>10</a:t>
                      </a:r>
                      <a:r>
                        <a:rPr lang="fr-FR" sz="2100" b="0" i="0" u="none" strike="noStrike" dirty="0">
                          <a:solidFill>
                            <a:srgbClr val="000000"/>
                          </a:solidFill>
                          <a:effectLst/>
                          <a:latin typeface="+mn-lt"/>
                        </a:rPr>
                        <a:t>  </a:t>
                      </a:r>
                    </a:p>
                  </a:txBody>
                  <a:tcPr marL="0" marR="108000" marT="0" marB="0" anchor="ctr"/>
                </a:tc>
                <a:tc>
                  <a:txBody>
                    <a:bodyPr/>
                    <a:lstStyle/>
                    <a:p>
                      <a:pPr algn="ctr" fontAlgn="ctr"/>
                      <a:r>
                        <a:rPr lang="fr-FR" sz="2100" u="none" strike="noStrike" dirty="0">
                          <a:effectLst/>
                        </a:rPr>
                        <a:t>0.08943</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u="none" strike="noStrike" dirty="0">
                          <a:effectLst/>
                        </a:rPr>
                        <a:t>0.07243</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u="none" strike="noStrike" dirty="0">
                          <a:effectLst/>
                        </a:rPr>
                        <a:t>0.17058</a:t>
                      </a:r>
                      <a:endParaRPr lang="fr-FR" sz="2100" b="0" i="0" u="none" strike="noStrike" dirty="0">
                        <a:solidFill>
                          <a:srgbClr val="000000"/>
                        </a:solidFill>
                        <a:effectLst/>
                        <a:latin typeface="+mn-lt"/>
                      </a:endParaRPr>
                    </a:p>
                  </a:txBody>
                  <a:tcPr marL="9525" marR="9525" marT="9525" marB="0" anchor="ctr"/>
                </a:tc>
                <a:extLst>
                  <a:ext uri="{0D108BD9-81ED-4DB2-BD59-A6C34878D82A}">
                    <a16:rowId xmlns:a16="http://schemas.microsoft.com/office/drawing/2014/main" val="608556727"/>
                  </a:ext>
                </a:extLst>
              </a:tr>
              <a:tr h="389715">
                <a:tc>
                  <a:txBody>
                    <a:bodyPr/>
                    <a:lstStyle/>
                    <a:p>
                      <a:pPr algn="ctr" rtl="0" fontAlgn="ctr"/>
                      <a:r>
                        <a:rPr lang="fr-FR" sz="2100" u="none" strike="noStrike">
                          <a:effectLst/>
                        </a:rPr>
                        <a:t>rs2069837</a:t>
                      </a:r>
                      <a:endParaRPr lang="fr-FR" sz="2100" b="0" i="0" u="none" strike="noStrike">
                        <a:solidFill>
                          <a:srgbClr val="262626"/>
                        </a:solidFill>
                        <a:effectLst/>
                        <a:latin typeface="+mn-lt"/>
                      </a:endParaRPr>
                    </a:p>
                  </a:txBody>
                  <a:tcPr marL="9525" marR="9525" marT="9525" marB="0" anchor="ctr"/>
                </a:tc>
                <a:tc>
                  <a:txBody>
                    <a:bodyPr/>
                    <a:lstStyle/>
                    <a:p>
                      <a:pPr algn="ctr" fontAlgn="ctr"/>
                      <a:r>
                        <a:rPr lang="fr-FR" sz="2100" u="none" strike="noStrike">
                          <a:effectLst/>
                        </a:rPr>
                        <a:t>7</a:t>
                      </a:r>
                      <a:endParaRPr lang="fr-FR" sz="2100" b="0" i="0" u="none" strike="noStrike">
                        <a:solidFill>
                          <a:srgbClr val="000000"/>
                        </a:solidFill>
                        <a:effectLst/>
                        <a:latin typeface="+mn-lt"/>
                      </a:endParaRPr>
                    </a:p>
                  </a:txBody>
                  <a:tcPr marL="9525" marR="9525" marT="9525" marB="0" anchor="ctr"/>
                </a:tc>
                <a:tc>
                  <a:txBody>
                    <a:bodyPr/>
                    <a:lstStyle/>
                    <a:p>
                      <a:pPr algn="ctr" rtl="0" fontAlgn="ctr"/>
                      <a:r>
                        <a:rPr lang="fr-FR" sz="2100" u="none" strike="noStrike" dirty="0">
                          <a:solidFill>
                            <a:schemeClr val="accent6">
                              <a:lumMod val="75000"/>
                            </a:schemeClr>
                          </a:solidFill>
                          <a:effectLst/>
                        </a:rPr>
                        <a:t>IL6</a:t>
                      </a:r>
                      <a:endParaRPr lang="fr-FR" sz="2100" b="1" i="0" u="none" strike="noStrike" dirty="0">
                        <a:solidFill>
                          <a:schemeClr val="accent6">
                            <a:lumMod val="75000"/>
                          </a:schemeClr>
                        </a:solidFill>
                        <a:effectLst/>
                        <a:latin typeface="+mn-lt"/>
                      </a:endParaRPr>
                    </a:p>
                  </a:txBody>
                  <a:tcPr marL="9525" marR="9525" marT="9525" marB="0" anchor="ctr"/>
                </a:tc>
                <a:tc>
                  <a:txBody>
                    <a:bodyPr/>
                    <a:lstStyle/>
                    <a:p>
                      <a:pPr algn="ctr" fontAlgn="ctr"/>
                      <a:r>
                        <a:rPr lang="fr-FR" sz="2100" u="none" strike="noStrike" dirty="0">
                          <a:effectLst/>
                        </a:rPr>
                        <a:t>East Asian (Han Chinese)</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dirty="0"/>
                        <a:t>Genotyping</a:t>
                      </a:r>
                      <a:endParaRPr lang="fr-FR" sz="2100" b="0" i="0" u="none" strike="noStrike" dirty="0">
                        <a:solidFill>
                          <a:srgbClr val="000000"/>
                        </a:solidFill>
                        <a:effectLst/>
                        <a:latin typeface="+mn-lt"/>
                      </a:endParaRPr>
                    </a:p>
                  </a:txBody>
                  <a:tcPr marL="9525" marR="9525" marT="9525" marB="0" anchor="ctr"/>
                </a:tc>
                <a:tc>
                  <a:txBody>
                    <a:bodyPr/>
                    <a:lstStyle/>
                    <a:p>
                      <a:pPr algn="r" fontAlgn="ctr"/>
                      <a:r>
                        <a:rPr lang="fr-FR" sz="2100" b="0" i="0" u="none" strike="noStrike" dirty="0">
                          <a:solidFill>
                            <a:srgbClr val="000000"/>
                          </a:solidFill>
                          <a:effectLst/>
                          <a:latin typeface="+mn-lt"/>
                        </a:rPr>
                        <a:t>4.05 × 10⁻⁸  </a:t>
                      </a:r>
                    </a:p>
                  </a:txBody>
                  <a:tcPr marL="0" marR="108000" marT="0" marB="0" anchor="ctr"/>
                </a:tc>
                <a:tc>
                  <a:txBody>
                    <a:bodyPr/>
                    <a:lstStyle/>
                    <a:p>
                      <a:pPr algn="ctr" fontAlgn="ctr"/>
                      <a:r>
                        <a:rPr lang="fr-FR" sz="2100" u="none" strike="noStrike" dirty="0">
                          <a:effectLst/>
                        </a:rPr>
                        <a:t>0.08266</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u="none" strike="noStrike" dirty="0">
                          <a:effectLst/>
                        </a:rPr>
                        <a:t>0.07944</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u="none" strike="noStrike" dirty="0">
                          <a:effectLst/>
                        </a:rPr>
                        <a:t>0.09631</a:t>
                      </a:r>
                      <a:endParaRPr lang="fr-FR" sz="2100" b="0" i="0" u="none" strike="noStrike" dirty="0">
                        <a:solidFill>
                          <a:srgbClr val="000000"/>
                        </a:solidFill>
                        <a:effectLst/>
                        <a:latin typeface="+mn-lt"/>
                      </a:endParaRPr>
                    </a:p>
                  </a:txBody>
                  <a:tcPr marL="9525" marR="9525" marT="9525" marB="0" anchor="ctr"/>
                </a:tc>
                <a:extLst>
                  <a:ext uri="{0D108BD9-81ED-4DB2-BD59-A6C34878D82A}">
                    <a16:rowId xmlns:a16="http://schemas.microsoft.com/office/drawing/2014/main" val="51175674"/>
                  </a:ext>
                </a:extLst>
              </a:tr>
              <a:tr h="389715">
                <a:tc>
                  <a:txBody>
                    <a:bodyPr/>
                    <a:lstStyle/>
                    <a:p>
                      <a:pPr algn="ctr" rtl="0" fontAlgn="ctr"/>
                      <a:r>
                        <a:rPr lang="fr-FR" sz="2100" u="none" strike="noStrike" dirty="0">
                          <a:effectLst/>
                        </a:rPr>
                        <a:t>rs3764814</a:t>
                      </a:r>
                      <a:endParaRPr lang="fr-FR" sz="2100" b="0" i="0" u="none" strike="noStrike" dirty="0">
                        <a:solidFill>
                          <a:srgbClr val="262626"/>
                        </a:solidFill>
                        <a:effectLst/>
                        <a:latin typeface="+mn-lt"/>
                      </a:endParaRPr>
                    </a:p>
                  </a:txBody>
                  <a:tcPr marL="9525" marR="9525" marT="9525" marB="0" anchor="ctr">
                    <a:solidFill>
                      <a:srgbClr val="FCE9DC"/>
                    </a:solidFill>
                  </a:tcPr>
                </a:tc>
                <a:tc>
                  <a:txBody>
                    <a:bodyPr/>
                    <a:lstStyle/>
                    <a:p>
                      <a:pPr algn="ctr" fontAlgn="ctr"/>
                      <a:r>
                        <a:rPr lang="fr-FR" sz="2100" u="none" strike="noStrike" dirty="0">
                          <a:effectLst/>
                        </a:rPr>
                        <a:t>7</a:t>
                      </a:r>
                      <a:endParaRPr lang="fr-FR" sz="2100" b="0" i="0" u="none" strike="noStrike" dirty="0">
                        <a:solidFill>
                          <a:srgbClr val="000000"/>
                        </a:solidFill>
                        <a:effectLst/>
                        <a:latin typeface="+mn-lt"/>
                      </a:endParaRPr>
                    </a:p>
                  </a:txBody>
                  <a:tcPr marL="9525" marR="9525" marT="9525" marB="0" anchor="ctr">
                    <a:solidFill>
                      <a:srgbClr val="FCE9DC"/>
                    </a:solidFill>
                  </a:tcPr>
                </a:tc>
                <a:tc>
                  <a:txBody>
                    <a:bodyPr/>
                    <a:lstStyle/>
                    <a:p>
                      <a:pPr algn="ctr" rtl="0" fontAlgn="ctr"/>
                      <a:r>
                        <a:rPr lang="fr-FR" sz="2100" u="none" strike="noStrike" dirty="0">
                          <a:solidFill>
                            <a:schemeClr val="accent6">
                              <a:lumMod val="75000"/>
                            </a:schemeClr>
                          </a:solidFill>
                          <a:effectLst/>
                        </a:rPr>
                        <a:t>USP42</a:t>
                      </a:r>
                      <a:endParaRPr lang="fr-FR" sz="2100" b="1" i="0" u="none" strike="noStrike" dirty="0">
                        <a:solidFill>
                          <a:schemeClr val="accent6">
                            <a:lumMod val="75000"/>
                          </a:schemeClr>
                        </a:solidFill>
                        <a:effectLst/>
                        <a:latin typeface="+mn-lt"/>
                      </a:endParaRPr>
                    </a:p>
                  </a:txBody>
                  <a:tcPr marL="9525" marR="9525" marT="9525" marB="0" anchor="ctr">
                    <a:solidFill>
                      <a:srgbClr val="FCE9DC"/>
                    </a:solidFill>
                  </a:tcPr>
                </a:tc>
                <a:tc>
                  <a:txBody>
                    <a:bodyPr/>
                    <a:lstStyle/>
                    <a:p>
                      <a:pPr algn="ctr" fontAlgn="ctr"/>
                      <a:r>
                        <a:rPr lang="fr-FR" sz="2100" u="none" strike="noStrike" dirty="0">
                          <a:effectLst/>
                        </a:rPr>
                        <a:t>European</a:t>
                      </a:r>
                      <a:endParaRPr lang="fr-FR" sz="2100" b="0" i="0" u="none" strike="noStrike" dirty="0">
                        <a:solidFill>
                          <a:srgbClr val="000000"/>
                        </a:solidFill>
                        <a:effectLst/>
                        <a:latin typeface="+mn-lt"/>
                      </a:endParaRPr>
                    </a:p>
                  </a:txBody>
                  <a:tcPr marL="9525" marR="9525" marT="9525" marB="0" anchor="ctr">
                    <a:solidFill>
                      <a:srgbClr val="FCE9DC"/>
                    </a:solidFill>
                  </a:tcPr>
                </a:tc>
                <a:tc>
                  <a:txBody>
                    <a:bodyPr/>
                    <a:lstStyle/>
                    <a:p>
                      <a:pPr marL="0" marR="0" lvl="0" indent="0" algn="ctr" defTabSz="3028036" rtl="0" eaLnBrk="1" fontAlgn="ctr" latinLnBrk="0" hangingPunct="1">
                        <a:lnSpc>
                          <a:spcPct val="100000"/>
                        </a:lnSpc>
                        <a:spcBef>
                          <a:spcPts val="0"/>
                        </a:spcBef>
                        <a:spcAft>
                          <a:spcPts val="0"/>
                        </a:spcAft>
                        <a:buClrTx/>
                        <a:buSzTx/>
                        <a:buFontTx/>
                        <a:buNone/>
                        <a:tabLst/>
                        <a:defRPr/>
                      </a:pPr>
                      <a:r>
                        <a:rPr lang="fr-FR" sz="2100" b="0" i="0" u="none" strike="noStrike" dirty="0">
                          <a:solidFill>
                            <a:srgbClr val="000000"/>
                          </a:solidFill>
                          <a:effectLst/>
                          <a:latin typeface="+mn-lt"/>
                        </a:rPr>
                        <a:t>Imputation</a:t>
                      </a:r>
                    </a:p>
                  </a:txBody>
                  <a:tcPr marL="9525" marR="9525" marT="9525" marB="0" anchor="ctr">
                    <a:solidFill>
                      <a:srgbClr val="FCE9DC"/>
                    </a:solidFill>
                  </a:tcPr>
                </a:tc>
                <a:tc>
                  <a:txBody>
                    <a:bodyPr/>
                    <a:lstStyle/>
                    <a:p>
                      <a:pPr algn="r" fontAlgn="ctr"/>
                      <a:r>
                        <a:rPr lang="fr-FR" sz="2100" b="0" i="0" u="none" strike="noStrike" dirty="0">
                          <a:solidFill>
                            <a:srgbClr val="000000"/>
                          </a:solidFill>
                          <a:effectLst/>
                          <a:latin typeface="+mn-lt"/>
                        </a:rPr>
                        <a:t>5 × 10⁻</a:t>
                      </a:r>
                      <a:r>
                        <a:rPr lang="fr-FR" sz="2100" b="0" i="0" u="none" strike="noStrike" baseline="30000" dirty="0">
                          <a:solidFill>
                            <a:srgbClr val="000000"/>
                          </a:solidFill>
                          <a:effectLst/>
                          <a:latin typeface="+mn-lt"/>
                        </a:rPr>
                        <a:t>15</a:t>
                      </a:r>
                      <a:r>
                        <a:rPr lang="fr-FR" sz="2100" b="0" i="0" u="none" strike="noStrike" dirty="0">
                          <a:solidFill>
                            <a:srgbClr val="000000"/>
                          </a:solidFill>
                          <a:effectLst/>
                          <a:latin typeface="+mn-lt"/>
                        </a:rPr>
                        <a:t>  </a:t>
                      </a:r>
                    </a:p>
                  </a:txBody>
                  <a:tcPr marL="0" marR="108000" marT="0" marB="0" anchor="ctr">
                    <a:solidFill>
                      <a:srgbClr val="FCE9DC"/>
                    </a:solidFill>
                  </a:tcPr>
                </a:tc>
                <a:tc>
                  <a:txBody>
                    <a:bodyPr/>
                    <a:lstStyle/>
                    <a:p>
                      <a:pPr algn="ctr" fontAlgn="ctr"/>
                      <a:r>
                        <a:rPr lang="fr-FR" sz="2100" u="none" strike="noStrike" dirty="0">
                          <a:effectLst/>
                        </a:rPr>
                        <a:t>0.07633</a:t>
                      </a:r>
                      <a:endParaRPr lang="fr-FR" sz="2100" b="0" i="0" u="none" strike="noStrike" dirty="0">
                        <a:solidFill>
                          <a:srgbClr val="000000"/>
                        </a:solidFill>
                        <a:effectLst/>
                        <a:latin typeface="+mn-lt"/>
                      </a:endParaRPr>
                    </a:p>
                  </a:txBody>
                  <a:tcPr marL="9525" marR="9525" marT="9525" marB="0" anchor="ctr">
                    <a:solidFill>
                      <a:srgbClr val="FCE9DC"/>
                    </a:solidFill>
                  </a:tcPr>
                </a:tc>
                <a:tc>
                  <a:txBody>
                    <a:bodyPr/>
                    <a:lstStyle/>
                    <a:p>
                      <a:pPr algn="ctr" fontAlgn="ctr"/>
                      <a:r>
                        <a:rPr lang="fr-FR" sz="2100" u="none" strike="noStrike" dirty="0">
                          <a:effectLst/>
                        </a:rPr>
                        <a:t>0.08131</a:t>
                      </a:r>
                      <a:endParaRPr lang="fr-FR" sz="2100" b="0" i="0" u="none" strike="noStrike" dirty="0">
                        <a:solidFill>
                          <a:srgbClr val="000000"/>
                        </a:solidFill>
                        <a:effectLst/>
                        <a:latin typeface="+mn-lt"/>
                      </a:endParaRPr>
                    </a:p>
                  </a:txBody>
                  <a:tcPr marL="9525" marR="9525" marT="9525" marB="0" anchor="ctr">
                    <a:solidFill>
                      <a:srgbClr val="FCE9DC"/>
                    </a:solidFill>
                  </a:tcPr>
                </a:tc>
                <a:tc>
                  <a:txBody>
                    <a:bodyPr/>
                    <a:lstStyle/>
                    <a:p>
                      <a:pPr algn="ctr" fontAlgn="ctr"/>
                      <a:r>
                        <a:rPr lang="fr-FR" sz="2100" u="none" strike="noStrike" dirty="0">
                          <a:effectLst/>
                        </a:rPr>
                        <a:t>0.19174</a:t>
                      </a:r>
                      <a:endParaRPr lang="fr-FR" sz="2100" b="0" i="0" u="none" strike="noStrike" dirty="0">
                        <a:solidFill>
                          <a:srgbClr val="000000"/>
                        </a:solidFill>
                        <a:effectLst/>
                        <a:latin typeface="+mn-lt"/>
                      </a:endParaRPr>
                    </a:p>
                  </a:txBody>
                  <a:tcPr marL="9525" marR="9525" marT="9525" marB="0" anchor="ctr">
                    <a:solidFill>
                      <a:srgbClr val="FCE9DC"/>
                    </a:solidFill>
                  </a:tcPr>
                </a:tc>
                <a:extLst>
                  <a:ext uri="{0D108BD9-81ED-4DB2-BD59-A6C34878D82A}">
                    <a16:rowId xmlns:a16="http://schemas.microsoft.com/office/drawing/2014/main" val="3755532748"/>
                  </a:ext>
                </a:extLst>
              </a:tr>
              <a:tr h="389715">
                <a:tc>
                  <a:txBody>
                    <a:bodyPr/>
                    <a:lstStyle/>
                    <a:p>
                      <a:pPr algn="ctr" rtl="0" fontAlgn="ctr"/>
                      <a:r>
                        <a:rPr lang="fr-FR" sz="2100" u="none" strike="noStrike" dirty="0">
                          <a:effectLst/>
                        </a:rPr>
                        <a:t>rs7976168</a:t>
                      </a:r>
                      <a:endParaRPr lang="fr-FR" sz="2100" b="0" i="0" u="none" strike="noStrike" dirty="0">
                        <a:solidFill>
                          <a:srgbClr val="262626"/>
                        </a:solidFill>
                        <a:effectLst/>
                        <a:latin typeface="+mn-lt"/>
                      </a:endParaRPr>
                    </a:p>
                  </a:txBody>
                  <a:tcPr marL="9525" marR="9525" marT="9525" marB="0" anchor="ctr"/>
                </a:tc>
                <a:tc>
                  <a:txBody>
                    <a:bodyPr/>
                    <a:lstStyle/>
                    <a:p>
                      <a:pPr algn="ctr" fontAlgn="ctr"/>
                      <a:r>
                        <a:rPr lang="fr-FR" sz="2100" u="none" strike="noStrike">
                          <a:effectLst/>
                        </a:rPr>
                        <a:t>12</a:t>
                      </a:r>
                      <a:endParaRPr lang="fr-FR" sz="2100" b="0" i="0" u="none" strike="noStrike">
                        <a:solidFill>
                          <a:srgbClr val="000000"/>
                        </a:solidFill>
                        <a:effectLst/>
                        <a:latin typeface="+mn-lt"/>
                      </a:endParaRPr>
                    </a:p>
                  </a:txBody>
                  <a:tcPr marL="9525" marR="9525" marT="9525" marB="0" anchor="ctr"/>
                </a:tc>
                <a:tc>
                  <a:txBody>
                    <a:bodyPr/>
                    <a:lstStyle/>
                    <a:p>
                      <a:pPr algn="ctr" rtl="0" fontAlgn="ctr"/>
                      <a:r>
                        <a:rPr lang="fr-FR" sz="2100" u="none" strike="noStrike" dirty="0">
                          <a:solidFill>
                            <a:schemeClr val="accent6">
                              <a:lumMod val="75000"/>
                            </a:schemeClr>
                          </a:solidFill>
                          <a:effectLst/>
                        </a:rPr>
                        <a:t>TMTC2</a:t>
                      </a:r>
                      <a:endParaRPr lang="fr-FR" sz="2100" b="1" i="0" u="none" strike="noStrike" dirty="0">
                        <a:solidFill>
                          <a:schemeClr val="accent6">
                            <a:lumMod val="75000"/>
                          </a:schemeClr>
                        </a:solidFill>
                        <a:effectLst/>
                        <a:latin typeface="+mn-lt"/>
                      </a:endParaRPr>
                    </a:p>
                  </a:txBody>
                  <a:tcPr marL="9525" marR="9525" marT="9525" marB="0" anchor="ctr"/>
                </a:tc>
                <a:tc>
                  <a:txBody>
                    <a:bodyPr/>
                    <a:lstStyle/>
                    <a:p>
                      <a:pPr algn="ctr" fontAlgn="ctr"/>
                      <a:r>
                        <a:rPr lang="fr-FR" sz="2100" u="none" strike="noStrike" dirty="0">
                          <a:effectLst/>
                        </a:rPr>
                        <a:t>European</a:t>
                      </a:r>
                      <a:endParaRPr lang="fr-FR" sz="2100" b="0" i="0" u="none" strike="noStrike" dirty="0">
                        <a:solidFill>
                          <a:srgbClr val="000000"/>
                        </a:solidFill>
                        <a:effectLst/>
                        <a:latin typeface="+mn-lt"/>
                      </a:endParaRPr>
                    </a:p>
                  </a:txBody>
                  <a:tcPr marL="9525" marR="9525" marT="9525" marB="0" anchor="ctr"/>
                </a:tc>
                <a:tc>
                  <a:txBody>
                    <a:bodyPr/>
                    <a:lstStyle/>
                    <a:p>
                      <a:pPr marL="0" marR="0" lvl="0" indent="0" algn="ctr" defTabSz="3028036" rtl="0" eaLnBrk="1" fontAlgn="ctr" latinLnBrk="0" hangingPunct="1">
                        <a:lnSpc>
                          <a:spcPct val="100000"/>
                        </a:lnSpc>
                        <a:spcBef>
                          <a:spcPts val="0"/>
                        </a:spcBef>
                        <a:spcAft>
                          <a:spcPts val="0"/>
                        </a:spcAft>
                        <a:buClrTx/>
                        <a:buSzTx/>
                        <a:buFontTx/>
                        <a:buNone/>
                        <a:tabLst/>
                        <a:defRPr/>
                      </a:pPr>
                      <a:r>
                        <a:rPr lang="fr-FR" sz="2100" b="0" i="0" u="none" strike="noStrike" dirty="0">
                          <a:solidFill>
                            <a:srgbClr val="000000"/>
                          </a:solidFill>
                          <a:effectLst/>
                          <a:latin typeface="+mn-lt"/>
                        </a:rPr>
                        <a:t>Imputation</a:t>
                      </a:r>
                    </a:p>
                  </a:txBody>
                  <a:tcPr marL="9525" marR="9525" marT="9525" marB="0" anchor="ctr"/>
                </a:tc>
                <a:tc>
                  <a:txBody>
                    <a:bodyPr/>
                    <a:lstStyle/>
                    <a:p>
                      <a:pPr algn="r" fontAlgn="ctr"/>
                      <a:r>
                        <a:rPr lang="fr-FR" sz="2100" b="0" i="0" u="none" strike="noStrike" dirty="0">
                          <a:solidFill>
                            <a:srgbClr val="000000"/>
                          </a:solidFill>
                          <a:effectLst/>
                          <a:latin typeface="+mn-lt"/>
                        </a:rPr>
                        <a:t>4 × 10⁻</a:t>
                      </a:r>
                      <a:r>
                        <a:rPr lang="fr-FR" sz="2100" b="0" i="0" u="none" strike="noStrike" baseline="30000" dirty="0">
                          <a:solidFill>
                            <a:srgbClr val="000000"/>
                          </a:solidFill>
                          <a:effectLst/>
                          <a:latin typeface="+mn-lt"/>
                        </a:rPr>
                        <a:t>9</a:t>
                      </a:r>
                      <a:r>
                        <a:rPr lang="fr-FR" sz="2100" b="0" i="0" u="none" strike="noStrike" dirty="0">
                          <a:solidFill>
                            <a:srgbClr val="000000"/>
                          </a:solidFill>
                          <a:effectLst/>
                          <a:latin typeface="+mn-lt"/>
                        </a:rPr>
                        <a:t> </a:t>
                      </a:r>
                    </a:p>
                  </a:txBody>
                  <a:tcPr marL="0" marR="108000" marT="0" marB="0" anchor="ctr"/>
                </a:tc>
                <a:tc>
                  <a:txBody>
                    <a:bodyPr/>
                    <a:lstStyle/>
                    <a:p>
                      <a:pPr algn="ctr" fontAlgn="ctr"/>
                      <a:r>
                        <a:rPr lang="fr-FR" sz="2100" u="none" strike="noStrike" dirty="0">
                          <a:effectLst/>
                        </a:rPr>
                        <a:t>0.33379 </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u="none" strike="noStrike" dirty="0">
                          <a:effectLst/>
                        </a:rPr>
                        <a:t>0.32290</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u="none" strike="noStrike" dirty="0">
                          <a:effectLst/>
                        </a:rPr>
                        <a:t>0.31255 </a:t>
                      </a:r>
                      <a:endParaRPr lang="fr-FR" sz="2100" b="0" i="0" u="none" strike="noStrike" dirty="0">
                        <a:solidFill>
                          <a:srgbClr val="000000"/>
                        </a:solidFill>
                        <a:effectLst/>
                        <a:latin typeface="+mn-lt"/>
                      </a:endParaRPr>
                    </a:p>
                  </a:txBody>
                  <a:tcPr marL="9525" marR="9525" marT="9525" marB="0" anchor="ctr"/>
                </a:tc>
                <a:extLst>
                  <a:ext uri="{0D108BD9-81ED-4DB2-BD59-A6C34878D82A}">
                    <a16:rowId xmlns:a16="http://schemas.microsoft.com/office/drawing/2014/main" val="1771528582"/>
                  </a:ext>
                </a:extLst>
              </a:tr>
              <a:tr h="389715">
                <a:tc>
                  <a:txBody>
                    <a:bodyPr/>
                    <a:lstStyle/>
                    <a:p>
                      <a:pPr algn="ctr" rtl="0" fontAlgn="ctr"/>
                      <a:r>
                        <a:rPr lang="fr-FR" sz="2100" u="none" strike="noStrike" dirty="0">
                          <a:effectLst/>
                        </a:rPr>
                        <a:t>rs2440012</a:t>
                      </a:r>
                      <a:endParaRPr lang="fr-FR" sz="2100" b="0" i="0" u="none" strike="noStrike" dirty="0">
                        <a:solidFill>
                          <a:srgbClr val="262626"/>
                        </a:solidFill>
                        <a:effectLst/>
                        <a:latin typeface="+mn-lt"/>
                      </a:endParaRPr>
                    </a:p>
                  </a:txBody>
                  <a:tcPr marL="9525" marR="9525" marT="9525" marB="0" anchor="ctr">
                    <a:solidFill>
                      <a:srgbClr val="FCE9DC"/>
                    </a:solidFill>
                  </a:tcPr>
                </a:tc>
                <a:tc>
                  <a:txBody>
                    <a:bodyPr/>
                    <a:lstStyle/>
                    <a:p>
                      <a:pPr algn="ctr" fontAlgn="ctr"/>
                      <a:r>
                        <a:rPr lang="fr-FR" sz="2100" u="none" strike="noStrike" dirty="0">
                          <a:effectLst/>
                        </a:rPr>
                        <a:t>13</a:t>
                      </a:r>
                      <a:endParaRPr lang="fr-FR" sz="2100" b="0" i="0" u="none" strike="noStrike" dirty="0">
                        <a:solidFill>
                          <a:srgbClr val="000000"/>
                        </a:solidFill>
                        <a:effectLst/>
                        <a:latin typeface="+mn-lt"/>
                      </a:endParaRPr>
                    </a:p>
                  </a:txBody>
                  <a:tcPr marL="9525" marR="9525" marT="9525" marB="0" anchor="ctr">
                    <a:solidFill>
                      <a:srgbClr val="FCE9DC"/>
                    </a:solidFill>
                  </a:tcPr>
                </a:tc>
                <a:tc>
                  <a:txBody>
                    <a:bodyPr/>
                    <a:lstStyle/>
                    <a:p>
                      <a:pPr algn="ctr" rtl="0" fontAlgn="ctr"/>
                      <a:r>
                        <a:rPr lang="fr-FR" sz="2100" u="none" strike="noStrike" dirty="0">
                          <a:solidFill>
                            <a:schemeClr val="accent6">
                              <a:lumMod val="75000"/>
                            </a:schemeClr>
                          </a:solidFill>
                          <a:effectLst/>
                        </a:rPr>
                        <a:t>ANKRD20A9P</a:t>
                      </a:r>
                      <a:endParaRPr lang="fr-FR" sz="2100" b="1" i="0" u="none" strike="noStrike" dirty="0">
                        <a:solidFill>
                          <a:schemeClr val="accent6">
                            <a:lumMod val="75000"/>
                          </a:schemeClr>
                        </a:solidFill>
                        <a:effectLst/>
                        <a:latin typeface="+mn-lt"/>
                      </a:endParaRPr>
                    </a:p>
                  </a:txBody>
                  <a:tcPr marL="9525" marR="9525" marT="9525" marB="0" anchor="ctr">
                    <a:solidFill>
                      <a:srgbClr val="FCE9DC"/>
                    </a:solidFill>
                  </a:tcPr>
                </a:tc>
                <a:tc>
                  <a:txBody>
                    <a:bodyPr/>
                    <a:lstStyle/>
                    <a:p>
                      <a:pPr algn="ctr" fontAlgn="ctr"/>
                      <a:r>
                        <a:rPr lang="fr-FR" sz="2100" u="none" strike="noStrike" dirty="0">
                          <a:effectLst/>
                        </a:rPr>
                        <a:t>East Asian (Han Chinese)</a:t>
                      </a:r>
                      <a:endParaRPr lang="fr-FR" sz="2100" b="0" i="0" u="none" strike="noStrike" dirty="0">
                        <a:solidFill>
                          <a:srgbClr val="000000"/>
                        </a:solidFill>
                        <a:effectLst/>
                        <a:latin typeface="+mn-lt"/>
                      </a:endParaRPr>
                    </a:p>
                  </a:txBody>
                  <a:tcPr marL="9525" marR="9525" marT="9525" marB="0" anchor="ctr">
                    <a:solidFill>
                      <a:srgbClr val="FCE9DC"/>
                    </a:solidFill>
                  </a:tcPr>
                </a:tc>
                <a:tc>
                  <a:txBody>
                    <a:bodyPr/>
                    <a:lstStyle/>
                    <a:p>
                      <a:pPr algn="ctr" fontAlgn="ctr"/>
                      <a:r>
                        <a:rPr lang="fr-FR" sz="2100" dirty="0"/>
                        <a:t>Genotyping</a:t>
                      </a:r>
                      <a:endParaRPr lang="fr-FR" sz="2100" b="0" i="0" u="none" strike="noStrike" dirty="0">
                        <a:solidFill>
                          <a:srgbClr val="000000"/>
                        </a:solidFill>
                        <a:effectLst/>
                        <a:latin typeface="+mn-lt"/>
                      </a:endParaRPr>
                    </a:p>
                  </a:txBody>
                  <a:tcPr marL="9525" marR="9525" marT="9525" marB="0" anchor="ctr">
                    <a:solidFill>
                      <a:srgbClr val="FCE9DC"/>
                    </a:solidFill>
                  </a:tcPr>
                </a:tc>
                <a:tc>
                  <a:txBody>
                    <a:bodyPr/>
                    <a:lstStyle/>
                    <a:p>
                      <a:pPr algn="r" fontAlgn="ctr"/>
                      <a:r>
                        <a:rPr lang="fr-FR" sz="2100" b="0" i="0" u="none" strike="noStrike" dirty="0">
                          <a:solidFill>
                            <a:srgbClr val="000000"/>
                          </a:solidFill>
                          <a:effectLst/>
                          <a:latin typeface="+mn-lt"/>
                        </a:rPr>
                        <a:t>4.89 × 10⁻⁸  </a:t>
                      </a:r>
                    </a:p>
                  </a:txBody>
                  <a:tcPr marL="0" marR="108000" marT="0" marB="0" anchor="ctr">
                    <a:solidFill>
                      <a:srgbClr val="FCE9DC"/>
                    </a:solidFill>
                  </a:tcPr>
                </a:tc>
                <a:tc>
                  <a:txBody>
                    <a:bodyPr/>
                    <a:lstStyle/>
                    <a:p>
                      <a:pPr algn="ctr" fontAlgn="ctr"/>
                      <a:r>
                        <a:rPr lang="fr-FR" sz="2100" u="none" strike="noStrike" dirty="0">
                          <a:effectLst/>
                        </a:rPr>
                        <a:t>0.18202</a:t>
                      </a:r>
                      <a:endParaRPr lang="fr-FR" sz="2100" b="0" i="0" u="none" strike="noStrike" dirty="0">
                        <a:solidFill>
                          <a:srgbClr val="000000"/>
                        </a:solidFill>
                        <a:effectLst/>
                        <a:latin typeface="+mn-lt"/>
                      </a:endParaRPr>
                    </a:p>
                  </a:txBody>
                  <a:tcPr marL="9525" marR="9525" marT="9525" marB="0" anchor="ctr">
                    <a:solidFill>
                      <a:srgbClr val="FCE9DC"/>
                    </a:solidFill>
                  </a:tcPr>
                </a:tc>
                <a:tc>
                  <a:txBody>
                    <a:bodyPr/>
                    <a:lstStyle/>
                    <a:p>
                      <a:pPr algn="ctr" fontAlgn="ctr"/>
                      <a:r>
                        <a:rPr lang="fr-FR" sz="2100" u="none" strike="noStrike" dirty="0">
                          <a:effectLst/>
                        </a:rPr>
                        <a:t>0.18879</a:t>
                      </a:r>
                      <a:endParaRPr lang="fr-FR" sz="2100" b="0" i="0" u="none" strike="noStrike" dirty="0">
                        <a:solidFill>
                          <a:srgbClr val="000000"/>
                        </a:solidFill>
                        <a:effectLst/>
                        <a:latin typeface="+mn-lt"/>
                      </a:endParaRPr>
                    </a:p>
                  </a:txBody>
                  <a:tcPr marL="9525" marR="9525" marT="9525" marB="0" anchor="ctr">
                    <a:solidFill>
                      <a:srgbClr val="FCE9DC"/>
                    </a:solidFill>
                  </a:tcPr>
                </a:tc>
                <a:tc>
                  <a:txBody>
                    <a:bodyPr/>
                    <a:lstStyle/>
                    <a:p>
                      <a:pPr algn="ctr" fontAlgn="ctr"/>
                      <a:r>
                        <a:rPr lang="fr-FR" sz="2100" u="none" strike="noStrike" dirty="0">
                          <a:effectLst/>
                        </a:rPr>
                        <a:t>0.00143</a:t>
                      </a:r>
                      <a:endParaRPr lang="fr-FR" sz="2100" b="0" i="0" u="none" strike="noStrike" dirty="0">
                        <a:solidFill>
                          <a:srgbClr val="000000"/>
                        </a:solidFill>
                        <a:effectLst/>
                        <a:latin typeface="+mn-lt"/>
                      </a:endParaRPr>
                    </a:p>
                  </a:txBody>
                  <a:tcPr marL="9525" marR="9525" marT="9525" marB="0" anchor="ctr">
                    <a:solidFill>
                      <a:srgbClr val="FCE9DC"/>
                    </a:solidFill>
                  </a:tcPr>
                </a:tc>
                <a:extLst>
                  <a:ext uri="{0D108BD9-81ED-4DB2-BD59-A6C34878D82A}">
                    <a16:rowId xmlns:a16="http://schemas.microsoft.com/office/drawing/2014/main" val="592820702"/>
                  </a:ext>
                </a:extLst>
              </a:tr>
              <a:tr h="389715">
                <a:tc>
                  <a:txBody>
                    <a:bodyPr/>
                    <a:lstStyle/>
                    <a:p>
                      <a:pPr algn="ctr" rtl="0" fontAlgn="ctr"/>
                      <a:r>
                        <a:rPr lang="fr-FR" sz="2100" u="none" strike="noStrike" dirty="0">
                          <a:effectLst/>
                        </a:rPr>
                        <a:t>rs72824905</a:t>
                      </a:r>
                      <a:endParaRPr lang="fr-FR" sz="2100" b="0" i="0" u="none" strike="noStrike" dirty="0">
                        <a:solidFill>
                          <a:srgbClr val="262626"/>
                        </a:solidFill>
                        <a:effectLst/>
                        <a:latin typeface="+mn-lt"/>
                      </a:endParaRPr>
                    </a:p>
                  </a:txBody>
                  <a:tcPr marL="9525" marR="9525" marT="9525" marB="0" anchor="ctr">
                    <a:solidFill>
                      <a:srgbClr val="FCE9DC"/>
                    </a:solidFill>
                  </a:tcPr>
                </a:tc>
                <a:tc>
                  <a:txBody>
                    <a:bodyPr/>
                    <a:lstStyle/>
                    <a:p>
                      <a:pPr algn="ctr" fontAlgn="ctr"/>
                      <a:r>
                        <a:rPr lang="fr-FR" sz="2100" u="none" strike="noStrike">
                          <a:effectLst/>
                        </a:rPr>
                        <a:t>16</a:t>
                      </a:r>
                      <a:endParaRPr lang="fr-FR" sz="2100" b="0" i="0" u="none" strike="noStrike">
                        <a:solidFill>
                          <a:srgbClr val="000000"/>
                        </a:solidFill>
                        <a:effectLst/>
                        <a:latin typeface="+mn-lt"/>
                      </a:endParaRPr>
                    </a:p>
                  </a:txBody>
                  <a:tcPr marL="9525" marR="9525" marT="9525" marB="0" anchor="ctr">
                    <a:solidFill>
                      <a:srgbClr val="FCE9DC"/>
                    </a:solidFill>
                  </a:tcPr>
                </a:tc>
                <a:tc>
                  <a:txBody>
                    <a:bodyPr/>
                    <a:lstStyle/>
                    <a:p>
                      <a:pPr algn="ctr" rtl="0" fontAlgn="ctr"/>
                      <a:r>
                        <a:rPr lang="fr-FR" sz="2100" u="none" strike="noStrike" dirty="0">
                          <a:solidFill>
                            <a:schemeClr val="accent6">
                              <a:lumMod val="75000"/>
                            </a:schemeClr>
                          </a:solidFill>
                          <a:effectLst/>
                        </a:rPr>
                        <a:t>PLCG2</a:t>
                      </a:r>
                      <a:endParaRPr lang="fr-FR" sz="2100" b="1" i="0" u="none" strike="noStrike" dirty="0">
                        <a:solidFill>
                          <a:schemeClr val="accent6">
                            <a:lumMod val="75000"/>
                          </a:schemeClr>
                        </a:solidFill>
                        <a:effectLst/>
                        <a:latin typeface="+mn-lt"/>
                      </a:endParaRPr>
                    </a:p>
                  </a:txBody>
                  <a:tcPr marL="9525" marR="9525" marT="9525" marB="0" anchor="ctr">
                    <a:solidFill>
                      <a:srgbClr val="FCE9DC"/>
                    </a:solidFill>
                  </a:tcPr>
                </a:tc>
                <a:tc>
                  <a:txBody>
                    <a:bodyPr/>
                    <a:lstStyle/>
                    <a:p>
                      <a:pPr algn="ctr" fontAlgn="ctr"/>
                      <a:r>
                        <a:rPr lang="fr-FR" sz="2100" u="none" strike="noStrike" dirty="0">
                          <a:effectLst/>
                        </a:rPr>
                        <a:t>Multiple cohorts</a:t>
                      </a:r>
                      <a:endParaRPr lang="fr-FR" sz="2100" b="0" i="0" u="none" strike="noStrike" dirty="0">
                        <a:solidFill>
                          <a:srgbClr val="000000"/>
                        </a:solidFill>
                        <a:effectLst/>
                        <a:latin typeface="+mn-lt"/>
                      </a:endParaRPr>
                    </a:p>
                  </a:txBody>
                  <a:tcPr marL="9525" marR="9525" marT="9525" marB="0" anchor="ctr">
                    <a:solidFill>
                      <a:srgbClr val="FCE9DC"/>
                    </a:solidFill>
                  </a:tcPr>
                </a:tc>
                <a:tc>
                  <a:txBody>
                    <a:bodyPr/>
                    <a:lstStyle/>
                    <a:p>
                      <a:pPr algn="ctr" fontAlgn="ctr"/>
                      <a:r>
                        <a:rPr lang="fr-FR" sz="2100" b="0" i="0" u="none" strike="noStrike" dirty="0">
                          <a:solidFill>
                            <a:srgbClr val="000000"/>
                          </a:solidFill>
                          <a:effectLst/>
                          <a:latin typeface="+mn-lt"/>
                        </a:rPr>
                        <a:t>Mixed</a:t>
                      </a:r>
                    </a:p>
                  </a:txBody>
                  <a:tcPr marL="9525" marR="9525" marT="9525" marB="0" anchor="ctr">
                    <a:solidFill>
                      <a:srgbClr val="FCE9DC"/>
                    </a:solidFill>
                  </a:tcPr>
                </a:tc>
                <a:tc>
                  <a:txBody>
                    <a:bodyPr/>
                    <a:lstStyle/>
                    <a:p>
                      <a:pPr algn="r" fontAlgn="ctr"/>
                      <a:r>
                        <a:rPr lang="fr-FR" sz="2100" b="0" i="0" u="none" strike="noStrike" dirty="0">
                          <a:solidFill>
                            <a:srgbClr val="000000"/>
                          </a:solidFill>
                          <a:effectLst/>
                          <a:latin typeface="+mn-lt"/>
                        </a:rPr>
                        <a:t> 5.38 × 10</a:t>
                      </a:r>
                      <a:r>
                        <a:rPr lang="fr-FR" sz="2100" b="0" i="0" u="none" strike="noStrike" kern="1200" dirty="0">
                          <a:solidFill>
                            <a:srgbClr val="000000"/>
                          </a:solidFill>
                          <a:effectLst/>
                          <a:latin typeface="+mn-lt"/>
                          <a:ea typeface="+mn-ea"/>
                          <a:cs typeface="+mn-cs"/>
                        </a:rPr>
                        <a:t>⁻</a:t>
                      </a:r>
                      <a:r>
                        <a:rPr lang="fr-FR" sz="2100" b="0" i="0" u="none" strike="noStrike" kern="1200" baseline="30000" dirty="0">
                          <a:solidFill>
                            <a:srgbClr val="000000"/>
                          </a:solidFill>
                          <a:effectLst/>
                          <a:latin typeface="+mn-lt"/>
                          <a:ea typeface="+mn-ea"/>
                          <a:cs typeface="+mn-cs"/>
                        </a:rPr>
                        <a:t>10</a:t>
                      </a:r>
                      <a:r>
                        <a:rPr lang="fr-FR" sz="2100" b="0" i="0" u="none" strike="noStrike" kern="1200" dirty="0">
                          <a:solidFill>
                            <a:srgbClr val="000000"/>
                          </a:solidFill>
                          <a:effectLst/>
                          <a:latin typeface="+mn-lt"/>
                          <a:ea typeface="+mn-ea"/>
                          <a:cs typeface="+mn-cs"/>
                        </a:rPr>
                        <a:t> </a:t>
                      </a:r>
                    </a:p>
                  </a:txBody>
                  <a:tcPr marL="0" marR="108000" marT="0" marB="0" anchor="ctr">
                    <a:solidFill>
                      <a:srgbClr val="FCE9DC"/>
                    </a:solidFill>
                  </a:tcPr>
                </a:tc>
                <a:tc>
                  <a:txBody>
                    <a:bodyPr/>
                    <a:lstStyle/>
                    <a:p>
                      <a:pPr algn="ctr" fontAlgn="ctr"/>
                      <a:r>
                        <a:rPr lang="fr-FR" sz="2100" u="none" strike="noStrike" dirty="0">
                          <a:effectLst/>
                        </a:rPr>
                        <a:t>0.01265</a:t>
                      </a:r>
                      <a:endParaRPr lang="fr-FR" sz="2100" b="0" i="0" u="none" strike="noStrike" dirty="0">
                        <a:solidFill>
                          <a:srgbClr val="000000"/>
                        </a:solidFill>
                        <a:effectLst/>
                        <a:latin typeface="+mn-lt"/>
                      </a:endParaRPr>
                    </a:p>
                  </a:txBody>
                  <a:tcPr marL="9525" marR="9525" marT="9525" marB="0" anchor="ctr">
                    <a:solidFill>
                      <a:srgbClr val="FCE9DC"/>
                    </a:solidFill>
                  </a:tcPr>
                </a:tc>
                <a:tc>
                  <a:txBody>
                    <a:bodyPr/>
                    <a:lstStyle/>
                    <a:p>
                      <a:pPr algn="ctr" fontAlgn="ctr"/>
                      <a:r>
                        <a:rPr lang="fr-FR" sz="2100" u="none" strike="noStrike" dirty="0">
                          <a:effectLst/>
                        </a:rPr>
                        <a:t>0.00794</a:t>
                      </a:r>
                      <a:endParaRPr lang="fr-FR" sz="2100" b="0" i="0" u="none" strike="noStrike" dirty="0">
                        <a:solidFill>
                          <a:srgbClr val="000000"/>
                        </a:solidFill>
                        <a:effectLst/>
                        <a:latin typeface="+mn-lt"/>
                      </a:endParaRPr>
                    </a:p>
                  </a:txBody>
                  <a:tcPr marL="9525" marR="9525" marT="9525" marB="0" anchor="ctr">
                    <a:solidFill>
                      <a:srgbClr val="FCE9DC"/>
                    </a:solidFill>
                  </a:tcPr>
                </a:tc>
                <a:tc>
                  <a:txBody>
                    <a:bodyPr/>
                    <a:lstStyle/>
                    <a:p>
                      <a:pPr algn="ctr" fontAlgn="ctr"/>
                      <a:r>
                        <a:rPr lang="fr-FR" sz="2100" u="none" strike="noStrike" dirty="0">
                          <a:effectLst/>
                        </a:rPr>
                        <a:t>0.00494</a:t>
                      </a:r>
                      <a:endParaRPr lang="fr-FR" sz="2100" b="0" i="0" u="none" strike="noStrike" dirty="0">
                        <a:solidFill>
                          <a:srgbClr val="000000"/>
                        </a:solidFill>
                        <a:effectLst/>
                        <a:latin typeface="+mn-lt"/>
                      </a:endParaRPr>
                    </a:p>
                  </a:txBody>
                  <a:tcPr marL="9525" marR="9525" marT="9525" marB="0" anchor="ctr">
                    <a:solidFill>
                      <a:srgbClr val="FCE9DC"/>
                    </a:solidFill>
                  </a:tcPr>
                </a:tc>
                <a:extLst>
                  <a:ext uri="{0D108BD9-81ED-4DB2-BD59-A6C34878D82A}">
                    <a16:rowId xmlns:a16="http://schemas.microsoft.com/office/drawing/2014/main" val="1913060640"/>
                  </a:ext>
                </a:extLst>
              </a:tr>
              <a:tr h="389715">
                <a:tc>
                  <a:txBody>
                    <a:bodyPr/>
                    <a:lstStyle/>
                    <a:p>
                      <a:pPr algn="ctr" rtl="0" fontAlgn="ctr"/>
                      <a:r>
                        <a:rPr lang="fr-FR" sz="2100" u="none" strike="noStrike" dirty="0">
                          <a:effectLst/>
                        </a:rPr>
                        <a:t>rs616338</a:t>
                      </a:r>
                      <a:endParaRPr lang="fr-FR" sz="2100" b="0" i="0" u="none" strike="noStrike" dirty="0">
                        <a:solidFill>
                          <a:srgbClr val="262626"/>
                        </a:solidFill>
                        <a:effectLst/>
                        <a:latin typeface="+mn-lt"/>
                      </a:endParaRPr>
                    </a:p>
                  </a:txBody>
                  <a:tcPr marL="9525" marR="9525" marT="9525" marB="0" anchor="ctr"/>
                </a:tc>
                <a:tc>
                  <a:txBody>
                    <a:bodyPr/>
                    <a:lstStyle/>
                    <a:p>
                      <a:pPr algn="ctr" fontAlgn="ctr"/>
                      <a:r>
                        <a:rPr lang="fr-FR" sz="2100" u="none" strike="noStrike" dirty="0">
                          <a:effectLst/>
                        </a:rPr>
                        <a:t>17</a:t>
                      </a:r>
                      <a:endParaRPr lang="fr-FR" sz="2100" b="0" i="0" u="none" strike="noStrike" dirty="0">
                        <a:solidFill>
                          <a:srgbClr val="000000"/>
                        </a:solidFill>
                        <a:effectLst/>
                        <a:latin typeface="+mn-lt"/>
                      </a:endParaRPr>
                    </a:p>
                  </a:txBody>
                  <a:tcPr marL="9525" marR="9525" marT="9525" marB="0" anchor="ctr"/>
                </a:tc>
                <a:tc>
                  <a:txBody>
                    <a:bodyPr/>
                    <a:lstStyle/>
                    <a:p>
                      <a:pPr algn="ctr" rtl="0" fontAlgn="ctr"/>
                      <a:r>
                        <a:rPr lang="fr-FR" sz="2100" u="none" strike="noStrike" dirty="0">
                          <a:solidFill>
                            <a:srgbClr val="FF0000"/>
                          </a:solidFill>
                          <a:effectLst/>
                        </a:rPr>
                        <a:t>ABI3</a:t>
                      </a:r>
                      <a:endParaRPr lang="fr-FR" sz="2100" b="1" i="0" u="none" strike="noStrike" dirty="0">
                        <a:solidFill>
                          <a:srgbClr val="FF0000"/>
                        </a:solidFill>
                        <a:effectLst/>
                        <a:latin typeface="+mn-lt"/>
                      </a:endParaRPr>
                    </a:p>
                  </a:txBody>
                  <a:tcPr marL="9525" marR="9525" marT="9525" marB="0" anchor="ctr"/>
                </a:tc>
                <a:tc>
                  <a:txBody>
                    <a:bodyPr/>
                    <a:lstStyle/>
                    <a:p>
                      <a:pPr algn="ctr" fontAlgn="ctr"/>
                      <a:r>
                        <a:rPr lang="fr-FR" sz="2100" u="none" strike="noStrike" dirty="0">
                          <a:effectLst/>
                        </a:rPr>
                        <a:t>Multiple cohorts</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b="0" i="0" u="none" strike="noStrike" dirty="0">
                          <a:solidFill>
                            <a:srgbClr val="000000"/>
                          </a:solidFill>
                          <a:effectLst/>
                          <a:latin typeface="+mn-lt"/>
                        </a:rPr>
                        <a:t>Mixed</a:t>
                      </a:r>
                    </a:p>
                  </a:txBody>
                  <a:tcPr marL="9525" marR="9525" marT="9525" marB="0" anchor="ctr"/>
                </a:tc>
                <a:tc>
                  <a:txBody>
                    <a:bodyPr/>
                    <a:lstStyle/>
                    <a:p>
                      <a:pPr algn="r" fontAlgn="ctr"/>
                      <a:r>
                        <a:rPr lang="fr-FR" sz="2100" b="0" i="0" u="none" strike="noStrike" dirty="0">
                          <a:solidFill>
                            <a:srgbClr val="000000"/>
                          </a:solidFill>
                          <a:effectLst/>
                          <a:latin typeface="+mn-lt"/>
                        </a:rPr>
                        <a:t>4.56 × 10⁻</a:t>
                      </a:r>
                      <a:r>
                        <a:rPr lang="fr-FR" sz="2100" b="0" i="0" u="none" strike="noStrike" baseline="30000" dirty="0">
                          <a:solidFill>
                            <a:srgbClr val="000000"/>
                          </a:solidFill>
                          <a:effectLst/>
                          <a:latin typeface="+mn-lt"/>
                        </a:rPr>
                        <a:t>10</a:t>
                      </a:r>
                      <a:r>
                        <a:rPr lang="fr-FR" sz="2100" b="0" i="0" u="none" strike="noStrike" dirty="0">
                          <a:solidFill>
                            <a:srgbClr val="000000"/>
                          </a:solidFill>
                          <a:effectLst/>
                          <a:latin typeface="+mn-lt"/>
                        </a:rPr>
                        <a:t> </a:t>
                      </a:r>
                    </a:p>
                  </a:txBody>
                  <a:tcPr marL="0" marR="108000" marT="0" marB="0" anchor="ctr"/>
                </a:tc>
                <a:tc>
                  <a:txBody>
                    <a:bodyPr/>
                    <a:lstStyle/>
                    <a:p>
                      <a:pPr algn="ctr" fontAlgn="ctr"/>
                      <a:r>
                        <a:rPr lang="fr-FR" sz="2100" u="none" strike="noStrike" dirty="0">
                          <a:effectLst/>
                        </a:rPr>
                        <a:t>0.99503</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u="none" strike="noStrike" dirty="0">
                          <a:effectLst/>
                        </a:rPr>
                        <a:t>0.99019</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u="none" strike="noStrike" dirty="0">
                          <a:effectLst/>
                        </a:rPr>
                        <a:t>0.99423</a:t>
                      </a:r>
                      <a:endParaRPr lang="fr-FR" sz="2100" b="0" i="0" u="none" strike="noStrike" dirty="0">
                        <a:solidFill>
                          <a:srgbClr val="000000"/>
                        </a:solidFill>
                        <a:effectLst/>
                        <a:latin typeface="+mn-lt"/>
                      </a:endParaRPr>
                    </a:p>
                  </a:txBody>
                  <a:tcPr marL="9525" marR="9525" marT="9525" marB="0" anchor="ctr"/>
                </a:tc>
                <a:extLst>
                  <a:ext uri="{0D108BD9-81ED-4DB2-BD59-A6C34878D82A}">
                    <a16:rowId xmlns:a16="http://schemas.microsoft.com/office/drawing/2014/main" val="3475328921"/>
                  </a:ext>
                </a:extLst>
              </a:tr>
              <a:tr h="389715">
                <a:tc>
                  <a:txBody>
                    <a:bodyPr/>
                    <a:lstStyle/>
                    <a:p>
                      <a:pPr algn="ctr" rtl="0" fontAlgn="ctr"/>
                      <a:r>
                        <a:rPr lang="fr-FR" sz="2100" u="none" strike="noStrike" dirty="0">
                          <a:effectLst/>
                        </a:rPr>
                        <a:t>rs4420638</a:t>
                      </a:r>
                      <a:endParaRPr lang="fr-FR" sz="2100" b="0" i="0" u="none" strike="noStrike" dirty="0">
                        <a:solidFill>
                          <a:srgbClr val="262626"/>
                        </a:solidFill>
                        <a:effectLst/>
                        <a:latin typeface="+mn-lt"/>
                      </a:endParaRPr>
                    </a:p>
                  </a:txBody>
                  <a:tcPr marL="9525" marR="9525" marT="9525" marB="0" anchor="ctr"/>
                </a:tc>
                <a:tc>
                  <a:txBody>
                    <a:bodyPr/>
                    <a:lstStyle/>
                    <a:p>
                      <a:pPr algn="ctr" fontAlgn="ctr"/>
                      <a:r>
                        <a:rPr lang="fr-FR" sz="2100" u="none" strike="noStrike" dirty="0">
                          <a:effectLst/>
                        </a:rPr>
                        <a:t>19</a:t>
                      </a:r>
                      <a:endParaRPr lang="fr-FR" sz="2100" b="0" i="0" u="none" strike="noStrike" dirty="0">
                        <a:solidFill>
                          <a:srgbClr val="000000"/>
                        </a:solidFill>
                        <a:effectLst/>
                        <a:latin typeface="+mn-lt"/>
                      </a:endParaRPr>
                    </a:p>
                  </a:txBody>
                  <a:tcPr marL="9525" marR="9525" marT="9525" marB="0" anchor="ctr"/>
                </a:tc>
                <a:tc>
                  <a:txBody>
                    <a:bodyPr/>
                    <a:lstStyle/>
                    <a:p>
                      <a:pPr algn="ctr" rtl="0" fontAlgn="ctr"/>
                      <a:r>
                        <a:rPr lang="fr-FR" sz="2100" u="none" strike="noStrike" dirty="0">
                          <a:solidFill>
                            <a:srgbClr val="FF0000"/>
                          </a:solidFill>
                          <a:effectLst/>
                        </a:rPr>
                        <a:t>APOC1</a:t>
                      </a:r>
                      <a:endParaRPr lang="fr-FR" sz="2100" b="1" i="0" u="none" strike="noStrike" dirty="0">
                        <a:solidFill>
                          <a:srgbClr val="FF0000"/>
                        </a:solidFill>
                        <a:effectLst/>
                        <a:latin typeface="+mn-lt"/>
                      </a:endParaRPr>
                    </a:p>
                  </a:txBody>
                  <a:tcPr marL="9525" marR="9525" marT="9525" marB="0" anchor="ctr"/>
                </a:tc>
                <a:tc>
                  <a:txBody>
                    <a:bodyPr/>
                    <a:lstStyle/>
                    <a:p>
                      <a:pPr algn="ctr" fontAlgn="ctr"/>
                      <a:r>
                        <a:rPr lang="fr-FR" sz="2100" u="none" strike="noStrike" dirty="0">
                          <a:effectLst/>
                        </a:rPr>
                        <a:t>European</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b="0" i="0" u="none" strike="noStrike" dirty="0">
                          <a:solidFill>
                            <a:srgbClr val="000000"/>
                          </a:solidFill>
                          <a:effectLst/>
                          <a:latin typeface="+mn-lt"/>
                        </a:rPr>
                        <a:t>Genotyping</a:t>
                      </a:r>
                    </a:p>
                  </a:txBody>
                  <a:tcPr marL="9525" marR="9525" marT="9525" marB="0" anchor="ctr"/>
                </a:tc>
                <a:tc>
                  <a:txBody>
                    <a:bodyPr/>
                    <a:lstStyle/>
                    <a:p>
                      <a:pPr algn="r" fontAlgn="ctr"/>
                      <a:r>
                        <a:rPr lang="fr-FR" sz="2100" b="0" i="0" u="none" strike="noStrike" dirty="0">
                          <a:solidFill>
                            <a:srgbClr val="000000"/>
                          </a:solidFill>
                          <a:effectLst/>
                          <a:latin typeface="+mn-lt"/>
                        </a:rPr>
                        <a:t>2.2 × 10⁻¹⁶   </a:t>
                      </a:r>
                    </a:p>
                  </a:txBody>
                  <a:tcPr marL="0" marR="108000" marT="0" marB="0" anchor="ctr"/>
                </a:tc>
                <a:tc>
                  <a:txBody>
                    <a:bodyPr/>
                    <a:lstStyle/>
                    <a:p>
                      <a:pPr algn="ctr" fontAlgn="ctr"/>
                      <a:r>
                        <a:rPr lang="fr-FR" sz="2100" u="none" strike="noStrike" dirty="0">
                          <a:effectLst/>
                        </a:rPr>
                        <a:t>0.09214</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u="none" strike="noStrike" dirty="0">
                          <a:effectLst/>
                        </a:rPr>
                        <a:t>0.15841</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u="none" strike="noStrike" dirty="0">
                          <a:effectLst/>
                        </a:rPr>
                        <a:t>0.18007</a:t>
                      </a:r>
                      <a:endParaRPr lang="fr-FR" sz="2100" b="0" i="0" u="none" strike="noStrike" dirty="0">
                        <a:solidFill>
                          <a:srgbClr val="000000"/>
                        </a:solidFill>
                        <a:effectLst/>
                        <a:latin typeface="+mn-lt"/>
                      </a:endParaRPr>
                    </a:p>
                  </a:txBody>
                  <a:tcPr marL="9525" marR="9525" marT="9525" marB="0" anchor="ctr"/>
                </a:tc>
                <a:extLst>
                  <a:ext uri="{0D108BD9-81ED-4DB2-BD59-A6C34878D82A}">
                    <a16:rowId xmlns:a16="http://schemas.microsoft.com/office/drawing/2014/main" val="2043097448"/>
                  </a:ext>
                </a:extLst>
              </a:tr>
              <a:tr h="389715">
                <a:tc>
                  <a:txBody>
                    <a:bodyPr/>
                    <a:lstStyle/>
                    <a:p>
                      <a:pPr algn="ctr" rtl="0" fontAlgn="ctr"/>
                      <a:r>
                        <a:rPr lang="fr-FR" sz="2100" u="none" strike="noStrike" dirty="0">
                          <a:effectLst/>
                        </a:rPr>
                        <a:t>rs7412</a:t>
                      </a:r>
                      <a:endParaRPr lang="fr-FR" sz="2100" b="0" i="0" u="none" strike="noStrike" dirty="0">
                        <a:solidFill>
                          <a:srgbClr val="262626"/>
                        </a:solidFill>
                        <a:effectLst/>
                        <a:latin typeface="+mn-lt"/>
                      </a:endParaRPr>
                    </a:p>
                  </a:txBody>
                  <a:tcPr marL="9525" marR="9525" marT="9525" marB="0" anchor="ctr"/>
                </a:tc>
                <a:tc>
                  <a:txBody>
                    <a:bodyPr/>
                    <a:lstStyle/>
                    <a:p>
                      <a:pPr algn="ctr" fontAlgn="ctr"/>
                      <a:r>
                        <a:rPr lang="fr-FR" sz="2100" u="none" strike="noStrike">
                          <a:effectLst/>
                        </a:rPr>
                        <a:t>19</a:t>
                      </a:r>
                      <a:endParaRPr lang="fr-FR" sz="2100" b="0" i="0" u="none" strike="noStrike">
                        <a:solidFill>
                          <a:srgbClr val="000000"/>
                        </a:solidFill>
                        <a:effectLst/>
                        <a:latin typeface="+mn-lt"/>
                      </a:endParaRPr>
                    </a:p>
                  </a:txBody>
                  <a:tcPr marL="9525" marR="9525" marT="9525" marB="0" anchor="ctr"/>
                </a:tc>
                <a:tc>
                  <a:txBody>
                    <a:bodyPr/>
                    <a:lstStyle/>
                    <a:p>
                      <a:pPr algn="ctr" rtl="0" fontAlgn="ctr"/>
                      <a:r>
                        <a:rPr lang="fr-FR" sz="2100" u="none" strike="noStrike" dirty="0">
                          <a:solidFill>
                            <a:schemeClr val="accent6">
                              <a:lumMod val="75000"/>
                            </a:schemeClr>
                          </a:solidFill>
                          <a:effectLst/>
                        </a:rPr>
                        <a:t>APOE (APOE2)</a:t>
                      </a:r>
                      <a:endParaRPr lang="fr-FR" sz="2100" b="1" i="0" u="none" strike="noStrike" dirty="0">
                        <a:solidFill>
                          <a:schemeClr val="accent6">
                            <a:lumMod val="75000"/>
                          </a:schemeClr>
                        </a:solidFill>
                        <a:effectLst/>
                        <a:latin typeface="+mn-lt"/>
                      </a:endParaRPr>
                    </a:p>
                  </a:txBody>
                  <a:tcPr marL="9525" marR="9525" marT="9525" marB="0" anchor="ctr"/>
                </a:tc>
                <a:tc>
                  <a:txBody>
                    <a:bodyPr/>
                    <a:lstStyle/>
                    <a:p>
                      <a:pPr algn="ctr" fontAlgn="ctr"/>
                      <a:r>
                        <a:rPr lang="fr-FR" sz="2100" u="none" strike="noStrike" dirty="0">
                          <a:effectLst/>
                        </a:rPr>
                        <a:t>European</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b="0" i="0" u="none" strike="noStrike" dirty="0">
                          <a:solidFill>
                            <a:srgbClr val="000000"/>
                          </a:solidFill>
                          <a:effectLst/>
                          <a:latin typeface="+mn-lt"/>
                        </a:rPr>
                        <a:t>Mixed</a:t>
                      </a:r>
                    </a:p>
                  </a:txBody>
                  <a:tcPr marL="9525" marR="9525" marT="9525" marB="0" anchor="ctr"/>
                </a:tc>
                <a:tc>
                  <a:txBody>
                    <a:bodyPr/>
                    <a:lstStyle/>
                    <a:p>
                      <a:pPr algn="r" fontAlgn="ctr"/>
                      <a:r>
                        <a:rPr lang="fr-FR" sz="2100" b="0" i="0" u="none" strike="noStrike" dirty="0">
                          <a:solidFill>
                            <a:srgbClr val="000000"/>
                          </a:solidFill>
                          <a:effectLst/>
                          <a:latin typeface="+mn-lt"/>
                        </a:rPr>
                        <a:t>1.7 × 10⁻</a:t>
                      </a:r>
                      <a:r>
                        <a:rPr lang="fr-FR" sz="2100" b="0" i="0" u="none" strike="noStrike" baseline="30000" dirty="0">
                          <a:solidFill>
                            <a:srgbClr val="000000"/>
                          </a:solidFill>
                          <a:effectLst/>
                          <a:latin typeface="+mn-lt"/>
                        </a:rPr>
                        <a:t>12</a:t>
                      </a:r>
                      <a:r>
                        <a:rPr lang="fr-FR" sz="2100" b="0" i="0" u="none" strike="noStrike" dirty="0">
                          <a:solidFill>
                            <a:srgbClr val="000000"/>
                          </a:solidFill>
                          <a:effectLst/>
                          <a:latin typeface="+mn-lt"/>
                        </a:rPr>
                        <a:t> </a:t>
                      </a:r>
                    </a:p>
                  </a:txBody>
                  <a:tcPr marL="0" marR="108000" marT="0" marB="0" anchor="ctr"/>
                </a:tc>
                <a:tc>
                  <a:txBody>
                    <a:bodyPr/>
                    <a:lstStyle/>
                    <a:p>
                      <a:pPr algn="ctr" fontAlgn="ctr"/>
                      <a:r>
                        <a:rPr lang="fr-FR" sz="2100" u="none" strike="noStrike" dirty="0">
                          <a:effectLst/>
                        </a:rPr>
                        <a:t>0.10614</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u="none" strike="noStrike" dirty="0">
                          <a:effectLst/>
                        </a:rPr>
                        <a:t>0.07850</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u="none" strike="noStrike" dirty="0">
                          <a:effectLst/>
                        </a:rPr>
                        <a:t>0.07784</a:t>
                      </a:r>
                      <a:endParaRPr lang="fr-FR" sz="2100" b="0" i="0" u="none" strike="noStrike" dirty="0">
                        <a:solidFill>
                          <a:srgbClr val="000000"/>
                        </a:solidFill>
                        <a:effectLst/>
                        <a:latin typeface="+mn-lt"/>
                      </a:endParaRPr>
                    </a:p>
                  </a:txBody>
                  <a:tcPr marL="9525" marR="9525" marT="9525" marB="0" anchor="ctr"/>
                </a:tc>
                <a:extLst>
                  <a:ext uri="{0D108BD9-81ED-4DB2-BD59-A6C34878D82A}">
                    <a16:rowId xmlns:a16="http://schemas.microsoft.com/office/drawing/2014/main" val="4109523154"/>
                  </a:ext>
                </a:extLst>
              </a:tr>
              <a:tr h="389715">
                <a:tc>
                  <a:txBody>
                    <a:bodyPr/>
                    <a:lstStyle/>
                    <a:p>
                      <a:pPr algn="ctr" rtl="0" fontAlgn="ctr"/>
                      <a:r>
                        <a:rPr lang="fr-FR" sz="2100" u="none" strike="noStrike" dirty="0">
                          <a:effectLst/>
                        </a:rPr>
                        <a:t>rs429358</a:t>
                      </a:r>
                      <a:endParaRPr lang="fr-FR" sz="2100" b="0" i="0" u="none" strike="noStrike" dirty="0">
                        <a:solidFill>
                          <a:srgbClr val="262626"/>
                        </a:solidFill>
                        <a:effectLst/>
                        <a:latin typeface="+mn-lt"/>
                      </a:endParaRPr>
                    </a:p>
                  </a:txBody>
                  <a:tcPr marL="9525" marR="9525" marT="9525" marB="0" anchor="ctr">
                    <a:solidFill>
                      <a:srgbClr val="FCE9DC"/>
                    </a:solidFill>
                  </a:tcPr>
                </a:tc>
                <a:tc>
                  <a:txBody>
                    <a:bodyPr/>
                    <a:lstStyle/>
                    <a:p>
                      <a:pPr algn="ctr" fontAlgn="ctr"/>
                      <a:r>
                        <a:rPr lang="fr-FR" sz="2100" u="none" strike="noStrike" dirty="0">
                          <a:effectLst/>
                        </a:rPr>
                        <a:t>19</a:t>
                      </a:r>
                      <a:endParaRPr lang="fr-FR" sz="2100" b="0" i="0" u="none" strike="noStrike" dirty="0">
                        <a:solidFill>
                          <a:srgbClr val="000000"/>
                        </a:solidFill>
                        <a:effectLst/>
                        <a:latin typeface="+mn-lt"/>
                      </a:endParaRPr>
                    </a:p>
                  </a:txBody>
                  <a:tcPr marL="9525" marR="9525" marT="9525" marB="0" anchor="ctr">
                    <a:solidFill>
                      <a:srgbClr val="FCE9DC"/>
                    </a:solidFill>
                  </a:tcPr>
                </a:tc>
                <a:tc>
                  <a:txBody>
                    <a:bodyPr/>
                    <a:lstStyle/>
                    <a:p>
                      <a:pPr algn="ctr" rtl="0" fontAlgn="ctr"/>
                      <a:r>
                        <a:rPr lang="fr-FR" sz="2100" u="none" strike="noStrike" dirty="0">
                          <a:solidFill>
                            <a:srgbClr val="FF0000"/>
                          </a:solidFill>
                          <a:effectLst/>
                        </a:rPr>
                        <a:t>APOE (APOE4)</a:t>
                      </a:r>
                      <a:endParaRPr lang="fr-FR" sz="2100" b="1" i="0" u="none" strike="noStrike" dirty="0">
                        <a:solidFill>
                          <a:srgbClr val="FF0000"/>
                        </a:solidFill>
                        <a:effectLst/>
                        <a:latin typeface="+mn-lt"/>
                      </a:endParaRPr>
                    </a:p>
                  </a:txBody>
                  <a:tcPr marL="9525" marR="9525" marT="9525" marB="0" anchor="ctr">
                    <a:solidFill>
                      <a:srgbClr val="FCE9DC"/>
                    </a:solidFill>
                  </a:tcPr>
                </a:tc>
                <a:tc>
                  <a:txBody>
                    <a:bodyPr/>
                    <a:lstStyle/>
                    <a:p>
                      <a:pPr algn="ctr" fontAlgn="ctr"/>
                      <a:r>
                        <a:rPr lang="fr-FR" sz="2100" u="none" strike="noStrike" dirty="0">
                          <a:effectLst/>
                        </a:rPr>
                        <a:t>European</a:t>
                      </a:r>
                      <a:endParaRPr lang="fr-FR" sz="2100" b="0" i="0" u="none" strike="noStrike" dirty="0">
                        <a:solidFill>
                          <a:srgbClr val="000000"/>
                        </a:solidFill>
                        <a:effectLst/>
                        <a:latin typeface="+mn-lt"/>
                      </a:endParaRPr>
                    </a:p>
                  </a:txBody>
                  <a:tcPr marL="9525" marR="9525" marT="9525" marB="0" anchor="ctr">
                    <a:solidFill>
                      <a:srgbClr val="FCE9DC"/>
                    </a:solidFill>
                  </a:tcPr>
                </a:tc>
                <a:tc>
                  <a:txBody>
                    <a:bodyPr/>
                    <a:lstStyle/>
                    <a:p>
                      <a:pPr algn="ctr" fontAlgn="ctr"/>
                      <a:r>
                        <a:rPr lang="fr-FR" sz="2100" b="0" i="0" u="none" strike="noStrike" dirty="0">
                          <a:solidFill>
                            <a:srgbClr val="000000"/>
                          </a:solidFill>
                          <a:effectLst/>
                          <a:latin typeface="+mn-lt"/>
                        </a:rPr>
                        <a:t>Mixed</a:t>
                      </a:r>
                    </a:p>
                  </a:txBody>
                  <a:tcPr marL="9525" marR="9525" marT="9525" marB="0" anchor="ctr">
                    <a:solidFill>
                      <a:srgbClr val="FCE9DC"/>
                    </a:solidFill>
                  </a:tcPr>
                </a:tc>
                <a:tc>
                  <a:txBody>
                    <a:bodyPr/>
                    <a:lstStyle/>
                    <a:p>
                      <a:pPr algn="r" fontAlgn="ctr"/>
                      <a:r>
                        <a:rPr lang="fr-FR" sz="2100" b="0" i="0" u="none" strike="noStrike" dirty="0">
                          <a:solidFill>
                            <a:srgbClr val="000000"/>
                          </a:solidFill>
                          <a:effectLst/>
                          <a:latin typeface="+mn-lt"/>
                        </a:rPr>
                        <a:t>1.3 × 10⁻</a:t>
                      </a:r>
                      <a:r>
                        <a:rPr lang="fr-FR" sz="2100" b="0" i="0" u="none" strike="noStrike" baseline="30000" dirty="0">
                          <a:solidFill>
                            <a:srgbClr val="000000"/>
                          </a:solidFill>
                          <a:effectLst/>
                          <a:latin typeface="+mn-lt"/>
                        </a:rPr>
                        <a:t>36</a:t>
                      </a:r>
                      <a:r>
                        <a:rPr lang="fr-FR" sz="2100" b="0" i="0" u="none" strike="noStrike" dirty="0">
                          <a:solidFill>
                            <a:srgbClr val="000000"/>
                          </a:solidFill>
                          <a:effectLst/>
                          <a:latin typeface="+mn-lt"/>
                        </a:rPr>
                        <a:t> </a:t>
                      </a:r>
                    </a:p>
                  </a:txBody>
                  <a:tcPr marL="0" marR="108000" marT="0" marB="0" anchor="ctr">
                    <a:solidFill>
                      <a:srgbClr val="FCE9DC"/>
                    </a:solidFill>
                  </a:tcPr>
                </a:tc>
                <a:tc>
                  <a:txBody>
                    <a:bodyPr/>
                    <a:lstStyle/>
                    <a:p>
                      <a:pPr algn="ctr" fontAlgn="ctr"/>
                      <a:r>
                        <a:rPr lang="fr-FR" sz="2100" u="none" strike="noStrike" dirty="0">
                          <a:effectLst/>
                        </a:rPr>
                        <a:t>0.05601</a:t>
                      </a:r>
                      <a:endParaRPr lang="fr-FR" sz="2100" b="0" i="0" u="none" strike="noStrike" dirty="0">
                        <a:solidFill>
                          <a:srgbClr val="000000"/>
                        </a:solidFill>
                        <a:effectLst/>
                        <a:latin typeface="+mn-lt"/>
                      </a:endParaRPr>
                    </a:p>
                  </a:txBody>
                  <a:tcPr marL="9525" marR="9525" marT="9525" marB="0" anchor="ctr">
                    <a:solidFill>
                      <a:srgbClr val="FCE9DC"/>
                    </a:solidFill>
                  </a:tcPr>
                </a:tc>
                <a:tc>
                  <a:txBody>
                    <a:bodyPr/>
                    <a:lstStyle/>
                    <a:p>
                      <a:pPr algn="ctr" fontAlgn="ctr"/>
                      <a:r>
                        <a:rPr lang="fr-FR" sz="2100" u="none" strike="noStrike" dirty="0">
                          <a:effectLst/>
                        </a:rPr>
                        <a:t>0.12336</a:t>
                      </a:r>
                      <a:endParaRPr lang="fr-FR" sz="2100" b="0" i="0" u="none" strike="noStrike" dirty="0">
                        <a:solidFill>
                          <a:srgbClr val="000000"/>
                        </a:solidFill>
                        <a:effectLst/>
                        <a:latin typeface="+mn-lt"/>
                      </a:endParaRPr>
                    </a:p>
                  </a:txBody>
                  <a:tcPr marL="9525" marR="9525" marT="9525" marB="0" anchor="ctr">
                    <a:solidFill>
                      <a:srgbClr val="FCE9DC"/>
                    </a:solidFill>
                  </a:tcPr>
                </a:tc>
                <a:tc>
                  <a:txBody>
                    <a:bodyPr/>
                    <a:lstStyle/>
                    <a:p>
                      <a:pPr algn="ctr" fontAlgn="ctr"/>
                      <a:r>
                        <a:rPr lang="fr-FR" sz="2100" u="none" strike="noStrike" dirty="0">
                          <a:effectLst/>
                        </a:rPr>
                        <a:t>0.15736</a:t>
                      </a:r>
                      <a:endParaRPr lang="fr-FR" sz="2100" b="0" i="0" u="none" strike="noStrike" dirty="0">
                        <a:solidFill>
                          <a:srgbClr val="000000"/>
                        </a:solidFill>
                        <a:effectLst/>
                        <a:latin typeface="+mn-lt"/>
                      </a:endParaRPr>
                    </a:p>
                  </a:txBody>
                  <a:tcPr marL="9525" marR="9525" marT="9525" marB="0" anchor="ctr">
                    <a:solidFill>
                      <a:srgbClr val="FCE9DC"/>
                    </a:solidFill>
                  </a:tcPr>
                </a:tc>
                <a:extLst>
                  <a:ext uri="{0D108BD9-81ED-4DB2-BD59-A6C34878D82A}">
                    <a16:rowId xmlns:a16="http://schemas.microsoft.com/office/drawing/2014/main" val="2831043766"/>
                  </a:ext>
                </a:extLst>
              </a:tr>
              <a:tr h="389715">
                <a:tc>
                  <a:txBody>
                    <a:bodyPr/>
                    <a:lstStyle/>
                    <a:p>
                      <a:pPr algn="ctr" rtl="0" fontAlgn="ctr"/>
                      <a:r>
                        <a:rPr lang="fr-FR" sz="2100" u="none" strike="noStrike" dirty="0">
                          <a:effectLst/>
                        </a:rPr>
                        <a:t>rs6857</a:t>
                      </a:r>
                      <a:endParaRPr lang="fr-FR" sz="2100" b="0" i="0" u="none" strike="noStrike" dirty="0">
                        <a:solidFill>
                          <a:srgbClr val="262626"/>
                        </a:solidFill>
                        <a:effectLst/>
                        <a:latin typeface="+mn-lt"/>
                      </a:endParaRPr>
                    </a:p>
                  </a:txBody>
                  <a:tcPr marL="9525" marR="9525" marT="9525" marB="0" anchor="ctr">
                    <a:solidFill>
                      <a:srgbClr val="FCE9DC"/>
                    </a:solidFill>
                  </a:tcPr>
                </a:tc>
                <a:tc>
                  <a:txBody>
                    <a:bodyPr/>
                    <a:lstStyle/>
                    <a:p>
                      <a:pPr algn="ctr" fontAlgn="ctr"/>
                      <a:r>
                        <a:rPr lang="fr-FR" sz="2100" u="none" strike="noStrike" dirty="0">
                          <a:effectLst/>
                        </a:rPr>
                        <a:t>19</a:t>
                      </a:r>
                      <a:endParaRPr lang="fr-FR" sz="2100" b="0" i="0" u="none" strike="noStrike" dirty="0">
                        <a:solidFill>
                          <a:srgbClr val="000000"/>
                        </a:solidFill>
                        <a:effectLst/>
                        <a:latin typeface="+mn-lt"/>
                      </a:endParaRPr>
                    </a:p>
                  </a:txBody>
                  <a:tcPr marL="9525" marR="9525" marT="9525" marB="0" anchor="ctr">
                    <a:solidFill>
                      <a:srgbClr val="FCE9DC"/>
                    </a:solidFill>
                  </a:tcPr>
                </a:tc>
                <a:tc>
                  <a:txBody>
                    <a:bodyPr/>
                    <a:lstStyle/>
                    <a:p>
                      <a:pPr algn="ctr" rtl="0" fontAlgn="ctr"/>
                      <a:r>
                        <a:rPr lang="fr-FR" sz="2100" u="none" strike="noStrike" dirty="0">
                          <a:solidFill>
                            <a:srgbClr val="FF0000"/>
                          </a:solidFill>
                          <a:effectLst/>
                        </a:rPr>
                        <a:t>NECTIN2 (APOE4)</a:t>
                      </a:r>
                      <a:endParaRPr lang="fr-FR" sz="2100" b="1" i="0" u="none" strike="noStrike" dirty="0">
                        <a:solidFill>
                          <a:srgbClr val="FF0000"/>
                        </a:solidFill>
                        <a:effectLst/>
                        <a:latin typeface="+mn-lt"/>
                      </a:endParaRPr>
                    </a:p>
                  </a:txBody>
                  <a:tcPr marL="9525" marR="9525" marT="9525" marB="0" anchor="ctr">
                    <a:solidFill>
                      <a:srgbClr val="FCE9DC"/>
                    </a:solidFill>
                  </a:tcPr>
                </a:tc>
                <a:tc>
                  <a:txBody>
                    <a:bodyPr/>
                    <a:lstStyle/>
                    <a:p>
                      <a:pPr algn="ctr" fontAlgn="ctr"/>
                      <a:r>
                        <a:rPr lang="fr-FR" sz="2100" u="none" strike="noStrike" dirty="0">
                          <a:effectLst/>
                        </a:rPr>
                        <a:t>European</a:t>
                      </a:r>
                      <a:endParaRPr lang="fr-FR" sz="2100" b="0" i="0" u="none" strike="noStrike" dirty="0">
                        <a:solidFill>
                          <a:srgbClr val="000000"/>
                        </a:solidFill>
                        <a:effectLst/>
                        <a:latin typeface="+mn-lt"/>
                      </a:endParaRPr>
                    </a:p>
                  </a:txBody>
                  <a:tcPr marL="9525" marR="9525" marT="9525" marB="0" anchor="ctr">
                    <a:solidFill>
                      <a:srgbClr val="FCE9DC"/>
                    </a:solidFill>
                  </a:tcPr>
                </a:tc>
                <a:tc>
                  <a:txBody>
                    <a:bodyPr/>
                    <a:lstStyle/>
                    <a:p>
                      <a:pPr algn="ctr" fontAlgn="ctr"/>
                      <a:r>
                        <a:rPr lang="fr-FR" sz="2100" b="0" i="0" u="none" strike="noStrike" dirty="0">
                          <a:solidFill>
                            <a:srgbClr val="000000"/>
                          </a:solidFill>
                          <a:effectLst/>
                          <a:latin typeface="+mn-lt"/>
                        </a:rPr>
                        <a:t>Imputation</a:t>
                      </a:r>
                    </a:p>
                  </a:txBody>
                  <a:tcPr marL="9525" marR="9525" marT="9525" marB="0" anchor="ctr">
                    <a:solidFill>
                      <a:srgbClr val="FCE9DC"/>
                    </a:solidFill>
                  </a:tcPr>
                </a:tc>
                <a:tc>
                  <a:txBody>
                    <a:bodyPr/>
                    <a:lstStyle/>
                    <a:p>
                      <a:pPr algn="r" fontAlgn="ctr"/>
                      <a:r>
                        <a:rPr lang="fr-FR" sz="2100" b="0" i="0" u="none" strike="noStrike" dirty="0">
                          <a:solidFill>
                            <a:srgbClr val="000000"/>
                          </a:solidFill>
                          <a:effectLst/>
                          <a:latin typeface="+mn-lt"/>
                        </a:rPr>
                        <a:t>2 × 10⁻²⁷ </a:t>
                      </a:r>
                    </a:p>
                  </a:txBody>
                  <a:tcPr marL="0" marR="108000" marT="0" marB="0" anchor="ctr">
                    <a:solidFill>
                      <a:srgbClr val="FCE9DC"/>
                    </a:solidFill>
                  </a:tcPr>
                </a:tc>
                <a:tc>
                  <a:txBody>
                    <a:bodyPr/>
                    <a:lstStyle/>
                    <a:p>
                      <a:pPr algn="ctr" fontAlgn="ctr"/>
                      <a:r>
                        <a:rPr lang="fr-FR" sz="2100" u="none" strike="noStrike" dirty="0">
                          <a:effectLst/>
                        </a:rPr>
                        <a:t>0.07453</a:t>
                      </a:r>
                      <a:endParaRPr lang="fr-FR" sz="2100" b="0" i="0" u="none" strike="noStrike" dirty="0">
                        <a:solidFill>
                          <a:srgbClr val="000000"/>
                        </a:solidFill>
                        <a:effectLst/>
                        <a:latin typeface="+mn-lt"/>
                      </a:endParaRPr>
                    </a:p>
                  </a:txBody>
                  <a:tcPr marL="9525" marR="9525" marT="9525" marB="0" anchor="ctr">
                    <a:solidFill>
                      <a:srgbClr val="FCE9DC"/>
                    </a:solidFill>
                  </a:tcPr>
                </a:tc>
                <a:tc>
                  <a:txBody>
                    <a:bodyPr/>
                    <a:lstStyle/>
                    <a:p>
                      <a:pPr algn="ctr" fontAlgn="ctr"/>
                      <a:r>
                        <a:rPr lang="fr-FR" sz="2100" u="none" strike="noStrike" dirty="0">
                          <a:effectLst/>
                        </a:rPr>
                        <a:t>0.13645</a:t>
                      </a:r>
                      <a:endParaRPr lang="fr-FR" sz="2100" b="0" i="0" u="none" strike="noStrike" dirty="0">
                        <a:solidFill>
                          <a:srgbClr val="000000"/>
                        </a:solidFill>
                        <a:effectLst/>
                        <a:latin typeface="+mn-lt"/>
                      </a:endParaRPr>
                    </a:p>
                  </a:txBody>
                  <a:tcPr marL="9525" marR="9525" marT="9525" marB="0" anchor="ctr">
                    <a:solidFill>
                      <a:srgbClr val="FCE9DC"/>
                    </a:solidFill>
                  </a:tcPr>
                </a:tc>
                <a:tc>
                  <a:txBody>
                    <a:bodyPr/>
                    <a:lstStyle/>
                    <a:p>
                      <a:pPr algn="ctr" fontAlgn="ctr"/>
                      <a:r>
                        <a:rPr lang="fr-FR" sz="2100" u="none" strike="noStrike" dirty="0">
                          <a:effectLst/>
                        </a:rPr>
                        <a:t>0.12608</a:t>
                      </a:r>
                      <a:endParaRPr lang="fr-FR" sz="2100" b="0" i="0" u="none" strike="noStrike" dirty="0">
                        <a:solidFill>
                          <a:srgbClr val="000000"/>
                        </a:solidFill>
                        <a:effectLst/>
                        <a:latin typeface="+mn-lt"/>
                      </a:endParaRPr>
                    </a:p>
                  </a:txBody>
                  <a:tcPr marL="9525" marR="9525" marT="9525" marB="0" anchor="ctr">
                    <a:solidFill>
                      <a:srgbClr val="FCE9DC"/>
                    </a:solidFill>
                  </a:tcPr>
                </a:tc>
                <a:extLst>
                  <a:ext uri="{0D108BD9-81ED-4DB2-BD59-A6C34878D82A}">
                    <a16:rowId xmlns:a16="http://schemas.microsoft.com/office/drawing/2014/main" val="3029933772"/>
                  </a:ext>
                </a:extLst>
              </a:tr>
              <a:tr h="651176">
                <a:tc>
                  <a:txBody>
                    <a:bodyPr/>
                    <a:lstStyle/>
                    <a:p>
                      <a:pPr algn="ctr" rtl="0" fontAlgn="ctr"/>
                      <a:r>
                        <a:rPr lang="fr-FR" sz="2100" u="none" strike="noStrike" dirty="0">
                          <a:effectLst/>
                        </a:rPr>
                        <a:t>rs2075650</a:t>
                      </a:r>
                      <a:endParaRPr lang="fr-FR" sz="2100" b="0" i="0" u="none" strike="noStrike" dirty="0">
                        <a:solidFill>
                          <a:srgbClr val="262626"/>
                        </a:solidFill>
                        <a:effectLst/>
                        <a:latin typeface="+mn-lt"/>
                      </a:endParaRPr>
                    </a:p>
                  </a:txBody>
                  <a:tcPr marL="9525" marR="9525" marT="9525" marB="0" anchor="ctr"/>
                </a:tc>
                <a:tc>
                  <a:txBody>
                    <a:bodyPr/>
                    <a:lstStyle/>
                    <a:p>
                      <a:pPr algn="ctr" fontAlgn="ctr"/>
                      <a:r>
                        <a:rPr lang="fr-FR" sz="2100" u="none" strike="noStrike">
                          <a:effectLst/>
                        </a:rPr>
                        <a:t>19</a:t>
                      </a:r>
                      <a:endParaRPr lang="fr-FR" sz="2100" b="0" i="0" u="none" strike="noStrike">
                        <a:solidFill>
                          <a:srgbClr val="000000"/>
                        </a:solidFill>
                        <a:effectLst/>
                        <a:latin typeface="+mn-lt"/>
                      </a:endParaRPr>
                    </a:p>
                  </a:txBody>
                  <a:tcPr marL="9525" marR="9525" marT="9525" marB="0" anchor="ctr"/>
                </a:tc>
                <a:tc>
                  <a:txBody>
                    <a:bodyPr/>
                    <a:lstStyle/>
                    <a:p>
                      <a:pPr algn="ctr" rtl="0" fontAlgn="ctr"/>
                      <a:r>
                        <a:rPr lang="fr-FR" sz="2100" u="none" strike="noStrike" dirty="0">
                          <a:solidFill>
                            <a:srgbClr val="FF0000"/>
                          </a:solidFill>
                          <a:effectLst/>
                        </a:rPr>
                        <a:t>TOMM40 (APOE4)</a:t>
                      </a:r>
                      <a:endParaRPr lang="fr-FR" sz="2100" b="1" i="0" u="none" strike="noStrike" dirty="0">
                        <a:solidFill>
                          <a:srgbClr val="FF0000"/>
                        </a:solidFill>
                        <a:effectLst/>
                        <a:latin typeface="+mn-lt"/>
                      </a:endParaRPr>
                    </a:p>
                  </a:txBody>
                  <a:tcPr marL="9525" marR="9525" marT="9525" marB="0" anchor="ctr"/>
                </a:tc>
                <a:tc>
                  <a:txBody>
                    <a:bodyPr/>
                    <a:lstStyle/>
                    <a:p>
                      <a:pPr algn="ctr" fontAlgn="ctr"/>
                      <a:r>
                        <a:rPr lang="en-US" sz="2100" u="none" strike="noStrike" dirty="0">
                          <a:effectLst/>
                        </a:rPr>
                        <a:t>European/ East Asian </a:t>
                      </a:r>
                    </a:p>
                    <a:p>
                      <a:pPr algn="ctr" fontAlgn="ctr"/>
                      <a:r>
                        <a:rPr lang="en-US" sz="2100" u="none" strike="noStrike" dirty="0">
                          <a:effectLst/>
                        </a:rPr>
                        <a:t>(Han Chinese)</a:t>
                      </a:r>
                      <a:endParaRPr lang="en-US" sz="2100" b="0" i="0" u="none" strike="noStrike" dirty="0">
                        <a:solidFill>
                          <a:srgbClr val="000000"/>
                        </a:solidFill>
                        <a:effectLst/>
                        <a:latin typeface="+mn-lt"/>
                      </a:endParaRPr>
                    </a:p>
                  </a:txBody>
                  <a:tcPr marL="9525" marR="9525" marT="9525" marB="0" anchor="ctr"/>
                </a:tc>
                <a:tc>
                  <a:txBody>
                    <a:bodyPr/>
                    <a:lstStyle/>
                    <a:p>
                      <a:pPr algn="ctr" fontAlgn="ctr"/>
                      <a:r>
                        <a:rPr lang="fr-FR" sz="2100" b="0" i="0" u="none" strike="noStrike" dirty="0">
                          <a:solidFill>
                            <a:srgbClr val="000000"/>
                          </a:solidFill>
                          <a:effectLst/>
                          <a:latin typeface="+mn-lt"/>
                        </a:rPr>
                        <a:t>Genotyping</a:t>
                      </a:r>
                    </a:p>
                  </a:txBody>
                  <a:tcPr marL="9525" marR="9525" marT="9525" marB="0" anchor="ctr"/>
                </a:tc>
                <a:tc>
                  <a:txBody>
                    <a:bodyPr/>
                    <a:lstStyle/>
                    <a:p>
                      <a:pPr algn="r" fontAlgn="ctr"/>
                      <a:r>
                        <a:rPr lang="fr-FR" sz="2100" b="0" i="0" u="none" strike="noStrike" dirty="0">
                          <a:solidFill>
                            <a:srgbClr val="000000"/>
                          </a:solidFill>
                          <a:effectLst/>
                          <a:latin typeface="+mn-lt"/>
                        </a:rPr>
                        <a:t>  3.39 × 10⁻¹⁷ </a:t>
                      </a:r>
                    </a:p>
                  </a:txBody>
                  <a:tcPr marL="0" marR="108000" marT="0" marB="0" anchor="ctr"/>
                </a:tc>
                <a:tc>
                  <a:txBody>
                    <a:bodyPr/>
                    <a:lstStyle/>
                    <a:p>
                      <a:pPr algn="ctr" fontAlgn="ctr"/>
                      <a:r>
                        <a:rPr lang="fr-FR" sz="2100" u="none" strike="noStrike" dirty="0">
                          <a:effectLst/>
                        </a:rPr>
                        <a:t>0.06594</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u="none" strike="noStrike" dirty="0">
                          <a:effectLst/>
                        </a:rPr>
                        <a:t>0.11589</a:t>
                      </a:r>
                      <a:endParaRPr lang="fr-FR" sz="2100" b="0" i="0" u="none" strike="noStrike" dirty="0">
                        <a:solidFill>
                          <a:srgbClr val="000000"/>
                        </a:solidFill>
                        <a:effectLst/>
                        <a:latin typeface="+mn-lt"/>
                      </a:endParaRPr>
                    </a:p>
                  </a:txBody>
                  <a:tcPr marL="9525" marR="9525" marT="9525" marB="0" anchor="ctr"/>
                </a:tc>
                <a:tc>
                  <a:txBody>
                    <a:bodyPr/>
                    <a:lstStyle/>
                    <a:p>
                      <a:pPr algn="ctr" fontAlgn="ctr"/>
                      <a:r>
                        <a:rPr lang="fr-FR" sz="2100" u="none" strike="noStrike" dirty="0">
                          <a:effectLst/>
                        </a:rPr>
                        <a:t>0.13214</a:t>
                      </a:r>
                      <a:endParaRPr lang="fr-FR" sz="2100" b="0" i="0" u="none" strike="noStrike" dirty="0">
                        <a:solidFill>
                          <a:srgbClr val="000000"/>
                        </a:solidFill>
                        <a:effectLst/>
                        <a:latin typeface="+mn-lt"/>
                      </a:endParaRPr>
                    </a:p>
                  </a:txBody>
                  <a:tcPr marL="9525" marR="9525" marT="9525" marB="0" anchor="ctr"/>
                </a:tc>
                <a:extLst>
                  <a:ext uri="{0D108BD9-81ED-4DB2-BD59-A6C34878D82A}">
                    <a16:rowId xmlns:a16="http://schemas.microsoft.com/office/drawing/2014/main" val="1966784291"/>
                  </a:ext>
                </a:extLst>
              </a:tr>
            </a:tbl>
          </a:graphicData>
        </a:graphic>
      </p:graphicFrame>
      <p:pic>
        <p:nvPicPr>
          <p:cNvPr id="1026" name="Picture 2" descr="Information for presenters – ESHG Conference 2026">
            <a:extLst>
              <a:ext uri="{FF2B5EF4-FFF2-40B4-BE49-F238E27FC236}">
                <a16:creationId xmlns:a16="http://schemas.microsoft.com/office/drawing/2014/main" id="{067457DC-3D41-42FD-B154-19F6C44BB970}"/>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25971513" y="40794036"/>
            <a:ext cx="1923873" cy="1646243"/>
          </a:xfrm>
          <a:prstGeom prst="rect">
            <a:avLst/>
          </a:prstGeom>
          <a:noFill/>
          <a:ln>
            <a:solidFill>
              <a:schemeClr val="tx2">
                <a:lumMod val="60000"/>
                <a:lumOff val="40000"/>
              </a:schemeClr>
            </a:solidFill>
          </a:ln>
          <a:extLst>
            <a:ext uri="{909E8E84-426E-40DD-AFC4-6F175D3DCCD1}">
              <a14:hiddenFill xmlns:a14="http://schemas.microsoft.com/office/drawing/2010/main">
                <a:solidFill>
                  <a:srgbClr val="FFFFFF"/>
                </a:solidFill>
              </a14:hiddenFill>
            </a:ext>
          </a:extLst>
        </p:spPr>
      </p:pic>
      <p:sp>
        <p:nvSpPr>
          <p:cNvPr id="199" name="Rectangle 198">
            <a:extLst>
              <a:ext uri="{FF2B5EF4-FFF2-40B4-BE49-F238E27FC236}">
                <a16:creationId xmlns:a16="http://schemas.microsoft.com/office/drawing/2014/main" id="{BE97277C-76A6-4239-A7BF-43AE69A5B4B4}"/>
              </a:ext>
            </a:extLst>
          </p:cNvPr>
          <p:cNvSpPr/>
          <p:nvPr/>
        </p:nvSpPr>
        <p:spPr>
          <a:xfrm>
            <a:off x="660964" y="16019876"/>
            <a:ext cx="28861655" cy="2092881"/>
          </a:xfrm>
          <a:prstGeom prst="rect">
            <a:avLst/>
          </a:prstGeom>
          <a:ln>
            <a:noFill/>
          </a:ln>
        </p:spPr>
        <p:txBody>
          <a:bodyPr wrap="square">
            <a:spAutoFit/>
          </a:bodyPr>
          <a:lstStyle/>
          <a:p>
            <a:pPr algn="just"/>
            <a:r>
              <a:rPr lang="en-US" sz="2600" dirty="0"/>
              <a:t>AGENOMICS samples, stratified into four age groups, include 35% peripheral blood mononuclear cells (PBMCs) and 65% lymphoblastoid cell lines (LCLs), with 84% female participants. DNA was sequenced on the </a:t>
            </a:r>
            <a:r>
              <a:rPr lang="en-US" sz="2600" dirty="0" err="1"/>
              <a:t>NovaSeq</a:t>
            </a:r>
            <a:r>
              <a:rPr lang="en-US" sz="2600" dirty="0"/>
              <a:t> X+ platform and processed through alignment, variant calling, and quality control filtering (VQSR, </a:t>
            </a:r>
            <a:r>
              <a:rPr lang="en-US" sz="2600" dirty="0" err="1"/>
              <a:t>gnomAD</a:t>
            </a:r>
            <a:r>
              <a:rPr lang="en-US" sz="2600" dirty="0"/>
              <a:t> filters, complex genomic regions), retaining approximately 30 million variants that passed QC filters. Variants were annotated using </a:t>
            </a:r>
            <a:r>
              <a:rPr lang="en-US" sz="2600" dirty="0" err="1"/>
              <a:t>SNPEff</a:t>
            </a:r>
            <a:r>
              <a:rPr lang="en-US" sz="2600" dirty="0"/>
              <a:t> and </a:t>
            </a:r>
            <a:r>
              <a:rPr lang="en-US" sz="2600" dirty="0" err="1"/>
              <a:t>gnomAD</a:t>
            </a:r>
            <a:r>
              <a:rPr lang="en-US" sz="2600" dirty="0"/>
              <a:t> v4.1, and statistical analyses were performed with </a:t>
            </a:r>
            <a:r>
              <a:rPr lang="en-US" sz="2600" dirty="0" err="1"/>
              <a:t>Bcftools</a:t>
            </a:r>
            <a:r>
              <a:rPr lang="en-US" sz="2600" dirty="0"/>
              <a:t> 1.18 and PLINK2 </a:t>
            </a:r>
            <a:r>
              <a:rPr lang="en-US" dirty="0"/>
              <a:t>[6]</a:t>
            </a:r>
            <a:r>
              <a:rPr lang="en-US" sz="2600" dirty="0"/>
              <a:t>. These 19 literature-reported variants associated with longevity or neurodegenerative diseases was conducted by querying their allele frequencies in the dataset and comparing them against </a:t>
            </a:r>
            <a:r>
              <a:rPr lang="en-US" sz="2600" b="1" dirty="0"/>
              <a:t>1 068 samples</a:t>
            </a:r>
            <a:r>
              <a:rPr lang="en-US" sz="2600" dirty="0"/>
              <a:t> from the FWG cohort (FIN, PREGO, GAZEL, CHOPIN), using a generalized logistic model (GLM) with two covariate models: </a:t>
            </a:r>
            <a:r>
              <a:rPr lang="en-US" sz="2600" dirty="0">
                <a:solidFill>
                  <a:srgbClr val="BC8200"/>
                </a:solidFill>
              </a:rPr>
              <a:t>PCs combined with sex (Model 1)</a:t>
            </a:r>
            <a:r>
              <a:rPr lang="en-US" sz="2600" dirty="0"/>
              <a:t>,</a:t>
            </a:r>
            <a:r>
              <a:rPr lang="en-US" sz="2600" dirty="0">
                <a:solidFill>
                  <a:srgbClr val="E69F00"/>
                </a:solidFill>
              </a:rPr>
              <a:t> </a:t>
            </a:r>
            <a:r>
              <a:rPr lang="en-US" sz="2600" dirty="0">
                <a:solidFill>
                  <a:srgbClr val="006FB0"/>
                </a:solidFill>
              </a:rPr>
              <a:t>principal components (PCs) only (Model 2)</a:t>
            </a:r>
            <a:r>
              <a:rPr lang="en-US" sz="2600" dirty="0"/>
              <a:t>.</a:t>
            </a:r>
          </a:p>
        </p:txBody>
      </p:sp>
      <p:pic>
        <p:nvPicPr>
          <p:cNvPr id="186" name="Image 185">
            <a:extLst>
              <a:ext uri="{FF2B5EF4-FFF2-40B4-BE49-F238E27FC236}">
                <a16:creationId xmlns:a16="http://schemas.microsoft.com/office/drawing/2014/main" id="{409C63A2-8CBA-442E-AF0D-6699A3C1753D}"/>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248530" y="19063456"/>
            <a:ext cx="8013954" cy="6427788"/>
          </a:xfrm>
          <a:prstGeom prst="rect">
            <a:avLst/>
          </a:prstGeom>
        </p:spPr>
      </p:pic>
      <p:sp>
        <p:nvSpPr>
          <p:cNvPr id="15" name="Rectangle 14">
            <a:extLst>
              <a:ext uri="{FF2B5EF4-FFF2-40B4-BE49-F238E27FC236}">
                <a16:creationId xmlns:a16="http://schemas.microsoft.com/office/drawing/2014/main" id="{12F61EAF-B0A2-4E50-A671-5777B29B43BD}"/>
              </a:ext>
            </a:extLst>
          </p:cNvPr>
          <p:cNvSpPr/>
          <p:nvPr/>
        </p:nvSpPr>
        <p:spPr>
          <a:xfrm>
            <a:off x="433127" y="27857126"/>
            <a:ext cx="15864141" cy="77206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fr-FR" sz="2600" dirty="0">
              <a:solidFill>
                <a:schemeClr val="tx1"/>
              </a:solidFill>
            </a:endParaRPr>
          </a:p>
        </p:txBody>
      </p:sp>
      <p:sp>
        <p:nvSpPr>
          <p:cNvPr id="191" name="Rectangle 190">
            <a:extLst>
              <a:ext uri="{FF2B5EF4-FFF2-40B4-BE49-F238E27FC236}">
                <a16:creationId xmlns:a16="http://schemas.microsoft.com/office/drawing/2014/main" id="{897BEC9E-456D-4417-B0E9-274D4F21D1D7}"/>
              </a:ext>
            </a:extLst>
          </p:cNvPr>
          <p:cNvSpPr/>
          <p:nvPr/>
        </p:nvSpPr>
        <p:spPr>
          <a:xfrm>
            <a:off x="433127" y="36025934"/>
            <a:ext cx="15852702" cy="4460411"/>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0" name="Organigramme : Processus 278">
            <a:extLst>
              <a:ext uri="{FF2B5EF4-FFF2-40B4-BE49-F238E27FC236}">
                <a16:creationId xmlns:a16="http://schemas.microsoft.com/office/drawing/2014/main" id="{F2E7BC5A-D3FC-4D8B-AA23-4F0A35661FB6}"/>
              </a:ext>
            </a:extLst>
          </p:cNvPr>
          <p:cNvSpPr/>
          <p:nvPr/>
        </p:nvSpPr>
        <p:spPr>
          <a:xfrm>
            <a:off x="3644856" y="35671610"/>
            <a:ext cx="8610707" cy="589380"/>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u="sng" dirty="0">
                <a:solidFill>
                  <a:srgbClr val="0070C0"/>
                </a:solidFill>
              </a:rPr>
              <a:t>Conclusion and Future Perspectives</a:t>
            </a:r>
          </a:p>
        </p:txBody>
      </p:sp>
      <p:sp>
        <p:nvSpPr>
          <p:cNvPr id="11" name="ZoneTexte 10">
            <a:extLst>
              <a:ext uri="{FF2B5EF4-FFF2-40B4-BE49-F238E27FC236}">
                <a16:creationId xmlns:a16="http://schemas.microsoft.com/office/drawing/2014/main" id="{14547190-9BC8-43F9-8B47-395CF736950A}"/>
              </a:ext>
            </a:extLst>
          </p:cNvPr>
          <p:cNvSpPr txBox="1"/>
          <p:nvPr/>
        </p:nvSpPr>
        <p:spPr>
          <a:xfrm>
            <a:off x="754800" y="27986292"/>
            <a:ext cx="15255488" cy="7509748"/>
          </a:xfrm>
          <a:prstGeom prst="rect">
            <a:avLst/>
          </a:prstGeom>
          <a:noFill/>
        </p:spPr>
        <p:txBody>
          <a:bodyPr wrap="square" rtlCol="0">
            <a:spAutoFit/>
          </a:bodyPr>
          <a:lstStyle/>
          <a:p>
            <a:pPr marL="457200" indent="-457200" algn="just">
              <a:spcBef>
                <a:spcPts val="600"/>
              </a:spcBef>
              <a:spcAft>
                <a:spcPts val="600"/>
              </a:spcAft>
              <a:buClr>
                <a:srgbClr val="0070C0"/>
              </a:buClr>
              <a:buFont typeface="Wingdings" panose="05000000000000000000" pitchFamily="2" charset="2"/>
              <a:buChar char="Ø"/>
            </a:pPr>
            <a:r>
              <a:rPr lang="en-US" sz="2600" dirty="0"/>
              <a:t>The table below presents </a:t>
            </a:r>
            <a:r>
              <a:rPr lang="en-US" sz="2600" b="1" dirty="0"/>
              <a:t>19 variants associated with longevity or AD in the literature</a:t>
            </a:r>
            <a:r>
              <a:rPr lang="en-US" sz="2600" dirty="0"/>
              <a:t>, identified by genotyping or imputation in European and East Asian cohorts (p-values: 2×10⁻²⁷ to 5×10⁻⁸). Variants with a positive effect on lifespan are shown in </a:t>
            </a:r>
            <a:r>
              <a:rPr lang="en-US" sz="2600" dirty="0">
                <a:solidFill>
                  <a:schemeClr val="accent6">
                    <a:lumMod val="75000"/>
                  </a:schemeClr>
                </a:solidFill>
              </a:rPr>
              <a:t>green</a:t>
            </a:r>
            <a:r>
              <a:rPr lang="en-US" sz="2600" dirty="0"/>
              <a:t>, variants with a negative effect in </a:t>
            </a:r>
            <a:r>
              <a:rPr lang="en-US" sz="2600" dirty="0">
                <a:solidFill>
                  <a:srgbClr val="FF0000"/>
                </a:solidFill>
              </a:rPr>
              <a:t>red</a:t>
            </a:r>
            <a:r>
              <a:rPr lang="en-US" sz="2600" dirty="0"/>
              <a:t>; highlighted rows failed quality control and should be interpreted with caution.</a:t>
            </a:r>
          </a:p>
          <a:p>
            <a:pPr marL="457200" indent="-457200" algn="just">
              <a:spcBef>
                <a:spcPts val="600"/>
              </a:spcBef>
              <a:spcAft>
                <a:spcPts val="600"/>
              </a:spcAft>
              <a:buClr>
                <a:srgbClr val="0070C0"/>
              </a:buClr>
              <a:buFont typeface="Wingdings" panose="05000000000000000000" pitchFamily="2" charset="2"/>
              <a:buChar char="Ø"/>
            </a:pPr>
            <a:r>
              <a:rPr lang="en-US" sz="2600" dirty="0"/>
              <a:t>The forest plot shows odds ratios (95% CI) under two models: </a:t>
            </a:r>
            <a:r>
              <a:rPr lang="en-US" sz="2600" dirty="0">
                <a:solidFill>
                  <a:srgbClr val="E69D00"/>
                </a:solidFill>
              </a:rPr>
              <a:t>Model 1 (GLM ~ Sex + PCs) </a:t>
            </a:r>
            <a:r>
              <a:rPr lang="en-US" sz="2600" dirty="0"/>
              <a:t>and </a:t>
            </a:r>
            <a:r>
              <a:rPr lang="en-US" sz="2600" dirty="0">
                <a:solidFill>
                  <a:srgbClr val="006FB0"/>
                </a:solidFill>
              </a:rPr>
              <a:t>Model 2 (GLM ~ PCs only). </a:t>
            </a:r>
            <a:r>
              <a:rPr lang="en-US" sz="2600" b="1" dirty="0"/>
              <a:t>Five variants reached Bonferroni significance </a:t>
            </a:r>
            <a:r>
              <a:rPr lang="en-US" sz="2600" dirty="0"/>
              <a:t>(p &lt; 0.00263): rs429358 (</a:t>
            </a:r>
            <a:r>
              <a:rPr lang="en-US" sz="2600" b="1" dirty="0"/>
              <a:t>APOE4</a:t>
            </a:r>
            <a:r>
              <a:rPr lang="en-US" sz="2600" dirty="0"/>
              <a:t>), rs4420638 (</a:t>
            </a:r>
            <a:r>
              <a:rPr lang="en-US" sz="2600" b="1" dirty="0"/>
              <a:t>APOC1</a:t>
            </a:r>
            <a:r>
              <a:rPr lang="en-US" sz="2600" dirty="0"/>
              <a:t>), rs6857 (</a:t>
            </a:r>
            <a:r>
              <a:rPr lang="en-US" sz="2600" b="1" dirty="0"/>
              <a:t>NECTIN2</a:t>
            </a:r>
            <a:r>
              <a:rPr lang="en-US" sz="2600" dirty="0"/>
              <a:t>) and rs2075650 (</a:t>
            </a:r>
            <a:r>
              <a:rPr lang="en-US" sz="2600" b="1" dirty="0"/>
              <a:t>TOMM40</a:t>
            </a:r>
            <a:r>
              <a:rPr lang="en-US" sz="2600" dirty="0"/>
              <a:t>) showed OR &lt; 1 (negative effect), while rs7412 (</a:t>
            </a:r>
            <a:r>
              <a:rPr lang="en-US" sz="2600" b="1" dirty="0"/>
              <a:t>APOE2</a:t>
            </a:r>
            <a:r>
              <a:rPr lang="en-US" sz="2600" dirty="0"/>
              <a:t>) showed OR &gt; 1 (positive effect). </a:t>
            </a:r>
          </a:p>
          <a:p>
            <a:pPr marL="457200" indent="-457200" algn="just">
              <a:spcBef>
                <a:spcPts val="600"/>
              </a:spcBef>
              <a:spcAft>
                <a:spcPts val="600"/>
              </a:spcAft>
              <a:buClr>
                <a:srgbClr val="0070C0"/>
              </a:buClr>
              <a:buFont typeface="Wingdings" panose="05000000000000000000" pitchFamily="2" charset="2"/>
              <a:buChar char="Ø"/>
            </a:pPr>
            <a:r>
              <a:rPr lang="en-US" sz="2600" dirty="0"/>
              <a:t>The four variants with a negative effect replicated under both models; APOE2 replicated under Model 2 only, likely due to sex imbalance between the AGENOMICS cohort and controls. Of these five, only rs4420638, rs7412 and rs2075650 passed QC filters; rs6857 failed due to low </a:t>
            </a:r>
            <a:r>
              <a:rPr lang="en-US" sz="2600" dirty="0" err="1"/>
              <a:t>mappability</a:t>
            </a:r>
            <a:r>
              <a:rPr lang="en-US" sz="2600" dirty="0"/>
              <a:t> in a segmental duplication region, and rs429358 failed the Quality by depth (QD) filter.</a:t>
            </a:r>
          </a:p>
          <a:p>
            <a:pPr marL="457200" indent="-457200" algn="just">
              <a:spcBef>
                <a:spcPts val="600"/>
              </a:spcBef>
              <a:spcAft>
                <a:spcPts val="600"/>
              </a:spcAft>
              <a:buClr>
                <a:srgbClr val="0070C0"/>
              </a:buClr>
              <a:buFont typeface="Wingdings" panose="05000000000000000000" pitchFamily="2" charset="2"/>
              <a:buChar char="Ø"/>
            </a:pPr>
            <a:r>
              <a:rPr lang="en-US" sz="2600" dirty="0"/>
              <a:t>The remaining 14 variants did not replicate, potentially due to platform differences, insufficient power, or population specificity. Notably, ANKRD20A9P, BMPER, IL6, CLEC3B and TMEM43 were originally identified in East Asian cohorts and may harbor population-specific effects.</a:t>
            </a:r>
          </a:p>
          <a:p>
            <a:pPr marL="457200" indent="-457200" algn="just">
              <a:spcBef>
                <a:spcPts val="600"/>
              </a:spcBef>
              <a:spcAft>
                <a:spcPts val="600"/>
              </a:spcAft>
              <a:buClr>
                <a:srgbClr val="0070C0"/>
              </a:buClr>
              <a:buFont typeface="Wingdings" panose="05000000000000000000" pitchFamily="2" charset="2"/>
              <a:buChar char="Ø"/>
            </a:pPr>
            <a:r>
              <a:rPr lang="en-US" sz="2600" dirty="0"/>
              <a:t> TREM2, PLCG2 and ABI3 were not replicated for longevity per se, but their OR in our cohort are consistent with their reported AD risk effect in the literature.</a:t>
            </a:r>
            <a:endParaRPr lang="fr-FR" sz="2600" dirty="0"/>
          </a:p>
        </p:txBody>
      </p:sp>
      <p:grpSp>
        <p:nvGrpSpPr>
          <p:cNvPr id="27" name="Groupe 26">
            <a:extLst>
              <a:ext uri="{FF2B5EF4-FFF2-40B4-BE49-F238E27FC236}">
                <a16:creationId xmlns:a16="http://schemas.microsoft.com/office/drawing/2014/main" id="{42AE4C43-C182-4CFB-9643-D5F1A9647CC2}"/>
              </a:ext>
            </a:extLst>
          </p:cNvPr>
          <p:cNvGrpSpPr/>
          <p:nvPr/>
        </p:nvGrpSpPr>
        <p:grpSpPr>
          <a:xfrm>
            <a:off x="16365178" y="27742545"/>
            <a:ext cx="13534853" cy="12869602"/>
            <a:chOff x="16365178" y="27742545"/>
            <a:chExt cx="13534853" cy="12869602"/>
          </a:xfrm>
        </p:grpSpPr>
        <p:pic>
          <p:nvPicPr>
            <p:cNvPr id="53" name="Image 52">
              <a:extLst>
                <a:ext uri="{FF2B5EF4-FFF2-40B4-BE49-F238E27FC236}">
                  <a16:creationId xmlns:a16="http://schemas.microsoft.com/office/drawing/2014/main" id="{0A85511C-41A7-4A68-BDD8-5CFD7BACD4C1}"/>
                </a:ext>
              </a:extLst>
            </p:cNvPr>
            <p:cNvPicPr>
              <a:picLocks noChangeAspect="1"/>
            </p:cNvPicPr>
            <p:nvPr/>
          </p:nvPicPr>
          <p:blipFill rotWithShape="1">
            <a:blip r:embed="rId17"/>
            <a:srcRect l="18400" t="6313" r="5190" b="1401"/>
            <a:stretch/>
          </p:blipFill>
          <p:spPr>
            <a:xfrm>
              <a:off x="16365178" y="27742545"/>
              <a:ext cx="13534853" cy="12869602"/>
            </a:xfrm>
            <a:prstGeom prst="rect">
              <a:avLst/>
            </a:prstGeom>
            <a:ln>
              <a:noFill/>
            </a:ln>
          </p:spPr>
        </p:pic>
        <p:sp>
          <p:nvSpPr>
            <p:cNvPr id="12" name="ZoneTexte 11">
              <a:extLst>
                <a:ext uri="{FF2B5EF4-FFF2-40B4-BE49-F238E27FC236}">
                  <a16:creationId xmlns:a16="http://schemas.microsoft.com/office/drawing/2014/main" id="{91E6481A-89D7-400B-8AE0-CE3396EA678C}"/>
                </a:ext>
              </a:extLst>
            </p:cNvPr>
            <p:cNvSpPr txBox="1"/>
            <p:nvPr/>
          </p:nvSpPr>
          <p:spPr>
            <a:xfrm>
              <a:off x="20914941" y="27933123"/>
              <a:ext cx="3024554" cy="400110"/>
            </a:xfrm>
            <a:prstGeom prst="rect">
              <a:avLst/>
            </a:prstGeom>
            <a:noFill/>
            <a:ln w="19050">
              <a:solidFill>
                <a:srgbClr val="FF0000"/>
              </a:solidFill>
            </a:ln>
          </p:spPr>
          <p:txBody>
            <a:bodyPr wrap="square" rtlCol="0">
              <a:spAutoFit/>
            </a:bodyPr>
            <a:lstStyle/>
            <a:p>
              <a:pPr algn="ctr"/>
              <a:r>
                <a:rPr lang="fr-FR" sz="2000" b="1" dirty="0" err="1">
                  <a:solidFill>
                    <a:srgbClr val="41719C"/>
                  </a:solidFill>
                </a:rPr>
                <a:t>Negative</a:t>
              </a:r>
              <a:r>
                <a:rPr lang="fr-FR" sz="2000" b="1" dirty="0">
                  <a:solidFill>
                    <a:srgbClr val="41719C"/>
                  </a:solidFill>
                </a:rPr>
                <a:t> </a:t>
              </a:r>
              <a:r>
                <a:rPr lang="fr-FR" sz="2000" b="1" dirty="0" err="1">
                  <a:solidFill>
                    <a:srgbClr val="41719C"/>
                  </a:solidFill>
                </a:rPr>
                <a:t>effect</a:t>
              </a:r>
              <a:r>
                <a:rPr lang="fr-FR" sz="2000" b="1" dirty="0">
                  <a:solidFill>
                    <a:srgbClr val="41719C"/>
                  </a:solidFill>
                </a:rPr>
                <a:t> </a:t>
              </a:r>
            </a:p>
          </p:txBody>
        </p:sp>
        <p:sp>
          <p:nvSpPr>
            <p:cNvPr id="193" name="ZoneTexte 192">
              <a:extLst>
                <a:ext uri="{FF2B5EF4-FFF2-40B4-BE49-F238E27FC236}">
                  <a16:creationId xmlns:a16="http://schemas.microsoft.com/office/drawing/2014/main" id="{8B383F8C-631D-4E70-A467-C6595E41F734}"/>
                </a:ext>
              </a:extLst>
            </p:cNvPr>
            <p:cNvSpPr txBox="1"/>
            <p:nvPr/>
          </p:nvSpPr>
          <p:spPr>
            <a:xfrm>
              <a:off x="26616812" y="27933123"/>
              <a:ext cx="3024554" cy="400110"/>
            </a:xfrm>
            <a:prstGeom prst="rect">
              <a:avLst/>
            </a:prstGeom>
            <a:noFill/>
            <a:ln w="19050">
              <a:solidFill>
                <a:schemeClr val="accent6">
                  <a:lumMod val="75000"/>
                </a:schemeClr>
              </a:solidFill>
            </a:ln>
          </p:spPr>
          <p:txBody>
            <a:bodyPr wrap="square" rtlCol="0">
              <a:spAutoFit/>
            </a:bodyPr>
            <a:lstStyle/>
            <a:p>
              <a:pPr algn="ctr"/>
              <a:r>
                <a:rPr lang="fr-FR" sz="2000" b="1" dirty="0">
                  <a:solidFill>
                    <a:srgbClr val="41719C"/>
                  </a:solidFill>
                </a:rPr>
                <a:t>Positive </a:t>
              </a:r>
              <a:r>
                <a:rPr lang="fr-FR" sz="2000" b="1" dirty="0" err="1">
                  <a:solidFill>
                    <a:srgbClr val="41719C"/>
                  </a:solidFill>
                </a:rPr>
                <a:t>effect</a:t>
              </a:r>
              <a:endParaRPr lang="fr-FR" sz="2000" b="1" dirty="0">
                <a:solidFill>
                  <a:srgbClr val="41719C"/>
                </a:solidFill>
              </a:endParaRPr>
            </a:p>
          </p:txBody>
        </p:sp>
      </p:grpSp>
      <p:sp>
        <p:nvSpPr>
          <p:cNvPr id="196" name="ZoneTexte 195">
            <a:extLst>
              <a:ext uri="{FF2B5EF4-FFF2-40B4-BE49-F238E27FC236}">
                <a16:creationId xmlns:a16="http://schemas.microsoft.com/office/drawing/2014/main" id="{F682B122-F76F-4E6B-A61B-9B0B03357A55}"/>
              </a:ext>
            </a:extLst>
          </p:cNvPr>
          <p:cNvSpPr txBox="1"/>
          <p:nvPr/>
        </p:nvSpPr>
        <p:spPr>
          <a:xfrm>
            <a:off x="10022150" y="18699096"/>
            <a:ext cx="10307994" cy="369332"/>
          </a:xfrm>
          <a:prstGeom prst="rect">
            <a:avLst/>
          </a:prstGeom>
          <a:noFill/>
        </p:spPr>
        <p:txBody>
          <a:bodyPr wrap="square">
            <a:spAutoFit/>
          </a:bodyPr>
          <a:lstStyle/>
          <a:p>
            <a:pPr algn="just"/>
            <a:r>
              <a:rPr lang="en-US" b="1" u="sng" dirty="0"/>
              <a:t>Table legend</a:t>
            </a:r>
            <a:r>
              <a:rPr lang="en-US" b="1" dirty="0"/>
              <a:t>:</a:t>
            </a:r>
            <a:r>
              <a:rPr lang="en-US" dirty="0"/>
              <a:t> Variant ID: SNP identifier; </a:t>
            </a:r>
            <a:r>
              <a:rPr lang="en-US" dirty="0" err="1"/>
              <a:t>Chr</a:t>
            </a:r>
            <a:r>
              <a:rPr lang="en-US" dirty="0"/>
              <a:t>: chromosome; AF (ALT): alternative allele frequency</a:t>
            </a:r>
            <a:endParaRPr lang="en-US" dirty="0">
              <a:solidFill>
                <a:schemeClr val="tx1"/>
              </a:solidFill>
            </a:endParaRPr>
          </a:p>
        </p:txBody>
      </p:sp>
      <p:sp>
        <p:nvSpPr>
          <p:cNvPr id="197" name="Rectangle 196">
            <a:extLst>
              <a:ext uri="{FF2B5EF4-FFF2-40B4-BE49-F238E27FC236}">
                <a16:creationId xmlns:a16="http://schemas.microsoft.com/office/drawing/2014/main" id="{0D9DAE16-497C-47AE-B9DA-023633BB2D4D}"/>
              </a:ext>
            </a:extLst>
          </p:cNvPr>
          <p:cNvSpPr/>
          <p:nvPr/>
        </p:nvSpPr>
        <p:spPr>
          <a:xfrm>
            <a:off x="433127" y="19073711"/>
            <a:ext cx="9430400" cy="85430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2600" dirty="0">
              <a:solidFill>
                <a:schemeClr val="tx1"/>
              </a:solidFill>
            </a:endParaRPr>
          </a:p>
        </p:txBody>
      </p:sp>
      <p:sp>
        <p:nvSpPr>
          <p:cNvPr id="20" name="ZoneTexte 19">
            <a:extLst>
              <a:ext uri="{FF2B5EF4-FFF2-40B4-BE49-F238E27FC236}">
                <a16:creationId xmlns:a16="http://schemas.microsoft.com/office/drawing/2014/main" id="{1D680CB9-6F78-475B-949C-7C9679FEF552}"/>
              </a:ext>
            </a:extLst>
          </p:cNvPr>
          <p:cNvSpPr txBox="1"/>
          <p:nvPr/>
        </p:nvSpPr>
        <p:spPr>
          <a:xfrm>
            <a:off x="647565" y="25471612"/>
            <a:ext cx="8968929" cy="2092881"/>
          </a:xfrm>
          <a:prstGeom prst="rect">
            <a:avLst/>
          </a:prstGeom>
          <a:noFill/>
        </p:spPr>
        <p:txBody>
          <a:bodyPr wrap="square" rtlCol="0">
            <a:spAutoFit/>
          </a:bodyPr>
          <a:lstStyle/>
          <a:p>
            <a:pPr algn="just"/>
            <a:r>
              <a:rPr lang="en-US" sz="2600" dirty="0"/>
              <a:t>AGENOMICS and FWG cohorts partially overlap on PC1–PC2, reflecting minor population structure and sequencing platform differences, while full overlap on PC3–PC4 confirms overall genetic similarity. European ancestry was confirmed by projection onto 1000 Genomes populations.</a:t>
            </a:r>
          </a:p>
        </p:txBody>
      </p:sp>
      <p:sp>
        <p:nvSpPr>
          <p:cNvPr id="21" name="ZoneTexte 20">
            <a:extLst>
              <a:ext uri="{FF2B5EF4-FFF2-40B4-BE49-F238E27FC236}">
                <a16:creationId xmlns:a16="http://schemas.microsoft.com/office/drawing/2014/main" id="{FF68D5E6-D040-4808-BA5A-AF3FC5FCFFE3}"/>
              </a:ext>
            </a:extLst>
          </p:cNvPr>
          <p:cNvSpPr txBox="1"/>
          <p:nvPr/>
        </p:nvSpPr>
        <p:spPr>
          <a:xfrm>
            <a:off x="754800" y="36374243"/>
            <a:ext cx="15139776" cy="4093428"/>
          </a:xfrm>
          <a:prstGeom prst="rect">
            <a:avLst/>
          </a:prstGeom>
          <a:noFill/>
        </p:spPr>
        <p:txBody>
          <a:bodyPr wrap="square" rtlCol="0">
            <a:spAutoFit/>
          </a:bodyPr>
          <a:lstStyle/>
          <a:p>
            <a:pPr algn="just"/>
            <a:r>
              <a:rPr lang="en-US" sz="2600" dirty="0"/>
              <a:t>This study demonstrates the potential of the </a:t>
            </a:r>
            <a:r>
              <a:rPr lang="en-US" sz="2600" b="1" dirty="0">
                <a:solidFill>
                  <a:srgbClr val="41719C"/>
                </a:solidFill>
              </a:rPr>
              <a:t>AGENOMICS</a:t>
            </a:r>
            <a:r>
              <a:rPr lang="en-US" sz="2600" dirty="0"/>
              <a:t> cohort for longevity research. The successful replication of three variants, </a:t>
            </a:r>
            <a:r>
              <a:rPr lang="en-US" sz="2600" b="1" dirty="0"/>
              <a:t>rs4420638 (APOC1), rs7412 (APOE2) </a:t>
            </a:r>
            <a:r>
              <a:rPr lang="en-US" sz="2600" dirty="0"/>
              <a:t>and </a:t>
            </a:r>
            <a:r>
              <a:rPr lang="en-US" sz="2600" b="1" dirty="0"/>
              <a:t>rs2075650 (TOMM40/APOE4), </a:t>
            </a:r>
            <a:r>
              <a:rPr lang="en-US" sz="2600" dirty="0"/>
              <a:t>confirms their robust association with longevity across independent cohorts. The limited replication of the remaining variants may reflect </a:t>
            </a:r>
            <a:r>
              <a:rPr lang="en-US" sz="2600" b="1" dirty="0"/>
              <a:t>differences in genotyping platforms versus WGS, statistical approaches, and population ancestry</a:t>
            </a:r>
            <a:r>
              <a:rPr lang="en-US" sz="2600" dirty="0"/>
              <a:t>, as several variants were originally identified in East Asian cohorts and may not generalize to the French population studied here. Future analyses should prioritize a genome-wide association study (GWAS) across all variants available in the AGENOMICS cohort, which could reveal novel longevity-associated loci and contribute to a broader understanding of the genetics of human longevity. Additionally, sex-stratified replication analyses could help clarify the observed sex-dependent effects on variant associations.</a:t>
            </a:r>
            <a:endParaRPr lang="fr-FR" dirty="0"/>
          </a:p>
        </p:txBody>
      </p:sp>
    </p:spTree>
    <p:extLst>
      <p:ext uri="{BB962C8B-B14F-4D97-AF65-F5344CB8AC3E}">
        <p14:creationId xmlns:p14="http://schemas.microsoft.com/office/powerpoint/2010/main" val="2005976213"/>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Aging_poster_v8</Template>
  <TotalTime>13920</TotalTime>
  <Words>1705</Words>
  <Application>Microsoft Office PowerPoint</Application>
  <PresentationFormat>Personnalisé</PresentationFormat>
  <Paragraphs>253</Paragraphs>
  <Slides>1</Slides>
  <Notes>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vt:i4>
      </vt:variant>
    </vt:vector>
  </HeadingPairs>
  <TitlesOfParts>
    <vt:vector size="5" baseType="lpstr">
      <vt:lpstr>Arial</vt:lpstr>
      <vt:lpstr>Calibri</vt:lpstr>
      <vt:lpstr>Wingdings</vt:lpstr>
      <vt:lpstr>Thème Office</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Assia BENMEHDIA</dc:creator>
  <cp:lastModifiedBy>Assia BENMEHDIA</cp:lastModifiedBy>
  <cp:revision>422</cp:revision>
  <cp:lastPrinted>2026-06-10T09:24:24Z</cp:lastPrinted>
  <dcterms:created xsi:type="dcterms:W3CDTF">2025-06-26T14:11:48Z</dcterms:created>
  <dcterms:modified xsi:type="dcterms:W3CDTF">2026-06-10T09:37:56Z</dcterms:modified>
</cp:coreProperties>
</file>